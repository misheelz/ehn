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91" r:id="rId5"/>
    <p:sldId id="259" r:id="rId6"/>
    <p:sldId id="260" r:id="rId7"/>
    <p:sldId id="261" r:id="rId8"/>
    <p:sldId id="262" r:id="rId9"/>
    <p:sldId id="263" r:id="rId10"/>
    <p:sldId id="267" r:id="rId11"/>
    <p:sldId id="268" r:id="rId12"/>
    <p:sldId id="264" r:id="rId13"/>
    <p:sldId id="294" r:id="rId14"/>
    <p:sldId id="295" r:id="rId15"/>
    <p:sldId id="296" r:id="rId16"/>
    <p:sldId id="297" r:id="rId17"/>
    <p:sldId id="265" r:id="rId18"/>
    <p:sldId id="266" r:id="rId19"/>
    <p:sldId id="269" r:id="rId20"/>
    <p:sldId id="270" r:id="rId21"/>
    <p:sldId id="271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5" r:id="rId34"/>
    <p:sldId id="286" r:id="rId35"/>
    <p:sldId id="290" r:id="rId36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til Yok, Kılavuz Yok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97"/>
  </p:normalViewPr>
  <p:slideViewPr>
    <p:cSldViewPr snapToGrid="0">
      <p:cViewPr varScale="1">
        <p:scale>
          <a:sx n="119" d="100"/>
          <a:sy n="119" d="100"/>
        </p:scale>
        <p:origin x="31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2B2771D-9829-DAEE-8BA9-919D49F775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D735E646-F802-28E0-59DD-CC76DD0BB8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2D34080D-9930-026B-60E6-FCFC274B6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37FB3-D859-5248-A7D7-3492D026D17E}" type="datetimeFigureOut">
              <a:rPr lang="tr-TR" smtClean="0"/>
              <a:t>20.01.2026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017525A7-D3BB-BE73-363B-6D24AB7A5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EE34F357-0399-7416-8058-87A92E73A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4679A-B1B2-ED4B-89CD-193C4C877DF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22392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FBA2A84-1660-11BE-2DCA-80342BDC3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B74BE5B-3412-E015-33D6-1C2E3DCE75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AB4380C2-302F-29A4-34BA-C64F7B411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37FB3-D859-5248-A7D7-3492D026D17E}" type="datetimeFigureOut">
              <a:rPr lang="tr-TR" smtClean="0"/>
              <a:t>20.01.2026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E1302B5A-5BB9-183D-14AD-A6B4702AD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1CB11847-E78D-D29E-3BAB-6E0F1975F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4679A-B1B2-ED4B-89CD-193C4C877DF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74737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F059D99-8E84-144E-7607-50450440F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9CE95D25-CD83-61FA-E17F-6765B6B25D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050475E9-1184-8478-A264-14F55AC0D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37FB3-D859-5248-A7D7-3492D026D17E}" type="datetimeFigureOut">
              <a:rPr lang="tr-TR" smtClean="0"/>
              <a:t>20.01.2026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064EEEA6-8F05-FBEC-2500-BE777F854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DEF53E80-2DF1-E773-CCCF-18DF725EF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4679A-B1B2-ED4B-89CD-193C4C877DF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64283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ED1C66E-2FFE-9D3C-25D9-3E82B3B5F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4CDC06C-FB19-1F46-5B11-1DA167658E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807BBBAE-1ED5-6F87-08D2-A8F6359388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30B27FCC-6120-69C2-EADD-8C0AF0C1F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37FB3-D859-5248-A7D7-3492D026D17E}" type="datetimeFigureOut">
              <a:rPr lang="tr-TR" smtClean="0"/>
              <a:t>20.01.2026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6F977427-3347-8965-BA9F-6C3D72F2A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C58D38C1-DAFF-E969-F02F-6A9A9FAF1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4679A-B1B2-ED4B-89CD-193C4C877DF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7357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40CAA06-B00C-1CB1-820E-74254793B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1924044D-13D0-56EA-EFB8-A5819147F4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AF7746C2-D399-BA95-C18F-7FAC0F574A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E7AB8B5D-00B5-9981-8898-B43B840735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3892A036-C838-F362-DAD0-789584BEC9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77D8E291-3627-04C8-B8E2-850F64A3F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37FB3-D859-5248-A7D7-3492D026D17E}" type="datetimeFigureOut">
              <a:rPr lang="tr-TR" smtClean="0"/>
              <a:t>20.01.2026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BF716007-4E4C-97C9-B83F-9DB78D818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9C64DCF6-8EA0-0816-2EAB-90CE2A077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4679A-B1B2-ED4B-89CD-193C4C877DF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82020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D58E4D8-7F9F-C471-F01B-C7FF498A6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DE5A5012-C9E4-8ACF-94F9-C3570A9FF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37FB3-D859-5248-A7D7-3492D026D17E}" type="datetimeFigureOut">
              <a:rPr lang="tr-TR" smtClean="0"/>
              <a:t>20.01.2026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EA1AA67D-CC85-00B7-941D-FCA842BE0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E129CF6E-552E-AD63-82E7-565921EEC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4679A-B1B2-ED4B-89CD-193C4C877DF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13525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5437AC6B-064C-866D-768B-B8949B2B8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37FB3-D859-5248-A7D7-3492D026D17E}" type="datetimeFigureOut">
              <a:rPr lang="tr-TR" smtClean="0"/>
              <a:t>20.01.2026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2AB729BF-E1FE-3482-6327-2383D8B43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D08BCE2F-A7DA-E8AB-BA5C-613F12DDC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4679A-B1B2-ED4B-89CD-193C4C877DF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98061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1E73434-EE47-C749-5853-809A8FEC5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D80E8D0-CF1B-F2BF-3259-961969D02B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55738C40-5B43-2DF9-9475-DCDA6BBBB4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0FDC39A8-1433-5FA2-39C2-DDA34CA20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37FB3-D859-5248-A7D7-3492D026D17E}" type="datetimeFigureOut">
              <a:rPr lang="tr-TR" smtClean="0"/>
              <a:t>20.01.2026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947BFB19-A32A-38B7-3D9B-9901D62E1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36D53418-9950-CA23-C915-D011EC5A7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4679A-B1B2-ED4B-89CD-193C4C877DF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11028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29349A7-022A-D960-2A51-215D8DB0E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04E6DC49-E83F-A225-04AD-8ED4AAE529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BB8D120D-16E9-D40E-5F25-A88FEBA78E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11262840-49C1-35C3-3CB1-FEF3F5732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37FB3-D859-5248-A7D7-3492D026D17E}" type="datetimeFigureOut">
              <a:rPr lang="tr-TR" smtClean="0"/>
              <a:t>20.01.2026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FFE1EE17-6E1C-ED5A-1803-78C072001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4BC0A28D-DDD2-A9DC-A11A-C523B0506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4679A-B1B2-ED4B-89CD-193C4C877DF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76934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02FDC72-2F8F-FA74-AB9A-D3889F014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D7803C8F-AB39-82E0-6D69-D67E3E2A05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A359E7BF-9E33-FE70-C4A5-9D6AFFF30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37FB3-D859-5248-A7D7-3492D026D17E}" type="datetimeFigureOut">
              <a:rPr lang="tr-TR" smtClean="0"/>
              <a:t>20.01.2026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41365B97-9706-9D81-7F98-450210220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F1E870CB-0191-D1DE-2FCD-4B3EA6A37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4679A-B1B2-ED4B-89CD-193C4C877DF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46950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1B6A7ABC-3890-AC3E-3D40-F4077515E7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F560D672-4D52-E4D9-D018-185AF0B251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999268F8-8ABC-19A1-959F-9B1E36195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37FB3-D859-5248-A7D7-3492D026D17E}" type="datetimeFigureOut">
              <a:rPr lang="tr-TR" smtClean="0"/>
              <a:t>20.01.2026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DE11D00C-CFEF-7BD9-8AA0-BDA978222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AEC7BD60-8C3B-B9A3-2392-D2BE6D489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4679A-B1B2-ED4B-89CD-193C4C877DF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13628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DB605221-9307-A4A6-98B1-8E5A3362A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25FE9452-2297-87F6-81F5-E32329A36A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9276D77A-BD9F-65D2-6E58-16B0C51FF3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D37FB3-D859-5248-A7D7-3492D026D17E}" type="datetimeFigureOut">
              <a:rPr lang="tr-TR" smtClean="0"/>
              <a:t>20.01.2026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C5C2E330-D294-6C51-5CEF-5D6A70A7AB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525E7B46-033D-C435-5628-A99144F4FC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D4679A-B1B2-ED4B-89CD-193C4C877DF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91215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1007/978-3-319-32552-1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1007/978-3-319-32552-1_3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1207/S15327965PLI1104_01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frontiersin.org/articles/10.3389/fpsyg.2019.02918/full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newyorker.com/books/page-turner/on-video-games-and-storytelling-an-interview-with-tom-bissell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heguardian.com/science/2021/mar/09/rare-meteorite-chunk-traced-by-scientists-to-gloucestershire-driveway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erriam-webster.com/dictionary/self-report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ho.int/news/item/04-03-2021-rotavirus-vaccines-made-available-for-use-in-humanitarian-crises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ed.com/talks/sir_ken_robinson_do_schools_kill_creativity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iCvmsMzlF7o" TargetMode="Externa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ensus.gov/popclock/" TargetMode="External"/><Relationship Id="rId2" Type="http://schemas.openxmlformats.org/officeDocument/2006/relationships/hyperlink" Target="https://www.nimh.nih.gov/health/topics/depression" TargetMode="Externa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hyperlink" Target="https://apastyle.apa.org/style-grammar-guidelines/references/examples" TargetMode="External"/><Relationship Id="rId3" Type="http://schemas.openxmlformats.org/officeDocument/2006/relationships/hyperlink" Target="https://apastyle.apa.org/style-grammar-guidelines/citations" TargetMode="External"/><Relationship Id="rId7" Type="http://schemas.openxmlformats.org/officeDocument/2006/relationships/hyperlink" Target="https://apastyle.apa.org/style-grammar-guidelines/references/dois-urls" TargetMode="External"/><Relationship Id="rId2" Type="http://schemas.openxmlformats.org/officeDocument/2006/relationships/hyperlink" Target="https://apastyle.apa.org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pastyle.apa.org/style-grammar-guidelines/references/elements-list-entry" TargetMode="External"/><Relationship Id="rId5" Type="http://schemas.openxmlformats.org/officeDocument/2006/relationships/hyperlink" Target="https://apastyle.apa.org/style-grammar-guidelines/citations/quotations" TargetMode="External"/><Relationship Id="rId4" Type="http://schemas.openxmlformats.org/officeDocument/2006/relationships/hyperlink" Target="https://apastyle.apa.org/style-grammar-guidelines/citations/paraphras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E6EAF92-2AB5-A145-5165-D4453A5D7D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27971"/>
            <a:ext cx="9144000" cy="2793421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tr-TR" dirty="0"/>
              <a:t>APA 7th Edition </a:t>
            </a:r>
            <a:br>
              <a:rPr lang="tr-TR" dirty="0"/>
            </a:br>
            <a:r>
              <a:rPr lang="tr-TR" dirty="0" err="1"/>
              <a:t>Citation</a:t>
            </a:r>
            <a:r>
              <a:rPr lang="tr-TR" dirty="0"/>
              <a:t> &amp; Reference Guide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B6FFCAE5-96E8-3936-971C-F22947C492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794363"/>
            <a:ext cx="9144000" cy="941275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tr-TR" dirty="0"/>
              <a:t>ITU School of </a:t>
            </a:r>
            <a:r>
              <a:rPr lang="tr-TR" dirty="0" err="1"/>
              <a:t>Foreign</a:t>
            </a:r>
            <a:r>
              <a:rPr lang="tr-TR" dirty="0"/>
              <a:t> </a:t>
            </a:r>
            <a:r>
              <a:rPr lang="tr-TR" dirty="0" err="1"/>
              <a:t>Languages</a:t>
            </a:r>
            <a:endParaRPr lang="tr-TR" dirty="0"/>
          </a:p>
          <a:p>
            <a:r>
              <a:rPr lang="tr-TR" dirty="0"/>
              <a:t>Advanced English Program</a:t>
            </a:r>
          </a:p>
        </p:txBody>
      </p:sp>
    </p:spTree>
    <p:extLst>
      <p:ext uri="{BB962C8B-B14F-4D97-AF65-F5344CB8AC3E}">
        <p14:creationId xmlns:p14="http://schemas.microsoft.com/office/powerpoint/2010/main" val="2416420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>
            <a:extLst>
              <a:ext uri="{FF2B5EF4-FFF2-40B4-BE49-F238E27FC236}">
                <a16:creationId xmlns:a16="http://schemas.microsoft.com/office/drawing/2014/main" id="{20FB9DC7-CE6A-6D42-CB9A-06A099D460A9}"/>
              </a:ext>
            </a:extLst>
          </p:cNvPr>
          <p:cNvSpPr txBox="1"/>
          <p:nvPr/>
        </p:nvSpPr>
        <p:spPr>
          <a:xfrm>
            <a:off x="3646843" y="3425312"/>
            <a:ext cx="7808933" cy="267765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tr-TR" sz="2800" dirty="0" err="1"/>
              <a:t>This</a:t>
            </a:r>
            <a:r>
              <a:rPr lang="tr-TR" sz="2800" dirty="0"/>
              <a:t> </a:t>
            </a:r>
            <a:r>
              <a:rPr lang="tr-TR" sz="2800"/>
              <a:t>guide </a:t>
            </a:r>
            <a:r>
              <a:rPr lang="tr-TR" sz="2800" dirty="0"/>
              <a:t>is </a:t>
            </a:r>
            <a:r>
              <a:rPr lang="tr-TR" sz="2800" dirty="0" err="1"/>
              <a:t>designed</a:t>
            </a:r>
            <a:r>
              <a:rPr lang="tr-TR" sz="2800" dirty="0"/>
              <a:t> </a:t>
            </a:r>
            <a:r>
              <a:rPr lang="tr-TR" sz="2800" dirty="0" err="1"/>
              <a:t>to</a:t>
            </a:r>
            <a:r>
              <a:rPr lang="tr-TR" sz="2800" dirty="0"/>
              <a:t> </a:t>
            </a:r>
            <a:r>
              <a:rPr lang="tr-TR" sz="2800" dirty="0" err="1"/>
              <a:t>show</a:t>
            </a:r>
            <a:r>
              <a:rPr lang="tr-TR" sz="2800" dirty="0"/>
              <a:t> </a:t>
            </a:r>
            <a:r>
              <a:rPr lang="tr-TR" sz="2800" dirty="0" err="1"/>
              <a:t>students</a:t>
            </a:r>
            <a:r>
              <a:rPr lang="tr-TR" sz="2800" dirty="0"/>
              <a:t> how </a:t>
            </a:r>
            <a:r>
              <a:rPr lang="tr-TR" sz="2800" dirty="0" err="1"/>
              <a:t>to</a:t>
            </a:r>
            <a:r>
              <a:rPr lang="tr-TR" sz="2800" dirty="0"/>
              <a:t>:</a:t>
            </a:r>
          </a:p>
          <a:p>
            <a:endParaRPr lang="tr-TR" sz="2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sz="2800" dirty="0" err="1"/>
              <a:t>credit</a:t>
            </a:r>
            <a:r>
              <a:rPr lang="tr-TR" sz="2800" dirty="0"/>
              <a:t> </a:t>
            </a:r>
            <a:r>
              <a:rPr lang="tr-TR" sz="2800" dirty="0" err="1"/>
              <a:t>sources</a:t>
            </a:r>
            <a:r>
              <a:rPr lang="tr-TR" sz="2800" dirty="0"/>
              <a:t> in </a:t>
            </a:r>
            <a:r>
              <a:rPr lang="tr-TR" sz="2800" dirty="0" err="1"/>
              <a:t>their</a:t>
            </a:r>
            <a:r>
              <a:rPr lang="tr-TR" sz="2800" dirty="0"/>
              <a:t> </a:t>
            </a:r>
            <a:r>
              <a:rPr lang="tr-TR" sz="2800" dirty="0" err="1"/>
              <a:t>writing</a:t>
            </a:r>
            <a:r>
              <a:rPr lang="tr-TR" sz="2800" dirty="0"/>
              <a:t> (in-</a:t>
            </a:r>
            <a:r>
              <a:rPr lang="tr-TR" sz="2800" dirty="0" err="1"/>
              <a:t>text</a:t>
            </a:r>
            <a:r>
              <a:rPr lang="tr-TR" sz="2800" dirty="0"/>
              <a:t> </a:t>
            </a:r>
            <a:r>
              <a:rPr lang="tr-TR" sz="2800" dirty="0" err="1"/>
              <a:t>citations</a:t>
            </a:r>
            <a:r>
              <a:rPr lang="tr-TR" sz="2800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sz="2800" dirty="0" err="1"/>
              <a:t>list</a:t>
            </a:r>
            <a:r>
              <a:rPr lang="tr-TR" sz="2800" dirty="0"/>
              <a:t> </a:t>
            </a:r>
            <a:r>
              <a:rPr lang="tr-TR" sz="2800" dirty="0" err="1"/>
              <a:t>full</a:t>
            </a:r>
            <a:r>
              <a:rPr lang="tr-TR" sz="2800" dirty="0"/>
              <a:t> </a:t>
            </a:r>
            <a:r>
              <a:rPr lang="tr-TR" sz="2800" dirty="0" err="1"/>
              <a:t>source</a:t>
            </a:r>
            <a:r>
              <a:rPr lang="tr-TR" sz="2800" dirty="0"/>
              <a:t> </a:t>
            </a:r>
            <a:r>
              <a:rPr lang="tr-TR" sz="2800" dirty="0" err="1"/>
              <a:t>details</a:t>
            </a:r>
            <a:r>
              <a:rPr lang="tr-TR" sz="2800" dirty="0"/>
              <a:t> at the </a:t>
            </a:r>
            <a:r>
              <a:rPr lang="tr-TR" sz="2800" dirty="0" err="1"/>
              <a:t>end</a:t>
            </a:r>
            <a:r>
              <a:rPr lang="tr-TR" sz="2800" dirty="0"/>
              <a:t> (</a:t>
            </a:r>
            <a:r>
              <a:rPr lang="tr-TR" sz="2800" dirty="0" err="1"/>
              <a:t>reference</a:t>
            </a:r>
            <a:r>
              <a:rPr lang="tr-TR" sz="2800" dirty="0"/>
              <a:t> </a:t>
            </a:r>
            <a:r>
              <a:rPr lang="tr-TR" sz="2800" dirty="0" err="1"/>
              <a:t>list</a:t>
            </a:r>
            <a:r>
              <a:rPr lang="tr-TR" sz="2800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sz="2800" dirty="0"/>
              <a:t>format </a:t>
            </a:r>
            <a:r>
              <a:rPr lang="tr-TR" sz="2800" dirty="0" err="1"/>
              <a:t>common</a:t>
            </a:r>
            <a:r>
              <a:rPr lang="tr-TR" sz="2800" dirty="0"/>
              <a:t> APA 7 </a:t>
            </a:r>
            <a:r>
              <a:rPr lang="tr-TR" sz="2800" dirty="0" err="1"/>
              <a:t>elements</a:t>
            </a:r>
            <a:r>
              <a:rPr lang="tr-TR" sz="2800" dirty="0"/>
              <a:t> </a:t>
            </a:r>
            <a:r>
              <a:rPr lang="tr-TR" sz="2800" dirty="0" err="1"/>
              <a:t>consistently</a:t>
            </a:r>
            <a:endParaRPr lang="tr-TR" sz="2800" dirty="0"/>
          </a:p>
          <a:p>
            <a:endParaRPr lang="tr-TR" sz="2800" dirty="0"/>
          </a:p>
        </p:txBody>
      </p:sp>
    </p:spTree>
    <p:extLst>
      <p:ext uri="{BB962C8B-B14F-4D97-AF65-F5344CB8AC3E}">
        <p14:creationId xmlns:p14="http://schemas.microsoft.com/office/powerpoint/2010/main" val="33094362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F5FE466-93C1-5F77-6531-6306BC54EFCA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5">
              <a:lumMod val="20000"/>
              <a:lumOff val="80000"/>
            </a:schemeClr>
          </a:solidFill>
        </p:spPr>
        <p:txBody>
          <a:bodyPr/>
          <a:lstStyle/>
          <a:p>
            <a:pPr algn="ctr"/>
            <a:r>
              <a:rPr lang="tr-TR" b="1" dirty="0" err="1">
                <a:latin typeface="+mn-lt"/>
              </a:rPr>
              <a:t>When</a:t>
            </a:r>
            <a:r>
              <a:rPr lang="tr-TR" b="1" dirty="0">
                <a:latin typeface="+mn-lt"/>
              </a:rPr>
              <a:t> do I </a:t>
            </a:r>
            <a:r>
              <a:rPr lang="tr-TR" b="1" dirty="0" err="1">
                <a:latin typeface="+mn-lt"/>
              </a:rPr>
              <a:t>cite</a:t>
            </a:r>
            <a:r>
              <a:rPr lang="tr-TR" b="1" dirty="0">
                <a:latin typeface="+mn-lt"/>
              </a:rPr>
              <a:t>?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58BCB88-E336-45E4-1039-45E16B92BE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952181" cy="48763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dirty="0" err="1"/>
              <a:t>Cite</a:t>
            </a:r>
            <a:r>
              <a:rPr lang="tr-TR" dirty="0"/>
              <a:t> </a:t>
            </a:r>
            <a:r>
              <a:rPr lang="tr-TR" dirty="0" err="1"/>
              <a:t>whenever</a:t>
            </a:r>
            <a:r>
              <a:rPr lang="tr-TR" dirty="0"/>
              <a:t> </a:t>
            </a:r>
            <a:r>
              <a:rPr lang="tr-TR" dirty="0" err="1"/>
              <a:t>you</a:t>
            </a:r>
            <a:r>
              <a:rPr lang="tr-TR" dirty="0"/>
              <a:t>:</a:t>
            </a:r>
          </a:p>
          <a:p>
            <a:pPr lvl="1"/>
            <a:r>
              <a:rPr lang="tr-TR" dirty="0" err="1"/>
              <a:t>quote</a:t>
            </a:r>
            <a:r>
              <a:rPr lang="tr-TR" dirty="0"/>
              <a:t> </a:t>
            </a:r>
            <a:r>
              <a:rPr lang="tr-TR" dirty="0" err="1"/>
              <a:t>exact</a:t>
            </a:r>
            <a:r>
              <a:rPr lang="tr-TR" dirty="0"/>
              <a:t> </a:t>
            </a:r>
            <a:r>
              <a:rPr lang="tr-TR" dirty="0" err="1"/>
              <a:t>wording</a:t>
            </a:r>
            <a:endParaRPr lang="tr-TR" dirty="0"/>
          </a:p>
          <a:p>
            <a:pPr lvl="1"/>
            <a:r>
              <a:rPr lang="tr-TR" dirty="0" err="1"/>
              <a:t>paraphrase</a:t>
            </a:r>
            <a:r>
              <a:rPr lang="tr-TR" dirty="0"/>
              <a:t> </a:t>
            </a:r>
            <a:r>
              <a:rPr lang="tr-TR" dirty="0" err="1"/>
              <a:t>or</a:t>
            </a:r>
            <a:r>
              <a:rPr lang="tr-TR" dirty="0"/>
              <a:t> </a:t>
            </a:r>
            <a:r>
              <a:rPr lang="tr-TR" dirty="0" err="1"/>
              <a:t>summarize</a:t>
            </a:r>
            <a:r>
              <a:rPr lang="tr-TR" dirty="0"/>
              <a:t> </a:t>
            </a:r>
            <a:r>
              <a:rPr lang="tr-TR" dirty="0" err="1"/>
              <a:t>someone’s</a:t>
            </a:r>
            <a:r>
              <a:rPr lang="tr-TR" dirty="0"/>
              <a:t> </a:t>
            </a:r>
            <a:r>
              <a:rPr lang="tr-TR" dirty="0" err="1"/>
              <a:t>ideas</a:t>
            </a:r>
            <a:endParaRPr lang="tr-TR" dirty="0"/>
          </a:p>
          <a:p>
            <a:pPr lvl="1"/>
            <a:r>
              <a:rPr lang="tr-TR" dirty="0" err="1"/>
              <a:t>use</a:t>
            </a:r>
            <a:r>
              <a:rPr lang="tr-TR" dirty="0"/>
              <a:t> data, </a:t>
            </a:r>
            <a:r>
              <a:rPr lang="tr-TR" dirty="0" err="1"/>
              <a:t>statistics</a:t>
            </a:r>
            <a:r>
              <a:rPr lang="tr-TR" dirty="0"/>
              <a:t>, </a:t>
            </a:r>
            <a:r>
              <a:rPr lang="tr-TR" dirty="0" err="1"/>
              <a:t>definitions</a:t>
            </a:r>
            <a:r>
              <a:rPr lang="tr-TR" dirty="0"/>
              <a:t>, </a:t>
            </a:r>
            <a:r>
              <a:rPr lang="tr-TR" dirty="0" err="1"/>
              <a:t>visuals</a:t>
            </a:r>
            <a:r>
              <a:rPr lang="tr-TR" dirty="0"/>
              <a:t>, </a:t>
            </a:r>
            <a:r>
              <a:rPr lang="tr-TR" dirty="0" err="1"/>
              <a:t>or</a:t>
            </a:r>
            <a:r>
              <a:rPr lang="tr-TR" dirty="0"/>
              <a:t> </a:t>
            </a:r>
            <a:r>
              <a:rPr lang="tr-TR" dirty="0" err="1"/>
              <a:t>distinctive</a:t>
            </a:r>
            <a:r>
              <a:rPr lang="tr-TR" dirty="0"/>
              <a:t> </a:t>
            </a:r>
            <a:r>
              <a:rPr lang="tr-TR" dirty="0" err="1"/>
              <a:t>arguments</a:t>
            </a:r>
            <a:endParaRPr lang="tr-TR" dirty="0"/>
          </a:p>
          <a:p>
            <a:pPr lvl="1"/>
            <a:r>
              <a:rPr lang="tr-TR" dirty="0" err="1"/>
              <a:t>build</a:t>
            </a:r>
            <a:r>
              <a:rPr lang="tr-TR" dirty="0"/>
              <a:t> on a model/</a:t>
            </a:r>
            <a:r>
              <a:rPr lang="tr-TR" dirty="0" err="1"/>
              <a:t>framework</a:t>
            </a:r>
            <a:r>
              <a:rPr lang="tr-TR" dirty="0"/>
              <a:t> </a:t>
            </a:r>
            <a:r>
              <a:rPr lang="tr-TR" dirty="0" err="1"/>
              <a:t>that</a:t>
            </a:r>
            <a:r>
              <a:rPr lang="tr-TR" dirty="0"/>
              <a:t> is </a:t>
            </a:r>
            <a:r>
              <a:rPr lang="tr-TR" i="1" dirty="0"/>
              <a:t>not</a:t>
            </a:r>
            <a:r>
              <a:rPr lang="tr-TR" dirty="0"/>
              <a:t> </a:t>
            </a:r>
            <a:r>
              <a:rPr lang="tr-TR" dirty="0" err="1"/>
              <a:t>common</a:t>
            </a:r>
            <a:r>
              <a:rPr lang="tr-TR" dirty="0"/>
              <a:t> </a:t>
            </a:r>
            <a:r>
              <a:rPr lang="tr-TR" dirty="0" err="1"/>
              <a:t>knowledge</a:t>
            </a:r>
            <a:endParaRPr lang="tr-TR" dirty="0"/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dirty="0" err="1"/>
              <a:t>You</a:t>
            </a:r>
            <a:r>
              <a:rPr lang="tr-TR" dirty="0"/>
              <a:t> do not </a:t>
            </a:r>
            <a:r>
              <a:rPr lang="tr-TR" dirty="0" err="1"/>
              <a:t>cite</a:t>
            </a:r>
            <a:r>
              <a:rPr lang="tr-TR" dirty="0"/>
              <a:t> </a:t>
            </a:r>
            <a:r>
              <a:rPr lang="tr-TR" dirty="0" err="1"/>
              <a:t>for</a:t>
            </a:r>
            <a:r>
              <a:rPr lang="tr-TR" dirty="0"/>
              <a:t>:</a:t>
            </a:r>
          </a:p>
          <a:p>
            <a:pPr lvl="1"/>
            <a:r>
              <a:rPr lang="tr-TR" dirty="0" err="1"/>
              <a:t>widely</a:t>
            </a:r>
            <a:r>
              <a:rPr lang="tr-TR" dirty="0"/>
              <a:t> </a:t>
            </a:r>
            <a:r>
              <a:rPr lang="tr-TR" dirty="0" err="1"/>
              <a:t>known</a:t>
            </a:r>
            <a:r>
              <a:rPr lang="tr-TR" dirty="0"/>
              <a:t> </a:t>
            </a:r>
            <a:r>
              <a:rPr lang="tr-TR" dirty="0" err="1"/>
              <a:t>facts</a:t>
            </a:r>
            <a:r>
              <a:rPr lang="tr-TR" dirty="0"/>
              <a:t> (</a:t>
            </a:r>
            <a:r>
              <a:rPr lang="tr-TR" dirty="0" err="1"/>
              <a:t>common</a:t>
            </a:r>
            <a:r>
              <a:rPr lang="tr-TR" dirty="0"/>
              <a:t> </a:t>
            </a:r>
            <a:r>
              <a:rPr lang="tr-TR" dirty="0" err="1"/>
              <a:t>knowledge</a:t>
            </a:r>
            <a:r>
              <a:rPr lang="tr-TR" dirty="0"/>
              <a:t>)</a:t>
            </a:r>
          </a:p>
          <a:p>
            <a:pPr lvl="1"/>
            <a:r>
              <a:rPr lang="tr-TR" dirty="0" err="1"/>
              <a:t>your</a:t>
            </a:r>
            <a:r>
              <a:rPr lang="tr-TR" dirty="0"/>
              <a:t> </a:t>
            </a:r>
            <a:r>
              <a:rPr lang="tr-TR" dirty="0" err="1"/>
              <a:t>own</a:t>
            </a:r>
            <a:r>
              <a:rPr lang="tr-TR" dirty="0"/>
              <a:t> </a:t>
            </a:r>
            <a:r>
              <a:rPr lang="tr-TR" dirty="0" err="1"/>
              <a:t>analysis</a:t>
            </a:r>
            <a:r>
              <a:rPr lang="tr-TR" dirty="0"/>
              <a:t> of </a:t>
            </a:r>
            <a:r>
              <a:rPr lang="tr-TR" dirty="0" err="1"/>
              <a:t>your</a:t>
            </a:r>
            <a:r>
              <a:rPr lang="tr-TR" dirty="0"/>
              <a:t> </a:t>
            </a:r>
            <a:r>
              <a:rPr lang="tr-TR" dirty="0" err="1"/>
              <a:t>own</a:t>
            </a:r>
            <a:r>
              <a:rPr lang="tr-TR" dirty="0"/>
              <a:t> data (</a:t>
            </a:r>
            <a:r>
              <a:rPr lang="tr-TR" dirty="0" err="1"/>
              <a:t>unless</a:t>
            </a:r>
            <a:r>
              <a:rPr lang="tr-TR" dirty="0"/>
              <a:t> </a:t>
            </a:r>
            <a:r>
              <a:rPr lang="tr-TR" dirty="0" err="1"/>
              <a:t>you</a:t>
            </a:r>
            <a:r>
              <a:rPr lang="tr-TR" dirty="0"/>
              <a:t> </a:t>
            </a:r>
            <a:r>
              <a:rPr lang="tr-TR" dirty="0" err="1"/>
              <a:t>use</a:t>
            </a:r>
            <a:r>
              <a:rPr lang="tr-TR" dirty="0"/>
              <a:t> </a:t>
            </a:r>
            <a:r>
              <a:rPr lang="tr-TR" dirty="0" err="1"/>
              <a:t>outside</a:t>
            </a:r>
            <a:r>
              <a:rPr lang="tr-TR" dirty="0"/>
              <a:t> </a:t>
            </a:r>
            <a:r>
              <a:rPr lang="tr-TR" dirty="0" err="1"/>
              <a:t>sources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justify</a:t>
            </a:r>
            <a:r>
              <a:rPr lang="tr-TR" dirty="0"/>
              <a:t> </a:t>
            </a:r>
            <a:r>
              <a:rPr lang="tr-TR" dirty="0" err="1"/>
              <a:t>methods</a:t>
            </a:r>
            <a:r>
              <a:rPr lang="tr-T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736735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2ABAE35-93E3-3D60-D9D5-4C6EE1A395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73512"/>
            <a:ext cx="10515600" cy="2832436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tr-TR" sz="3000" b="1" dirty="0" err="1"/>
              <a:t>In-text</a:t>
            </a:r>
            <a:r>
              <a:rPr lang="tr-TR" sz="3000" b="1" dirty="0"/>
              <a:t> </a:t>
            </a:r>
            <a:r>
              <a:rPr lang="tr-TR" sz="3000" b="1" dirty="0" err="1"/>
              <a:t>citations</a:t>
            </a:r>
            <a:r>
              <a:rPr lang="tr-TR" sz="3000" dirty="0"/>
              <a:t> </a:t>
            </a:r>
            <a:r>
              <a:rPr lang="tr-TR" sz="3000" dirty="0" err="1"/>
              <a:t>are</a:t>
            </a:r>
            <a:r>
              <a:rPr lang="tr-TR" sz="3000" dirty="0"/>
              <a:t> </a:t>
            </a:r>
            <a:r>
              <a:rPr lang="tr-TR" sz="3000" dirty="0" err="1"/>
              <a:t>brief</a:t>
            </a:r>
            <a:r>
              <a:rPr lang="tr-TR" sz="3000" dirty="0"/>
              <a:t> </a:t>
            </a:r>
            <a:r>
              <a:rPr lang="tr-TR" sz="3000" dirty="0" err="1"/>
              <a:t>source</a:t>
            </a:r>
            <a:r>
              <a:rPr lang="tr-TR" sz="3000" dirty="0"/>
              <a:t> </a:t>
            </a:r>
            <a:r>
              <a:rPr lang="tr-TR" sz="3000" dirty="0" err="1"/>
              <a:t>credits</a:t>
            </a:r>
            <a:r>
              <a:rPr lang="tr-TR" sz="3000" dirty="0"/>
              <a:t> </a:t>
            </a:r>
            <a:r>
              <a:rPr lang="tr-TR" sz="3000" dirty="0" err="1"/>
              <a:t>placed</a:t>
            </a:r>
            <a:r>
              <a:rPr lang="tr-TR" sz="3000" dirty="0"/>
              <a:t> </a:t>
            </a:r>
            <a:r>
              <a:rPr lang="tr-TR" sz="3000" dirty="0" err="1"/>
              <a:t>within</a:t>
            </a:r>
            <a:r>
              <a:rPr lang="tr-TR" sz="3000" dirty="0"/>
              <a:t> the body of </a:t>
            </a:r>
            <a:r>
              <a:rPr lang="tr-TR" sz="3000" dirty="0" err="1"/>
              <a:t>your</a:t>
            </a:r>
            <a:r>
              <a:rPr lang="tr-TR" sz="3000" dirty="0"/>
              <a:t> </a:t>
            </a:r>
            <a:r>
              <a:rPr lang="tr-TR" sz="3000" dirty="0" err="1"/>
              <a:t>text</a:t>
            </a:r>
            <a:r>
              <a:rPr lang="tr-TR" sz="3000" dirty="0"/>
              <a:t>. </a:t>
            </a:r>
          </a:p>
          <a:p>
            <a:r>
              <a:rPr lang="tr-TR" sz="3000" dirty="0" err="1"/>
              <a:t>They</a:t>
            </a:r>
            <a:r>
              <a:rPr lang="tr-TR" sz="3000" dirty="0"/>
              <a:t> </a:t>
            </a:r>
            <a:r>
              <a:rPr lang="tr-TR" sz="3000" dirty="0" err="1"/>
              <a:t>tell</a:t>
            </a:r>
            <a:r>
              <a:rPr lang="tr-TR" sz="3000" dirty="0"/>
              <a:t> </a:t>
            </a:r>
            <a:r>
              <a:rPr lang="tr-TR" sz="3000" dirty="0" err="1"/>
              <a:t>readers</a:t>
            </a:r>
            <a:r>
              <a:rPr lang="tr-TR" sz="3000" dirty="0"/>
              <a:t> </a:t>
            </a:r>
            <a:r>
              <a:rPr lang="tr-TR" sz="3000" b="1" dirty="0" err="1"/>
              <a:t>whose</a:t>
            </a:r>
            <a:r>
              <a:rPr lang="tr-TR" sz="3000" b="1" dirty="0"/>
              <a:t> idea </a:t>
            </a:r>
            <a:r>
              <a:rPr lang="tr-TR" sz="3000" b="1" dirty="0" err="1"/>
              <a:t>you</a:t>
            </a:r>
            <a:r>
              <a:rPr lang="tr-TR" sz="3000" b="1" dirty="0"/>
              <a:t> </a:t>
            </a:r>
            <a:r>
              <a:rPr lang="tr-TR" sz="3000" b="1" dirty="0" err="1"/>
              <a:t>are</a:t>
            </a:r>
            <a:r>
              <a:rPr lang="tr-TR" sz="3000" b="1" dirty="0"/>
              <a:t> </a:t>
            </a:r>
            <a:r>
              <a:rPr lang="tr-TR" sz="3000" b="1" dirty="0" err="1"/>
              <a:t>using</a:t>
            </a:r>
            <a:r>
              <a:rPr lang="tr-TR" sz="3000" b="1" dirty="0"/>
              <a:t> </a:t>
            </a:r>
            <a:r>
              <a:rPr lang="tr-TR" sz="3000" dirty="0" err="1"/>
              <a:t>and</a:t>
            </a:r>
            <a:r>
              <a:rPr lang="tr-TR" sz="3000" b="1" dirty="0"/>
              <a:t> </a:t>
            </a:r>
            <a:r>
              <a:rPr lang="tr-TR" sz="3000" b="1" dirty="0" err="1"/>
              <a:t>when</a:t>
            </a:r>
            <a:r>
              <a:rPr lang="tr-TR" sz="3000" b="1" dirty="0"/>
              <a:t> it </a:t>
            </a:r>
            <a:r>
              <a:rPr lang="tr-TR" sz="3000" b="1" dirty="0" err="1"/>
              <a:t>was</a:t>
            </a:r>
            <a:r>
              <a:rPr lang="tr-TR" sz="3000" b="1" dirty="0"/>
              <a:t> </a:t>
            </a:r>
            <a:r>
              <a:rPr lang="tr-TR" sz="3000" b="1" dirty="0" err="1"/>
              <a:t>published</a:t>
            </a:r>
            <a:r>
              <a:rPr lang="tr-TR" sz="3000" dirty="0"/>
              <a:t> (</a:t>
            </a:r>
            <a:r>
              <a:rPr lang="tr-TR" sz="3000" dirty="0" err="1"/>
              <a:t>and</a:t>
            </a:r>
            <a:r>
              <a:rPr lang="tr-TR" sz="3000" dirty="0"/>
              <a:t>, </a:t>
            </a:r>
            <a:r>
              <a:rPr lang="tr-TR" sz="3000" dirty="0" err="1"/>
              <a:t>for</a:t>
            </a:r>
            <a:r>
              <a:rPr lang="tr-TR" sz="3000" dirty="0"/>
              <a:t> </a:t>
            </a:r>
            <a:r>
              <a:rPr lang="tr-TR" sz="3000" dirty="0" err="1"/>
              <a:t>direct</a:t>
            </a:r>
            <a:r>
              <a:rPr lang="tr-TR" sz="3000" dirty="0"/>
              <a:t> </a:t>
            </a:r>
            <a:r>
              <a:rPr lang="tr-TR" sz="3000" dirty="0" err="1"/>
              <a:t>quotations</a:t>
            </a:r>
            <a:r>
              <a:rPr lang="tr-TR" sz="3000" dirty="0"/>
              <a:t>, </a:t>
            </a:r>
            <a:r>
              <a:rPr lang="tr-TR" sz="3000" b="1" dirty="0" err="1"/>
              <a:t>where</a:t>
            </a:r>
            <a:r>
              <a:rPr lang="tr-TR" sz="3000" b="1" dirty="0"/>
              <a:t> it </a:t>
            </a:r>
            <a:r>
              <a:rPr lang="tr-TR" sz="3000" b="1" dirty="0" err="1"/>
              <a:t>appears</a:t>
            </a:r>
            <a:r>
              <a:rPr lang="tr-TR" sz="3000" dirty="0"/>
              <a:t>), </a:t>
            </a:r>
            <a:r>
              <a:rPr lang="tr-TR" sz="3000" dirty="0" err="1"/>
              <a:t>and</a:t>
            </a:r>
            <a:r>
              <a:rPr lang="tr-TR" sz="3000" dirty="0"/>
              <a:t> </a:t>
            </a:r>
            <a:r>
              <a:rPr lang="tr-TR" sz="3000" dirty="0" err="1"/>
              <a:t>they</a:t>
            </a:r>
            <a:r>
              <a:rPr lang="tr-TR" sz="3000" dirty="0"/>
              <a:t> </a:t>
            </a:r>
            <a:r>
              <a:rPr lang="tr-TR" sz="3000" dirty="0" err="1"/>
              <a:t>point</a:t>
            </a:r>
            <a:r>
              <a:rPr lang="tr-TR" sz="3000" dirty="0"/>
              <a:t> </a:t>
            </a:r>
            <a:r>
              <a:rPr lang="tr-TR" sz="3000" dirty="0" err="1"/>
              <a:t>to</a:t>
            </a:r>
            <a:r>
              <a:rPr lang="tr-TR" sz="3000" dirty="0"/>
              <a:t> the </a:t>
            </a:r>
            <a:r>
              <a:rPr lang="tr-TR" sz="3000" dirty="0" err="1"/>
              <a:t>full</a:t>
            </a:r>
            <a:r>
              <a:rPr lang="tr-TR" sz="3000" dirty="0"/>
              <a:t> </a:t>
            </a:r>
            <a:r>
              <a:rPr lang="tr-TR" sz="3000" dirty="0" err="1"/>
              <a:t>details</a:t>
            </a:r>
            <a:r>
              <a:rPr lang="tr-TR" sz="3000" dirty="0"/>
              <a:t> in </a:t>
            </a:r>
            <a:r>
              <a:rPr lang="tr-TR" sz="3000" dirty="0" err="1"/>
              <a:t>your</a:t>
            </a:r>
            <a:r>
              <a:rPr lang="tr-TR" sz="3000" dirty="0"/>
              <a:t> </a:t>
            </a:r>
            <a:r>
              <a:rPr lang="tr-TR" sz="3000" b="1" dirty="0" err="1"/>
              <a:t>References</a:t>
            </a:r>
            <a:r>
              <a:rPr lang="tr-TR" sz="3000" dirty="0"/>
              <a:t> </a:t>
            </a:r>
            <a:r>
              <a:rPr lang="tr-TR" sz="3000" dirty="0" err="1"/>
              <a:t>list</a:t>
            </a:r>
            <a:r>
              <a:rPr lang="tr-TR" sz="3000" dirty="0"/>
              <a:t>.</a:t>
            </a:r>
          </a:p>
        </p:txBody>
      </p:sp>
      <p:sp>
        <p:nvSpPr>
          <p:cNvPr id="4" name="Başlık 1">
            <a:extLst>
              <a:ext uri="{FF2B5EF4-FFF2-40B4-BE49-F238E27FC236}">
                <a16:creationId xmlns:a16="http://schemas.microsoft.com/office/drawing/2014/main" id="{CA2036CD-F54E-B9D7-612C-68CA663A6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13012"/>
            <a:ext cx="10515600" cy="1325563"/>
          </a:xfrm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pPr algn="ctr"/>
            <a:r>
              <a:rPr lang="tr-TR" b="1" dirty="0">
                <a:latin typeface="+mn-lt"/>
              </a:rPr>
              <a:t>IN-TEXT CITATIONS</a:t>
            </a:r>
          </a:p>
        </p:txBody>
      </p:sp>
    </p:spTree>
    <p:extLst>
      <p:ext uri="{BB962C8B-B14F-4D97-AF65-F5344CB8AC3E}">
        <p14:creationId xmlns:p14="http://schemas.microsoft.com/office/powerpoint/2010/main" val="864328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1D76918-2E83-7CC3-612C-4D481366EBE6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40000"/>
              <a:lumOff val="60000"/>
            </a:schemeClr>
          </a:solidFill>
        </p:spPr>
        <p:txBody>
          <a:bodyPr/>
          <a:lstStyle/>
          <a:p>
            <a:pPr marL="0" indent="0" algn="ctr">
              <a:buNone/>
            </a:pPr>
            <a:r>
              <a:rPr lang="tr-TR" b="1" dirty="0">
                <a:latin typeface="+mn-lt"/>
              </a:rPr>
              <a:t>1) The </a:t>
            </a:r>
            <a:r>
              <a:rPr lang="tr-TR" b="1" dirty="0" err="1">
                <a:latin typeface="+mn-lt"/>
              </a:rPr>
              <a:t>basic</a:t>
            </a:r>
            <a:r>
              <a:rPr lang="tr-TR" b="1" dirty="0">
                <a:latin typeface="+mn-lt"/>
              </a:rPr>
              <a:t> </a:t>
            </a:r>
            <a:r>
              <a:rPr lang="tr-TR" b="1" dirty="0" err="1">
                <a:latin typeface="+mn-lt"/>
              </a:rPr>
              <a:t>pattern</a:t>
            </a:r>
            <a:endParaRPr lang="tr-TR" b="1" dirty="0">
              <a:latin typeface="+mn-lt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05D3530-E2D6-0ECE-3128-717C47C370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err="1"/>
              <a:t>Most</a:t>
            </a:r>
            <a:r>
              <a:rPr lang="tr-TR" dirty="0"/>
              <a:t> APA in-</a:t>
            </a:r>
            <a:r>
              <a:rPr lang="tr-TR" dirty="0" err="1"/>
              <a:t>text</a:t>
            </a:r>
            <a:r>
              <a:rPr lang="tr-TR" dirty="0"/>
              <a:t> </a:t>
            </a:r>
            <a:r>
              <a:rPr lang="tr-TR" dirty="0" err="1"/>
              <a:t>citations</a:t>
            </a:r>
            <a:r>
              <a:rPr lang="tr-TR" dirty="0"/>
              <a:t> </a:t>
            </a:r>
            <a:r>
              <a:rPr lang="tr-TR" dirty="0" err="1"/>
              <a:t>include</a:t>
            </a:r>
            <a:r>
              <a:rPr lang="tr-TR" dirty="0"/>
              <a:t>: </a:t>
            </a:r>
            <a:r>
              <a:rPr lang="tr-TR" b="1" dirty="0"/>
              <a:t>Author + </a:t>
            </a:r>
            <a:r>
              <a:rPr lang="tr-TR" b="1" dirty="0" err="1"/>
              <a:t>Year</a:t>
            </a:r>
            <a:r>
              <a:rPr lang="tr-TR" dirty="0"/>
              <a:t>. </a:t>
            </a:r>
          </a:p>
          <a:p>
            <a:endParaRPr lang="tr-TR" dirty="0"/>
          </a:p>
          <a:p>
            <a:r>
              <a:rPr lang="tr-TR" dirty="0" err="1"/>
              <a:t>You</a:t>
            </a:r>
            <a:r>
              <a:rPr lang="tr-TR" dirty="0"/>
              <a:t> can </a:t>
            </a:r>
            <a:r>
              <a:rPr lang="tr-TR" dirty="0" err="1"/>
              <a:t>integrate</a:t>
            </a:r>
            <a:r>
              <a:rPr lang="tr-TR" dirty="0"/>
              <a:t> the </a:t>
            </a:r>
            <a:r>
              <a:rPr lang="tr-TR" dirty="0" err="1"/>
              <a:t>citation</a:t>
            </a:r>
            <a:r>
              <a:rPr lang="tr-TR" dirty="0"/>
              <a:t> in </a:t>
            </a:r>
            <a:r>
              <a:rPr lang="tr-TR" b="1" dirty="0" err="1"/>
              <a:t>two</a:t>
            </a:r>
            <a:r>
              <a:rPr lang="tr-TR" b="1" dirty="0"/>
              <a:t> </a:t>
            </a:r>
            <a:r>
              <a:rPr lang="tr-TR" b="1" dirty="0" err="1"/>
              <a:t>standard</a:t>
            </a:r>
            <a:r>
              <a:rPr lang="tr-TR" b="1" dirty="0"/>
              <a:t> </a:t>
            </a:r>
            <a:r>
              <a:rPr lang="tr-TR" b="1" dirty="0" err="1"/>
              <a:t>ways</a:t>
            </a:r>
            <a:r>
              <a:rPr lang="tr-TR" dirty="0"/>
              <a:t>:</a:t>
            </a:r>
          </a:p>
          <a:p>
            <a:pPr marL="0" indent="0">
              <a:buNone/>
            </a:pPr>
            <a:r>
              <a:rPr lang="tr-TR" b="1" dirty="0"/>
              <a:t>	</a:t>
            </a:r>
            <a:r>
              <a:rPr lang="tr-TR" b="1" dirty="0">
                <a:solidFill>
                  <a:srgbClr val="C00000"/>
                </a:solidFill>
              </a:rPr>
              <a:t>A. </a:t>
            </a:r>
            <a:r>
              <a:rPr lang="tr-TR" b="1" dirty="0" err="1">
                <a:solidFill>
                  <a:srgbClr val="C00000"/>
                </a:solidFill>
              </a:rPr>
              <a:t>Narrative</a:t>
            </a:r>
            <a:r>
              <a:rPr lang="tr-TR" b="1" dirty="0">
                <a:solidFill>
                  <a:srgbClr val="C00000"/>
                </a:solidFill>
              </a:rPr>
              <a:t> </a:t>
            </a:r>
            <a:r>
              <a:rPr lang="tr-TR" b="1" dirty="0" err="1">
                <a:solidFill>
                  <a:srgbClr val="C00000"/>
                </a:solidFill>
              </a:rPr>
              <a:t>citation</a:t>
            </a:r>
            <a:r>
              <a:rPr lang="tr-TR" b="1" dirty="0">
                <a:solidFill>
                  <a:srgbClr val="C00000"/>
                </a:solidFill>
              </a:rPr>
              <a:t> </a:t>
            </a:r>
            <a:r>
              <a:rPr lang="tr-TR" b="1" dirty="0"/>
              <a:t>(</a:t>
            </a:r>
            <a:r>
              <a:rPr lang="tr-TR" b="1" dirty="0" err="1"/>
              <a:t>author</a:t>
            </a:r>
            <a:r>
              <a:rPr lang="tr-TR" b="1" dirty="0"/>
              <a:t> in the </a:t>
            </a:r>
            <a:r>
              <a:rPr lang="tr-TR" b="1" dirty="0" err="1"/>
              <a:t>sentence</a:t>
            </a:r>
            <a:r>
              <a:rPr lang="tr-TR" b="1" dirty="0"/>
              <a:t>)</a:t>
            </a:r>
          </a:p>
          <a:p>
            <a:pPr marL="0" indent="0">
              <a:buNone/>
            </a:pPr>
            <a:r>
              <a:rPr lang="tr-TR" dirty="0"/>
              <a:t>	</a:t>
            </a:r>
            <a:r>
              <a:rPr lang="tr-TR" b="1" dirty="0" err="1">
                <a:solidFill>
                  <a:schemeClr val="bg1">
                    <a:lumMod val="50000"/>
                  </a:schemeClr>
                </a:solidFill>
              </a:rPr>
              <a:t>Deci</a:t>
            </a:r>
            <a:r>
              <a:rPr lang="tr-TR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b="1" dirty="0" err="1">
                <a:solidFill>
                  <a:schemeClr val="bg1">
                    <a:lumMod val="50000"/>
                  </a:schemeClr>
                </a:solidFill>
              </a:rPr>
              <a:t>and</a:t>
            </a:r>
            <a:r>
              <a:rPr lang="tr-TR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b="1" dirty="0" err="1">
                <a:solidFill>
                  <a:schemeClr val="bg1">
                    <a:lumMod val="50000"/>
                  </a:schemeClr>
                </a:solidFill>
              </a:rPr>
              <a:t>Ryan</a:t>
            </a:r>
            <a:r>
              <a:rPr lang="tr-TR" b="1" dirty="0">
                <a:solidFill>
                  <a:schemeClr val="bg1">
                    <a:lumMod val="50000"/>
                  </a:schemeClr>
                </a:solidFill>
              </a:rPr>
              <a:t> (2000) </a:t>
            </a:r>
            <a:r>
              <a:rPr lang="tr-TR" dirty="0" err="1">
                <a:solidFill>
                  <a:schemeClr val="bg1">
                    <a:lumMod val="50000"/>
                  </a:schemeClr>
                </a:solidFill>
              </a:rPr>
              <a:t>argue</a:t>
            </a:r>
            <a:r>
              <a:rPr lang="tr-TR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dirty="0" err="1">
                <a:solidFill>
                  <a:schemeClr val="bg1">
                    <a:lumMod val="50000"/>
                  </a:schemeClr>
                </a:solidFill>
              </a:rPr>
              <a:t>that</a:t>
            </a:r>
            <a:r>
              <a:rPr lang="tr-TR" dirty="0">
                <a:solidFill>
                  <a:schemeClr val="bg1">
                    <a:lumMod val="50000"/>
                  </a:schemeClr>
                </a:solidFill>
              </a:rPr>
              <a:t> …</a:t>
            </a:r>
          </a:p>
          <a:p>
            <a:pPr marL="0" indent="0">
              <a:buNone/>
            </a:pPr>
            <a:r>
              <a:rPr lang="tr-TR" b="1" dirty="0"/>
              <a:t>	</a:t>
            </a:r>
            <a:r>
              <a:rPr lang="tr-TR" b="1" dirty="0">
                <a:solidFill>
                  <a:srgbClr val="C00000"/>
                </a:solidFill>
              </a:rPr>
              <a:t>B. </a:t>
            </a:r>
            <a:r>
              <a:rPr lang="tr-TR" b="1" dirty="0" err="1">
                <a:solidFill>
                  <a:srgbClr val="C00000"/>
                </a:solidFill>
              </a:rPr>
              <a:t>Parenthetical</a:t>
            </a:r>
            <a:r>
              <a:rPr lang="tr-TR" b="1" dirty="0">
                <a:solidFill>
                  <a:srgbClr val="C00000"/>
                </a:solidFill>
              </a:rPr>
              <a:t> </a:t>
            </a:r>
            <a:r>
              <a:rPr lang="tr-TR" b="1" dirty="0" err="1">
                <a:solidFill>
                  <a:srgbClr val="C00000"/>
                </a:solidFill>
              </a:rPr>
              <a:t>citation</a:t>
            </a:r>
            <a:r>
              <a:rPr lang="tr-TR" b="1" dirty="0">
                <a:solidFill>
                  <a:srgbClr val="C00000"/>
                </a:solidFill>
              </a:rPr>
              <a:t> </a:t>
            </a:r>
            <a:r>
              <a:rPr lang="tr-TR" b="1" dirty="0"/>
              <a:t>(</a:t>
            </a:r>
            <a:r>
              <a:rPr lang="tr-TR" b="1" dirty="0" err="1"/>
              <a:t>author</a:t>
            </a:r>
            <a:r>
              <a:rPr lang="tr-TR" b="1" dirty="0"/>
              <a:t> </a:t>
            </a:r>
            <a:r>
              <a:rPr lang="tr-TR" b="1" dirty="0" err="1"/>
              <a:t>and</a:t>
            </a:r>
            <a:r>
              <a:rPr lang="tr-TR" b="1" dirty="0"/>
              <a:t> </a:t>
            </a:r>
            <a:r>
              <a:rPr lang="tr-TR" b="1" dirty="0" err="1"/>
              <a:t>year</a:t>
            </a:r>
            <a:r>
              <a:rPr lang="tr-TR" b="1" dirty="0"/>
              <a:t> in </a:t>
            </a:r>
            <a:r>
              <a:rPr lang="tr-TR" b="1" dirty="0" err="1"/>
              <a:t>parentheses</a:t>
            </a:r>
            <a:r>
              <a:rPr lang="tr-TR" b="1" dirty="0"/>
              <a:t>)</a:t>
            </a:r>
          </a:p>
          <a:p>
            <a:pPr marL="0" indent="0">
              <a:buNone/>
            </a:pPr>
            <a:r>
              <a:rPr lang="tr-TR" dirty="0">
                <a:solidFill>
                  <a:schemeClr val="bg1">
                    <a:lumMod val="50000"/>
                  </a:schemeClr>
                </a:solidFill>
              </a:rPr>
              <a:t>	… as a </a:t>
            </a:r>
            <a:r>
              <a:rPr lang="tr-TR" dirty="0" err="1">
                <a:solidFill>
                  <a:schemeClr val="bg1">
                    <a:lumMod val="50000"/>
                  </a:schemeClr>
                </a:solidFill>
              </a:rPr>
              <a:t>key</a:t>
            </a:r>
            <a:r>
              <a:rPr lang="tr-TR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dirty="0" err="1">
                <a:solidFill>
                  <a:schemeClr val="bg1">
                    <a:lumMod val="50000"/>
                  </a:schemeClr>
                </a:solidFill>
              </a:rPr>
              <a:t>feature</a:t>
            </a:r>
            <a:r>
              <a:rPr lang="tr-TR" dirty="0">
                <a:solidFill>
                  <a:schemeClr val="bg1">
                    <a:lumMod val="50000"/>
                  </a:schemeClr>
                </a:solidFill>
              </a:rPr>
              <a:t> of </a:t>
            </a:r>
            <a:r>
              <a:rPr lang="tr-TR" dirty="0" err="1">
                <a:solidFill>
                  <a:schemeClr val="bg1">
                    <a:lumMod val="50000"/>
                  </a:schemeClr>
                </a:solidFill>
              </a:rPr>
              <a:t>motivation</a:t>
            </a:r>
            <a:r>
              <a:rPr lang="tr-TR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b="1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tr-TR" b="1" dirty="0" err="1">
                <a:solidFill>
                  <a:schemeClr val="bg1">
                    <a:lumMod val="50000"/>
                  </a:schemeClr>
                </a:solidFill>
              </a:rPr>
              <a:t>Deci</a:t>
            </a:r>
            <a:r>
              <a:rPr lang="tr-TR" b="1" dirty="0">
                <a:solidFill>
                  <a:schemeClr val="bg1">
                    <a:lumMod val="50000"/>
                  </a:schemeClr>
                </a:solidFill>
              </a:rPr>
              <a:t> &amp; </a:t>
            </a:r>
            <a:r>
              <a:rPr lang="tr-TR" b="1" dirty="0" err="1">
                <a:solidFill>
                  <a:schemeClr val="bg1">
                    <a:lumMod val="50000"/>
                  </a:schemeClr>
                </a:solidFill>
              </a:rPr>
              <a:t>Ryan</a:t>
            </a:r>
            <a:r>
              <a:rPr lang="tr-TR" b="1" dirty="0">
                <a:solidFill>
                  <a:schemeClr val="bg1">
                    <a:lumMod val="50000"/>
                  </a:schemeClr>
                </a:solidFill>
              </a:rPr>
              <a:t>, 2000)</a:t>
            </a:r>
            <a:r>
              <a:rPr lang="tr-TR" dirty="0">
                <a:solidFill>
                  <a:schemeClr val="bg1">
                    <a:lumMod val="50000"/>
                  </a:schemeClr>
                </a:solidFill>
              </a:rPr>
              <a:t>.</a:t>
            </a:r>
          </a:p>
          <a:p>
            <a:r>
              <a:rPr lang="tr-TR" dirty="0" err="1"/>
              <a:t>These</a:t>
            </a:r>
            <a:r>
              <a:rPr lang="tr-TR" dirty="0"/>
              <a:t> </a:t>
            </a:r>
            <a:r>
              <a:rPr lang="tr-TR" dirty="0" err="1"/>
              <a:t>are</a:t>
            </a:r>
            <a:r>
              <a:rPr lang="tr-TR" dirty="0"/>
              <a:t> </a:t>
            </a:r>
            <a:r>
              <a:rPr lang="tr-TR" dirty="0" err="1"/>
              <a:t>both</a:t>
            </a:r>
            <a:r>
              <a:rPr lang="tr-TR" dirty="0"/>
              <a:t> </a:t>
            </a:r>
            <a:r>
              <a:rPr lang="tr-TR" dirty="0" err="1"/>
              <a:t>standard</a:t>
            </a:r>
            <a:r>
              <a:rPr lang="tr-TR" dirty="0"/>
              <a:t> APA </a:t>
            </a:r>
            <a:r>
              <a:rPr lang="tr-TR" dirty="0" err="1"/>
              <a:t>approaches</a:t>
            </a:r>
            <a:r>
              <a:rPr lang="tr-TR" dirty="0"/>
              <a:t>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9986975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şlık 3">
            <a:extLst>
              <a:ext uri="{FF2B5EF4-FFF2-40B4-BE49-F238E27FC236}">
                <a16:creationId xmlns:a16="http://schemas.microsoft.com/office/drawing/2014/main" id="{F5A6850E-2152-8A7F-F298-902648EBB419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40000"/>
              <a:lumOff val="60000"/>
            </a:schemeClr>
          </a:solidFill>
        </p:spPr>
        <p:txBody>
          <a:bodyPr/>
          <a:lstStyle/>
          <a:p>
            <a:pPr algn="ctr"/>
            <a:r>
              <a:rPr lang="tr-TR" b="1" dirty="0">
                <a:latin typeface="+mn-lt"/>
              </a:rPr>
              <a:t>2) How </a:t>
            </a:r>
            <a:r>
              <a:rPr lang="tr-TR" b="1" dirty="0" err="1">
                <a:latin typeface="+mn-lt"/>
              </a:rPr>
              <a:t>to</a:t>
            </a:r>
            <a:r>
              <a:rPr lang="tr-TR" b="1" dirty="0">
                <a:latin typeface="+mn-lt"/>
              </a:rPr>
              <a:t> format the </a:t>
            </a:r>
            <a:r>
              <a:rPr lang="tr-TR" b="1" dirty="0" err="1">
                <a:latin typeface="+mn-lt"/>
              </a:rPr>
              <a:t>author</a:t>
            </a:r>
            <a:r>
              <a:rPr lang="tr-TR" b="1" dirty="0">
                <a:latin typeface="+mn-lt"/>
              </a:rPr>
              <a:t> element</a:t>
            </a:r>
            <a:endParaRPr lang="tr-TR" dirty="0">
              <a:latin typeface="+mn-lt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141D5D5-80F6-1443-ADDA-E26D7423B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1188849" cy="503237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tr-TR" b="1" dirty="0"/>
              <a:t>2.1 </a:t>
            </a:r>
            <a:r>
              <a:rPr lang="tr-TR" b="1" dirty="0" err="1"/>
              <a:t>One</a:t>
            </a:r>
            <a:r>
              <a:rPr lang="tr-TR" b="1" dirty="0"/>
              <a:t> </a:t>
            </a:r>
            <a:r>
              <a:rPr lang="tr-TR" b="1" dirty="0" err="1"/>
              <a:t>author</a:t>
            </a:r>
            <a:endParaRPr lang="tr-TR" b="1" dirty="0"/>
          </a:p>
          <a:p>
            <a:pPr marL="0" indent="0">
              <a:buNone/>
            </a:pPr>
            <a:r>
              <a:rPr lang="tr-TR" dirty="0"/>
              <a:t>	</a:t>
            </a:r>
            <a:r>
              <a:rPr lang="tr-TR" dirty="0" err="1"/>
              <a:t>Narrative</a:t>
            </a:r>
            <a:r>
              <a:rPr lang="tr-TR" dirty="0"/>
              <a:t>: </a:t>
            </a:r>
            <a:r>
              <a:rPr lang="tr-TR" b="1" dirty="0" err="1">
                <a:solidFill>
                  <a:schemeClr val="bg1">
                    <a:lumMod val="50000"/>
                  </a:schemeClr>
                </a:solidFill>
              </a:rPr>
              <a:t>Deci</a:t>
            </a:r>
            <a:r>
              <a:rPr lang="tr-TR" b="1" dirty="0">
                <a:solidFill>
                  <a:schemeClr val="bg1">
                    <a:lumMod val="50000"/>
                  </a:schemeClr>
                </a:solidFill>
              </a:rPr>
              <a:t> (2000)</a:t>
            </a:r>
            <a:endParaRPr lang="tr-TR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tr-TR" dirty="0"/>
              <a:t>	</a:t>
            </a:r>
            <a:r>
              <a:rPr lang="tr-TR" dirty="0" err="1"/>
              <a:t>Parenthetical</a:t>
            </a:r>
            <a:r>
              <a:rPr lang="tr-TR" dirty="0"/>
              <a:t>: </a:t>
            </a:r>
            <a:r>
              <a:rPr lang="tr-TR" b="1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tr-TR" b="1" dirty="0" err="1">
                <a:solidFill>
                  <a:schemeClr val="bg1">
                    <a:lumMod val="50000"/>
                  </a:schemeClr>
                </a:solidFill>
              </a:rPr>
              <a:t>Deci</a:t>
            </a:r>
            <a:r>
              <a:rPr lang="tr-TR" b="1" dirty="0">
                <a:solidFill>
                  <a:schemeClr val="bg1">
                    <a:lumMod val="50000"/>
                  </a:schemeClr>
                </a:solidFill>
              </a:rPr>
              <a:t>, 2000)</a:t>
            </a:r>
            <a:endParaRPr lang="tr-TR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tr-TR" b="1" dirty="0"/>
              <a:t>2.2 </a:t>
            </a:r>
            <a:r>
              <a:rPr lang="tr-TR" b="1" dirty="0" err="1"/>
              <a:t>Two</a:t>
            </a:r>
            <a:r>
              <a:rPr lang="tr-TR" b="1" dirty="0"/>
              <a:t> </a:t>
            </a:r>
            <a:r>
              <a:rPr lang="tr-TR" b="1" dirty="0" err="1"/>
              <a:t>authors</a:t>
            </a:r>
            <a:endParaRPr lang="tr-TR" b="1" dirty="0"/>
          </a:p>
          <a:p>
            <a:pPr marL="0" indent="0">
              <a:buNone/>
            </a:pPr>
            <a:r>
              <a:rPr lang="tr-TR" dirty="0"/>
              <a:t>	</a:t>
            </a:r>
            <a:r>
              <a:rPr lang="tr-TR" dirty="0" err="1"/>
              <a:t>Narrative</a:t>
            </a:r>
            <a:r>
              <a:rPr lang="tr-TR" dirty="0"/>
              <a:t> </a:t>
            </a:r>
            <a:r>
              <a:rPr lang="tr-TR" dirty="0" err="1"/>
              <a:t>uses</a:t>
            </a:r>
            <a:r>
              <a:rPr lang="tr-TR" dirty="0"/>
              <a:t> </a:t>
            </a:r>
            <a:r>
              <a:rPr lang="tr-TR" b="1" dirty="0"/>
              <a:t>“</a:t>
            </a:r>
            <a:r>
              <a:rPr lang="tr-TR" b="1" dirty="0" err="1">
                <a:solidFill>
                  <a:srgbClr val="C00000"/>
                </a:solidFill>
              </a:rPr>
              <a:t>and</a:t>
            </a:r>
            <a:r>
              <a:rPr lang="tr-TR" b="1" dirty="0"/>
              <a:t>”</a:t>
            </a:r>
            <a:r>
              <a:rPr lang="tr-TR" dirty="0"/>
              <a:t>: </a:t>
            </a:r>
            <a:r>
              <a:rPr lang="tr-TR" b="1" dirty="0" err="1">
                <a:solidFill>
                  <a:schemeClr val="bg1">
                    <a:lumMod val="50000"/>
                  </a:schemeClr>
                </a:solidFill>
              </a:rPr>
              <a:t>Deci</a:t>
            </a:r>
            <a:r>
              <a:rPr lang="tr-TR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b="1" dirty="0" err="1">
                <a:solidFill>
                  <a:schemeClr val="bg1">
                    <a:lumMod val="50000"/>
                  </a:schemeClr>
                </a:solidFill>
              </a:rPr>
              <a:t>and</a:t>
            </a:r>
            <a:r>
              <a:rPr lang="tr-TR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b="1" dirty="0" err="1">
                <a:solidFill>
                  <a:schemeClr val="bg1">
                    <a:lumMod val="50000"/>
                  </a:schemeClr>
                </a:solidFill>
              </a:rPr>
              <a:t>Ryan</a:t>
            </a:r>
            <a:r>
              <a:rPr lang="tr-TR" b="1" dirty="0">
                <a:solidFill>
                  <a:schemeClr val="bg1">
                    <a:lumMod val="50000"/>
                  </a:schemeClr>
                </a:solidFill>
              </a:rPr>
              <a:t> (2000)</a:t>
            </a:r>
            <a:endParaRPr lang="tr-TR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tr-TR" dirty="0"/>
              <a:t>	</a:t>
            </a:r>
            <a:r>
              <a:rPr lang="tr-TR" dirty="0" err="1"/>
              <a:t>Parenthetical</a:t>
            </a:r>
            <a:r>
              <a:rPr lang="tr-TR" dirty="0"/>
              <a:t> </a:t>
            </a:r>
            <a:r>
              <a:rPr lang="tr-TR" dirty="0" err="1"/>
              <a:t>uses</a:t>
            </a:r>
            <a:r>
              <a:rPr lang="tr-TR" dirty="0"/>
              <a:t> </a:t>
            </a:r>
            <a:r>
              <a:rPr lang="tr-TR" b="1" dirty="0"/>
              <a:t>“</a:t>
            </a:r>
            <a:r>
              <a:rPr lang="tr-TR" b="1" dirty="0">
                <a:solidFill>
                  <a:srgbClr val="C00000"/>
                </a:solidFill>
              </a:rPr>
              <a:t>&amp;</a:t>
            </a:r>
            <a:r>
              <a:rPr lang="tr-TR" b="1" dirty="0"/>
              <a:t>”</a:t>
            </a:r>
            <a:r>
              <a:rPr lang="tr-TR" dirty="0"/>
              <a:t>: </a:t>
            </a:r>
            <a:r>
              <a:rPr lang="tr-TR" b="1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tr-TR" b="1" dirty="0" err="1">
                <a:solidFill>
                  <a:schemeClr val="bg1">
                    <a:lumMod val="50000"/>
                  </a:schemeClr>
                </a:solidFill>
              </a:rPr>
              <a:t>Deci</a:t>
            </a:r>
            <a:r>
              <a:rPr lang="tr-TR" b="1" dirty="0">
                <a:solidFill>
                  <a:schemeClr val="bg1">
                    <a:lumMod val="50000"/>
                  </a:schemeClr>
                </a:solidFill>
              </a:rPr>
              <a:t> &amp; </a:t>
            </a:r>
            <a:r>
              <a:rPr lang="tr-TR" b="1" dirty="0" err="1">
                <a:solidFill>
                  <a:schemeClr val="bg1">
                    <a:lumMod val="50000"/>
                  </a:schemeClr>
                </a:solidFill>
              </a:rPr>
              <a:t>Ryan</a:t>
            </a:r>
            <a:r>
              <a:rPr lang="tr-TR" b="1" dirty="0">
                <a:solidFill>
                  <a:schemeClr val="bg1">
                    <a:lumMod val="50000"/>
                  </a:schemeClr>
                </a:solidFill>
              </a:rPr>
              <a:t>, 2000)</a:t>
            </a:r>
            <a:endParaRPr lang="tr-TR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tr-TR" b="1" dirty="0"/>
              <a:t>2.3 Three </a:t>
            </a:r>
            <a:r>
              <a:rPr lang="tr-TR" b="1" dirty="0" err="1"/>
              <a:t>or</a:t>
            </a:r>
            <a:r>
              <a:rPr lang="tr-TR" b="1" dirty="0"/>
              <a:t> </a:t>
            </a:r>
            <a:r>
              <a:rPr lang="tr-TR" b="1" dirty="0" err="1"/>
              <a:t>more</a:t>
            </a:r>
            <a:r>
              <a:rPr lang="tr-TR" b="1" dirty="0"/>
              <a:t> </a:t>
            </a:r>
            <a:r>
              <a:rPr lang="tr-TR" b="1" dirty="0" err="1"/>
              <a:t>authors</a:t>
            </a:r>
            <a:r>
              <a:rPr lang="tr-TR" b="1" dirty="0"/>
              <a:t> (</a:t>
            </a:r>
            <a:r>
              <a:rPr lang="tr-TR" b="1" dirty="0">
                <a:solidFill>
                  <a:srgbClr val="C00000"/>
                </a:solidFill>
              </a:rPr>
              <a:t>et al.</a:t>
            </a:r>
            <a:r>
              <a:rPr lang="tr-TR" b="1" dirty="0"/>
              <a:t>)</a:t>
            </a:r>
          </a:p>
          <a:p>
            <a:pPr marL="0" indent="0">
              <a:buNone/>
            </a:pPr>
            <a:r>
              <a:rPr lang="tr-TR" dirty="0"/>
              <a:t>       </a:t>
            </a:r>
            <a:r>
              <a:rPr lang="tr-TR" dirty="0" err="1"/>
              <a:t>From</a:t>
            </a:r>
            <a:r>
              <a:rPr lang="tr-TR" dirty="0"/>
              <a:t> the </a:t>
            </a:r>
            <a:r>
              <a:rPr lang="tr-TR" b="1" dirty="0" err="1"/>
              <a:t>first</a:t>
            </a:r>
            <a:r>
              <a:rPr lang="tr-TR" b="1" dirty="0"/>
              <a:t> </a:t>
            </a:r>
            <a:r>
              <a:rPr lang="tr-TR" b="1" dirty="0" err="1"/>
              <a:t>citation</a:t>
            </a:r>
            <a:r>
              <a:rPr lang="tr-TR" b="1" dirty="0"/>
              <a:t> </a:t>
            </a:r>
            <a:r>
              <a:rPr lang="tr-TR" b="1" dirty="0" err="1"/>
              <a:t>onward</a:t>
            </a:r>
            <a:r>
              <a:rPr lang="tr-TR" dirty="0"/>
              <a:t>, </a:t>
            </a:r>
            <a:r>
              <a:rPr lang="tr-TR" dirty="0" err="1"/>
              <a:t>use</a:t>
            </a:r>
            <a:r>
              <a:rPr lang="tr-TR" dirty="0"/>
              <a:t>: </a:t>
            </a:r>
            <a:r>
              <a:rPr lang="tr-TR" b="1" dirty="0"/>
              <a:t>First Author </a:t>
            </a:r>
            <a:r>
              <a:rPr lang="tr-TR" b="1" dirty="0">
                <a:solidFill>
                  <a:srgbClr val="C00000"/>
                </a:solidFill>
              </a:rPr>
              <a:t>et al.</a:t>
            </a:r>
            <a:r>
              <a:rPr lang="tr-TR" b="1" dirty="0"/>
              <a:t>, </a:t>
            </a:r>
            <a:r>
              <a:rPr lang="tr-TR" b="1" dirty="0" err="1"/>
              <a:t>Year</a:t>
            </a:r>
            <a:r>
              <a:rPr lang="tr-TR" dirty="0"/>
              <a:t>.</a:t>
            </a:r>
          </a:p>
          <a:p>
            <a:pPr marL="0" indent="0">
              <a:buNone/>
            </a:pPr>
            <a:r>
              <a:rPr lang="tr-TR" dirty="0"/>
              <a:t>	</a:t>
            </a:r>
            <a:r>
              <a:rPr lang="tr-TR" dirty="0" err="1"/>
              <a:t>Narrative</a:t>
            </a:r>
            <a:r>
              <a:rPr lang="tr-TR" dirty="0"/>
              <a:t>: </a:t>
            </a:r>
            <a:r>
              <a:rPr lang="tr-TR" b="1" dirty="0" err="1">
                <a:solidFill>
                  <a:schemeClr val="bg1">
                    <a:lumMod val="50000"/>
                  </a:schemeClr>
                </a:solidFill>
              </a:rPr>
              <a:t>Pestana</a:t>
            </a:r>
            <a:r>
              <a:rPr lang="tr-TR" b="1" dirty="0">
                <a:solidFill>
                  <a:schemeClr val="bg1">
                    <a:lumMod val="50000"/>
                  </a:schemeClr>
                </a:solidFill>
              </a:rPr>
              <a:t> et al. (2020)</a:t>
            </a:r>
            <a:endParaRPr lang="tr-TR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tr-TR" dirty="0"/>
              <a:t>	</a:t>
            </a:r>
            <a:r>
              <a:rPr lang="tr-TR" dirty="0" err="1"/>
              <a:t>Parenthetical</a:t>
            </a:r>
            <a:r>
              <a:rPr lang="tr-TR" dirty="0"/>
              <a:t>: </a:t>
            </a:r>
            <a:r>
              <a:rPr lang="tr-TR" b="1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tr-TR" b="1" dirty="0" err="1">
                <a:solidFill>
                  <a:schemeClr val="bg1">
                    <a:lumMod val="50000"/>
                  </a:schemeClr>
                </a:solidFill>
              </a:rPr>
              <a:t>Pestana</a:t>
            </a:r>
            <a:r>
              <a:rPr lang="tr-TR" b="1" dirty="0">
                <a:solidFill>
                  <a:schemeClr val="bg1">
                    <a:lumMod val="50000"/>
                  </a:schemeClr>
                </a:solidFill>
              </a:rPr>
              <a:t> et al., 2020)</a:t>
            </a:r>
            <a:endParaRPr lang="tr-TR" i="1" dirty="0"/>
          </a:p>
          <a:p>
            <a:pPr marL="0" indent="0">
              <a:buNone/>
            </a:pPr>
            <a:r>
              <a:rPr lang="tr-TR" sz="2600" b="1" i="1" dirty="0" err="1"/>
              <a:t>Note</a:t>
            </a:r>
            <a:r>
              <a:rPr lang="tr-TR" sz="2600" b="1" i="1" dirty="0"/>
              <a:t>:</a:t>
            </a:r>
            <a:r>
              <a:rPr lang="tr-TR" sz="2600" dirty="0"/>
              <a:t> </a:t>
            </a:r>
            <a:r>
              <a:rPr lang="tr-TR" sz="2600" b="1" dirty="0">
                <a:highlight>
                  <a:srgbClr val="FFFF00"/>
                </a:highlight>
              </a:rPr>
              <a:t>et al.</a:t>
            </a:r>
            <a:r>
              <a:rPr lang="tr-TR" sz="2600" dirty="0"/>
              <a:t> is Latin </a:t>
            </a:r>
            <a:r>
              <a:rPr lang="tr-TR" sz="2600" dirty="0" err="1"/>
              <a:t>for</a:t>
            </a:r>
            <a:r>
              <a:rPr lang="tr-TR" sz="2600" dirty="0"/>
              <a:t> “</a:t>
            </a:r>
            <a:r>
              <a:rPr lang="tr-TR" sz="2600" dirty="0" err="1">
                <a:solidFill>
                  <a:srgbClr val="C00000"/>
                </a:solidFill>
              </a:rPr>
              <a:t>and</a:t>
            </a:r>
            <a:r>
              <a:rPr lang="tr-TR" sz="2600" dirty="0">
                <a:solidFill>
                  <a:srgbClr val="C00000"/>
                </a:solidFill>
              </a:rPr>
              <a:t> </a:t>
            </a:r>
            <a:r>
              <a:rPr lang="tr-TR" sz="2600" dirty="0" err="1">
                <a:solidFill>
                  <a:srgbClr val="C00000"/>
                </a:solidFill>
              </a:rPr>
              <a:t>others</a:t>
            </a:r>
            <a:r>
              <a:rPr lang="tr-TR" sz="2600" dirty="0"/>
              <a:t>.” </a:t>
            </a:r>
            <a:r>
              <a:rPr lang="tr-TR" sz="2600" dirty="0" err="1"/>
              <a:t>It</a:t>
            </a:r>
            <a:r>
              <a:rPr lang="tr-TR" sz="2600" dirty="0"/>
              <a:t> has a </a:t>
            </a:r>
            <a:r>
              <a:rPr lang="tr-TR" sz="2600" dirty="0" err="1"/>
              <a:t>period</a:t>
            </a:r>
            <a:r>
              <a:rPr lang="tr-TR" sz="2600" dirty="0"/>
              <a:t> </a:t>
            </a:r>
            <a:r>
              <a:rPr lang="tr-TR" sz="2600" dirty="0" err="1"/>
              <a:t>after</a:t>
            </a:r>
            <a:r>
              <a:rPr lang="tr-TR" sz="2600" dirty="0"/>
              <a:t> </a:t>
            </a:r>
            <a:r>
              <a:rPr lang="tr-TR" sz="2600" b="1" dirty="0">
                <a:solidFill>
                  <a:srgbClr val="C00000"/>
                </a:solidFill>
                <a:highlight>
                  <a:srgbClr val="FFFF00"/>
                </a:highlight>
              </a:rPr>
              <a:t>al.</a:t>
            </a:r>
            <a:r>
              <a:rPr lang="tr-TR" sz="2600" dirty="0"/>
              <a:t> </a:t>
            </a:r>
            <a:r>
              <a:rPr lang="tr-TR" sz="2600" dirty="0" err="1"/>
              <a:t>because</a:t>
            </a:r>
            <a:r>
              <a:rPr lang="tr-TR" sz="2600" dirty="0"/>
              <a:t> it is an </a:t>
            </a:r>
            <a:r>
              <a:rPr lang="tr-TR" sz="2600" dirty="0" err="1"/>
              <a:t>abbreviation</a:t>
            </a:r>
            <a:r>
              <a:rPr lang="tr-TR" sz="2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124151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19C16D1-9410-9DD9-8DA6-0606A5DB2D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57890"/>
            <a:ext cx="10952181" cy="51905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2400" b="1" dirty="0"/>
              <a:t>3.1 </a:t>
            </a:r>
            <a:r>
              <a:rPr lang="tr-TR" sz="2400" b="1" dirty="0" err="1"/>
              <a:t>Organizational</a:t>
            </a:r>
            <a:r>
              <a:rPr lang="tr-TR" sz="2400" b="1" dirty="0"/>
              <a:t> </a:t>
            </a:r>
            <a:r>
              <a:rPr lang="tr-TR" sz="2400" b="1" dirty="0" err="1"/>
              <a:t>author</a:t>
            </a:r>
            <a:r>
              <a:rPr lang="tr-TR" sz="2400" b="1" dirty="0"/>
              <a:t> </a:t>
            </a:r>
            <a:r>
              <a:rPr lang="tr-TR" sz="2400" b="1" dirty="0" err="1"/>
              <a:t>written</a:t>
            </a:r>
            <a:r>
              <a:rPr lang="tr-TR" sz="2400" b="1" dirty="0"/>
              <a:t> in </a:t>
            </a:r>
            <a:r>
              <a:rPr lang="tr-TR" sz="2400" b="1" dirty="0" err="1"/>
              <a:t>full</a:t>
            </a:r>
            <a:r>
              <a:rPr lang="tr-TR" sz="2400" b="1" dirty="0"/>
              <a:t> (</a:t>
            </a:r>
            <a:r>
              <a:rPr lang="tr-TR" sz="2400" b="1" dirty="0" err="1"/>
              <a:t>no</a:t>
            </a:r>
            <a:r>
              <a:rPr lang="tr-TR" sz="2400" b="1" dirty="0"/>
              <a:t> </a:t>
            </a:r>
            <a:r>
              <a:rPr lang="tr-TR" sz="2400" b="1" dirty="0" err="1"/>
              <a:t>abbreviation</a:t>
            </a:r>
            <a:r>
              <a:rPr lang="tr-TR" sz="2400" b="1" dirty="0"/>
              <a:t>)</a:t>
            </a:r>
          </a:p>
          <a:p>
            <a:pPr marL="0" indent="0">
              <a:buNone/>
            </a:pPr>
            <a:r>
              <a:rPr lang="tr-TR" sz="2400" dirty="0"/>
              <a:t>	</a:t>
            </a:r>
            <a:r>
              <a:rPr lang="tr-TR" sz="2400" dirty="0" err="1"/>
              <a:t>Narrative</a:t>
            </a:r>
            <a:r>
              <a:rPr lang="tr-TR" sz="2400" dirty="0"/>
              <a:t>: </a:t>
            </a:r>
            <a:r>
              <a:rPr lang="tr-TR" sz="2400" b="1" dirty="0">
                <a:solidFill>
                  <a:schemeClr val="bg1">
                    <a:lumMod val="50000"/>
                  </a:schemeClr>
                </a:solidFill>
              </a:rPr>
              <a:t>World </a:t>
            </a:r>
            <a:r>
              <a:rPr lang="tr-TR" sz="2400" b="1" dirty="0" err="1">
                <a:solidFill>
                  <a:schemeClr val="bg1">
                    <a:lumMod val="50000"/>
                  </a:schemeClr>
                </a:solidFill>
              </a:rPr>
              <a:t>Health</a:t>
            </a:r>
            <a:r>
              <a:rPr lang="tr-TR" sz="2400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sz="2400" b="1" dirty="0" err="1">
                <a:solidFill>
                  <a:schemeClr val="bg1">
                    <a:lumMod val="50000"/>
                  </a:schemeClr>
                </a:solidFill>
              </a:rPr>
              <a:t>Organization</a:t>
            </a:r>
            <a:r>
              <a:rPr lang="tr-TR" sz="2400" b="1" dirty="0">
                <a:solidFill>
                  <a:schemeClr val="bg1">
                    <a:lumMod val="50000"/>
                  </a:schemeClr>
                </a:solidFill>
              </a:rPr>
              <a:t> (2021)</a:t>
            </a:r>
            <a:endParaRPr lang="tr-TR" sz="2400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tr-TR" sz="2400" dirty="0"/>
              <a:t>	</a:t>
            </a:r>
            <a:r>
              <a:rPr lang="tr-TR" sz="2400" dirty="0" err="1"/>
              <a:t>Parenthetical</a:t>
            </a:r>
            <a:r>
              <a:rPr lang="tr-TR" sz="2400" dirty="0"/>
              <a:t>: </a:t>
            </a:r>
            <a:r>
              <a:rPr lang="tr-TR" sz="2400" b="1" dirty="0">
                <a:solidFill>
                  <a:schemeClr val="bg1">
                    <a:lumMod val="50000"/>
                  </a:schemeClr>
                </a:solidFill>
              </a:rPr>
              <a:t>(World </a:t>
            </a:r>
            <a:r>
              <a:rPr lang="tr-TR" sz="2400" b="1" dirty="0" err="1">
                <a:solidFill>
                  <a:schemeClr val="bg1">
                    <a:lumMod val="50000"/>
                  </a:schemeClr>
                </a:solidFill>
              </a:rPr>
              <a:t>Health</a:t>
            </a:r>
            <a:r>
              <a:rPr lang="tr-TR" sz="2400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sz="2400" b="1" dirty="0" err="1">
                <a:solidFill>
                  <a:schemeClr val="bg1">
                    <a:lumMod val="50000"/>
                  </a:schemeClr>
                </a:solidFill>
              </a:rPr>
              <a:t>Organization</a:t>
            </a:r>
            <a:r>
              <a:rPr lang="tr-TR" sz="2400" b="1" dirty="0">
                <a:solidFill>
                  <a:schemeClr val="bg1">
                    <a:lumMod val="50000"/>
                  </a:schemeClr>
                </a:solidFill>
              </a:rPr>
              <a:t>, 2021)</a:t>
            </a:r>
          </a:p>
          <a:p>
            <a:pPr marL="0" indent="0">
              <a:buNone/>
            </a:pPr>
            <a:endParaRPr lang="tr-TR" sz="2400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tr-TR" sz="2400" b="1" dirty="0"/>
              <a:t>3.2 </a:t>
            </a:r>
            <a:r>
              <a:rPr lang="tr-TR" sz="2400" b="1" dirty="0" err="1"/>
              <a:t>Organizational</a:t>
            </a:r>
            <a:r>
              <a:rPr lang="tr-TR" sz="2400" b="1" dirty="0"/>
              <a:t> </a:t>
            </a:r>
            <a:r>
              <a:rPr lang="tr-TR" sz="2400" b="1" dirty="0" err="1"/>
              <a:t>author</a:t>
            </a:r>
            <a:r>
              <a:rPr lang="tr-TR" sz="2400" b="1" dirty="0"/>
              <a:t> + </a:t>
            </a:r>
            <a:r>
              <a:rPr lang="tr-TR" sz="2400" b="1" dirty="0" err="1"/>
              <a:t>abbreviation</a:t>
            </a:r>
            <a:r>
              <a:rPr lang="tr-TR" sz="2400" b="1" dirty="0"/>
              <a:t> </a:t>
            </a:r>
            <a:r>
              <a:rPr lang="tr-TR" sz="2400" b="1" dirty="0" err="1"/>
              <a:t>you</a:t>
            </a:r>
            <a:r>
              <a:rPr lang="tr-TR" sz="2400" b="1" dirty="0"/>
              <a:t> </a:t>
            </a:r>
            <a:r>
              <a:rPr lang="tr-TR" sz="2400" b="1" dirty="0" err="1"/>
              <a:t>will</a:t>
            </a:r>
            <a:r>
              <a:rPr lang="tr-TR" sz="2400" b="1" dirty="0"/>
              <a:t> </a:t>
            </a:r>
            <a:r>
              <a:rPr lang="tr-TR" sz="2400" b="1" dirty="0" err="1"/>
              <a:t>reuse</a:t>
            </a:r>
            <a:endParaRPr lang="tr-TR" sz="2400" b="1" dirty="0"/>
          </a:p>
          <a:p>
            <a:pPr marL="0" indent="0">
              <a:buNone/>
            </a:pPr>
            <a:r>
              <a:rPr lang="tr-TR" sz="2400" b="1" dirty="0"/>
              <a:t>		</a:t>
            </a:r>
            <a:endParaRPr lang="tr-TR" sz="2400" dirty="0">
              <a:solidFill>
                <a:schemeClr val="bg1">
                  <a:lumMod val="50000"/>
                </a:schemeClr>
              </a:solidFill>
            </a:endParaRPr>
          </a:p>
        </p:txBody>
      </p:sp>
      <p:graphicFrame>
        <p:nvGraphicFramePr>
          <p:cNvPr id="5" name="Tablo 4">
            <a:extLst>
              <a:ext uri="{FF2B5EF4-FFF2-40B4-BE49-F238E27FC236}">
                <a16:creationId xmlns:a16="http://schemas.microsoft.com/office/drawing/2014/main" id="{2D74AEE2-21FD-EDBB-8194-8FAC142424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6845066"/>
              </p:ext>
            </p:extLst>
          </p:nvPr>
        </p:nvGraphicFramePr>
        <p:xfrm>
          <a:off x="1709273" y="4361059"/>
          <a:ext cx="9521712" cy="213181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60856">
                  <a:extLst>
                    <a:ext uri="{9D8B030D-6E8A-4147-A177-3AD203B41FA5}">
                      <a16:colId xmlns:a16="http://schemas.microsoft.com/office/drawing/2014/main" val="2425302629"/>
                    </a:ext>
                  </a:extLst>
                </a:gridCol>
                <a:gridCol w="4760856">
                  <a:extLst>
                    <a:ext uri="{9D8B030D-6E8A-4147-A177-3AD203B41FA5}">
                      <a16:colId xmlns:a16="http://schemas.microsoft.com/office/drawing/2014/main" val="982465895"/>
                    </a:ext>
                  </a:extLst>
                </a:gridCol>
              </a:tblGrid>
              <a:tr h="2131816"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tr-TR" sz="2000" b="1" dirty="0"/>
                        <a:t>First </a:t>
                      </a:r>
                      <a:r>
                        <a:rPr lang="tr-TR" sz="2000" b="1" dirty="0" err="1"/>
                        <a:t>parenthetical</a:t>
                      </a:r>
                      <a:r>
                        <a:rPr lang="tr-TR" sz="2000" b="1" dirty="0"/>
                        <a:t> </a:t>
                      </a:r>
                      <a:r>
                        <a:rPr lang="tr-TR" sz="2000" b="1" dirty="0" err="1"/>
                        <a:t>citation</a:t>
                      </a:r>
                      <a:r>
                        <a:rPr lang="tr-TR" sz="2000" b="1" dirty="0"/>
                        <a:t>:</a:t>
                      </a:r>
                      <a:endParaRPr lang="tr-TR" sz="2000" dirty="0"/>
                    </a:p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tr-TR" sz="2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 (World </a:t>
                      </a:r>
                      <a:r>
                        <a:rPr lang="tr-TR" sz="2000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Health</a:t>
                      </a:r>
                      <a:r>
                        <a:rPr lang="tr-TR" sz="2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tr-TR" sz="2000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Organization</a:t>
                      </a:r>
                      <a:r>
                        <a:rPr lang="tr-TR" sz="2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tr-TR" sz="2000" b="1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[WHO]</a:t>
                      </a:r>
                      <a:r>
                        <a:rPr lang="tr-TR" sz="2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, 2021)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tr-TR" sz="2000" b="1" dirty="0" err="1"/>
                        <a:t>Later</a:t>
                      </a:r>
                      <a:r>
                        <a:rPr lang="tr-TR" sz="2000" b="1" dirty="0"/>
                        <a:t> </a:t>
                      </a:r>
                      <a:r>
                        <a:rPr lang="tr-TR" sz="2000" b="1" dirty="0" err="1"/>
                        <a:t>parenthetical</a:t>
                      </a:r>
                      <a:r>
                        <a:rPr lang="tr-TR" sz="2000" b="1" dirty="0"/>
                        <a:t> </a:t>
                      </a:r>
                      <a:r>
                        <a:rPr lang="tr-TR" sz="2000" b="1" dirty="0" err="1"/>
                        <a:t>citations</a:t>
                      </a:r>
                      <a:r>
                        <a:rPr lang="tr-TR" sz="2000" b="1" dirty="0"/>
                        <a:t>:</a:t>
                      </a:r>
                      <a:endParaRPr lang="tr-TR" sz="2000" dirty="0"/>
                    </a:p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tr-TR" sz="2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 (</a:t>
                      </a:r>
                      <a:r>
                        <a:rPr lang="tr-TR" sz="2000" b="1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WHO</a:t>
                      </a:r>
                      <a:r>
                        <a:rPr lang="tr-TR" sz="2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, 2021)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tr-TR" sz="2000" b="1" dirty="0"/>
                        <a:t>First </a:t>
                      </a:r>
                      <a:r>
                        <a:rPr lang="tr-TR" sz="2000" b="1" dirty="0" err="1"/>
                        <a:t>narrative</a:t>
                      </a:r>
                      <a:r>
                        <a:rPr lang="tr-TR" sz="2000" b="1" dirty="0"/>
                        <a:t> </a:t>
                      </a:r>
                      <a:r>
                        <a:rPr lang="tr-TR" sz="2000" b="1" dirty="0" err="1"/>
                        <a:t>citation</a:t>
                      </a:r>
                      <a:r>
                        <a:rPr lang="tr-TR" sz="2000" b="1" dirty="0"/>
                        <a:t>:</a:t>
                      </a:r>
                      <a:endParaRPr lang="tr-TR" sz="2000" dirty="0"/>
                    </a:p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tr-TR" sz="2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World </a:t>
                      </a:r>
                      <a:r>
                        <a:rPr lang="tr-TR" sz="2000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Health</a:t>
                      </a:r>
                      <a:r>
                        <a:rPr lang="tr-TR" sz="2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tr-TR" sz="2000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Organization</a:t>
                      </a:r>
                      <a:r>
                        <a:rPr lang="tr-TR" sz="2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(</a:t>
                      </a:r>
                      <a:r>
                        <a:rPr lang="tr-TR" sz="2000" b="1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WHO</a:t>
                      </a:r>
                      <a:r>
                        <a:rPr lang="tr-TR" sz="2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, 2021) …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tr-TR" sz="2000" b="1" dirty="0" err="1"/>
                        <a:t>Later</a:t>
                      </a:r>
                      <a:r>
                        <a:rPr lang="tr-TR" sz="2000" b="1" dirty="0"/>
                        <a:t> </a:t>
                      </a:r>
                      <a:r>
                        <a:rPr lang="tr-TR" sz="2000" b="1" dirty="0" err="1"/>
                        <a:t>narrative</a:t>
                      </a:r>
                      <a:r>
                        <a:rPr lang="tr-TR" sz="2000" b="1" dirty="0"/>
                        <a:t> </a:t>
                      </a:r>
                      <a:r>
                        <a:rPr lang="tr-TR" sz="2000" b="1" dirty="0" err="1"/>
                        <a:t>citations</a:t>
                      </a:r>
                      <a:r>
                        <a:rPr lang="tr-TR" sz="2000" b="1" dirty="0"/>
                        <a:t>: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tr-TR" sz="2000" b="1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WHO</a:t>
                      </a:r>
                      <a:r>
                        <a:rPr lang="tr-TR" sz="2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(2021) 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411619"/>
                  </a:ext>
                </a:extLst>
              </a:tr>
            </a:tbl>
          </a:graphicData>
        </a:graphic>
      </p:graphicFrame>
      <p:sp>
        <p:nvSpPr>
          <p:cNvPr id="7" name="Başlık 6">
            <a:extLst>
              <a:ext uri="{FF2B5EF4-FFF2-40B4-BE49-F238E27FC236}">
                <a16:creationId xmlns:a16="http://schemas.microsoft.com/office/drawing/2014/main" id="{47403316-D289-20E0-1BED-B9C4026A584C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40000"/>
              <a:lumOff val="60000"/>
            </a:schemeClr>
          </a:solidFill>
        </p:spPr>
        <p:txBody>
          <a:bodyPr/>
          <a:lstStyle/>
          <a:p>
            <a:pPr algn="ctr"/>
            <a:r>
              <a:rPr lang="tr-TR" sz="4400" b="1" dirty="0">
                <a:latin typeface="+mn-lt"/>
              </a:rPr>
              <a:t>3) </a:t>
            </a:r>
            <a:r>
              <a:rPr lang="tr-TR" sz="4400" b="1" dirty="0" err="1">
                <a:latin typeface="+mn-lt"/>
              </a:rPr>
              <a:t>Organizational</a:t>
            </a:r>
            <a:r>
              <a:rPr lang="tr-TR" sz="4400" b="1" dirty="0">
                <a:latin typeface="+mn-lt"/>
              </a:rPr>
              <a:t> </a:t>
            </a:r>
            <a:r>
              <a:rPr lang="tr-TR" sz="4400" b="1" dirty="0" err="1">
                <a:latin typeface="+mn-lt"/>
              </a:rPr>
              <a:t>authors</a:t>
            </a:r>
            <a:r>
              <a:rPr lang="tr-TR" sz="4400" b="1" dirty="0">
                <a:latin typeface="+mn-lt"/>
              </a:rPr>
              <a:t> + </a:t>
            </a:r>
            <a:r>
              <a:rPr lang="tr-TR" sz="4400" b="1" dirty="0" err="1">
                <a:latin typeface="+mn-lt"/>
              </a:rPr>
              <a:t>abbreviations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7765992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şlık 3">
            <a:extLst>
              <a:ext uri="{FF2B5EF4-FFF2-40B4-BE49-F238E27FC236}">
                <a16:creationId xmlns:a16="http://schemas.microsoft.com/office/drawing/2014/main" id="{B1AE8F7A-7416-D182-0422-CE7508095A61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40000"/>
              <a:lumOff val="60000"/>
            </a:schemeClr>
          </a:solidFill>
        </p:spPr>
        <p:txBody>
          <a:bodyPr/>
          <a:lstStyle/>
          <a:p>
            <a:pPr algn="ctr"/>
            <a:r>
              <a:rPr lang="tr-TR" b="1" dirty="0">
                <a:latin typeface="+mn-lt"/>
              </a:rPr>
              <a:t>4) </a:t>
            </a:r>
            <a:r>
              <a:rPr lang="tr-TR" b="1" dirty="0" err="1">
                <a:latin typeface="+mn-lt"/>
              </a:rPr>
              <a:t>When</a:t>
            </a:r>
            <a:r>
              <a:rPr lang="tr-TR" b="1" dirty="0">
                <a:latin typeface="+mn-lt"/>
              </a:rPr>
              <a:t> </a:t>
            </a:r>
            <a:r>
              <a:rPr lang="tr-TR" b="1" dirty="0" err="1">
                <a:latin typeface="+mn-lt"/>
              </a:rPr>
              <a:t>there</a:t>
            </a:r>
            <a:r>
              <a:rPr lang="tr-TR" b="1" dirty="0">
                <a:latin typeface="+mn-lt"/>
              </a:rPr>
              <a:t> is </a:t>
            </a:r>
            <a:r>
              <a:rPr lang="tr-TR" b="1" dirty="0" err="1">
                <a:latin typeface="+mn-lt"/>
              </a:rPr>
              <a:t>no</a:t>
            </a:r>
            <a:r>
              <a:rPr lang="tr-TR" b="1" dirty="0">
                <a:latin typeface="+mn-lt"/>
              </a:rPr>
              <a:t> </a:t>
            </a:r>
            <a:r>
              <a:rPr lang="tr-TR" b="1" dirty="0" err="1">
                <a:latin typeface="+mn-lt"/>
              </a:rPr>
              <a:t>author</a:t>
            </a:r>
            <a:r>
              <a:rPr lang="tr-TR" b="1" dirty="0">
                <a:latin typeface="+mn-lt"/>
              </a:rPr>
              <a:t> </a:t>
            </a:r>
            <a:r>
              <a:rPr lang="tr-TR" b="1" dirty="0" err="1">
                <a:latin typeface="+mn-lt"/>
              </a:rPr>
              <a:t>information</a:t>
            </a:r>
            <a:endParaRPr lang="tr-TR" dirty="0">
              <a:latin typeface="+mn-lt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8CC1E33-14AD-3AA0-E2EE-1DEDDF93B9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33201"/>
            <a:ext cx="11062896" cy="4667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2500" b="1" dirty="0"/>
              <a:t>4.1 </a:t>
            </a:r>
            <a:r>
              <a:rPr lang="tr-TR" sz="2500" b="1" dirty="0" err="1"/>
              <a:t>Use</a:t>
            </a:r>
            <a:r>
              <a:rPr lang="tr-TR" sz="2500" b="1" dirty="0"/>
              <a:t> the </a:t>
            </a:r>
            <a:r>
              <a:rPr lang="tr-TR" sz="2500" b="1" dirty="0" err="1"/>
              <a:t>title</a:t>
            </a:r>
            <a:r>
              <a:rPr lang="tr-TR" sz="2500" b="1" dirty="0"/>
              <a:t> in </a:t>
            </a:r>
            <a:r>
              <a:rPr lang="tr-TR" sz="2500" b="1" dirty="0" err="1"/>
              <a:t>place</a:t>
            </a:r>
            <a:r>
              <a:rPr lang="tr-TR" sz="2500" b="1" dirty="0"/>
              <a:t> of the </a:t>
            </a:r>
            <a:r>
              <a:rPr lang="tr-TR" sz="2500" b="1" dirty="0" err="1"/>
              <a:t>author</a:t>
            </a:r>
            <a:endParaRPr lang="tr-TR" sz="2500" b="1" dirty="0"/>
          </a:p>
          <a:p>
            <a:r>
              <a:rPr lang="tr-TR" sz="2500" dirty="0" err="1"/>
              <a:t>If</a:t>
            </a:r>
            <a:r>
              <a:rPr lang="tr-TR" sz="2500" dirty="0"/>
              <a:t> a </a:t>
            </a:r>
            <a:r>
              <a:rPr lang="tr-TR" sz="2500" dirty="0" err="1"/>
              <a:t>work</a:t>
            </a:r>
            <a:r>
              <a:rPr lang="tr-TR" sz="2500" dirty="0"/>
              <a:t> has </a:t>
            </a:r>
            <a:r>
              <a:rPr lang="tr-TR" sz="2500" dirty="0" err="1"/>
              <a:t>no</a:t>
            </a:r>
            <a:r>
              <a:rPr lang="tr-TR" sz="2500" dirty="0"/>
              <a:t> </a:t>
            </a:r>
            <a:r>
              <a:rPr lang="tr-TR" sz="2500" dirty="0" err="1"/>
              <a:t>individual</a:t>
            </a:r>
            <a:r>
              <a:rPr lang="tr-TR" sz="2500" dirty="0"/>
              <a:t> </a:t>
            </a:r>
            <a:r>
              <a:rPr lang="tr-TR" sz="2500" dirty="0" err="1"/>
              <a:t>or</a:t>
            </a:r>
            <a:r>
              <a:rPr lang="tr-TR" sz="2500" dirty="0"/>
              <a:t> </a:t>
            </a:r>
            <a:r>
              <a:rPr lang="tr-TR" sz="2500" dirty="0" err="1"/>
              <a:t>group</a:t>
            </a:r>
            <a:r>
              <a:rPr lang="tr-TR" sz="2500" dirty="0"/>
              <a:t> </a:t>
            </a:r>
            <a:r>
              <a:rPr lang="tr-TR" sz="2500" dirty="0" err="1"/>
              <a:t>author</a:t>
            </a:r>
            <a:r>
              <a:rPr lang="tr-TR" sz="2500" dirty="0"/>
              <a:t>, </a:t>
            </a:r>
            <a:r>
              <a:rPr lang="tr-TR" sz="2500" dirty="0" err="1"/>
              <a:t>cite</a:t>
            </a:r>
            <a:r>
              <a:rPr lang="tr-TR" sz="2500" dirty="0"/>
              <a:t> </a:t>
            </a:r>
            <a:r>
              <a:rPr lang="tr-TR" sz="2500" b="1" dirty="0">
                <a:solidFill>
                  <a:srgbClr val="C00000"/>
                </a:solidFill>
              </a:rPr>
              <a:t>a </a:t>
            </a:r>
            <a:r>
              <a:rPr lang="tr-TR" sz="2500" b="1" dirty="0" err="1">
                <a:solidFill>
                  <a:srgbClr val="C00000"/>
                </a:solidFill>
              </a:rPr>
              <a:t>shortened</a:t>
            </a:r>
            <a:r>
              <a:rPr lang="tr-TR" sz="2500" b="1" dirty="0">
                <a:solidFill>
                  <a:srgbClr val="C00000"/>
                </a:solidFill>
              </a:rPr>
              <a:t> </a:t>
            </a:r>
            <a:r>
              <a:rPr lang="tr-TR" sz="2500" b="1" dirty="0" err="1">
                <a:solidFill>
                  <a:srgbClr val="C00000"/>
                </a:solidFill>
              </a:rPr>
              <a:t>title</a:t>
            </a:r>
            <a:r>
              <a:rPr lang="tr-TR" sz="2500" b="1" dirty="0">
                <a:solidFill>
                  <a:srgbClr val="C00000"/>
                </a:solidFill>
              </a:rPr>
              <a:t> + </a:t>
            </a:r>
            <a:r>
              <a:rPr lang="tr-TR" sz="2500" b="1" dirty="0" err="1">
                <a:solidFill>
                  <a:srgbClr val="C00000"/>
                </a:solidFill>
              </a:rPr>
              <a:t>year</a:t>
            </a:r>
            <a:r>
              <a:rPr lang="tr-TR" sz="25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sz="2500" b="1" dirty="0" err="1">
                <a:solidFill>
                  <a:srgbClr val="C00000"/>
                </a:solidFill>
              </a:rPr>
              <a:t>Italicize</a:t>
            </a:r>
            <a:r>
              <a:rPr lang="tr-TR" sz="2500" dirty="0"/>
              <a:t> </a:t>
            </a:r>
            <a:r>
              <a:rPr lang="tr-TR" sz="2500" dirty="0" err="1"/>
              <a:t>titles</a:t>
            </a:r>
            <a:r>
              <a:rPr lang="tr-TR" sz="2500" dirty="0"/>
              <a:t> of </a:t>
            </a:r>
            <a:r>
              <a:rPr lang="tr-TR" sz="2500" b="1" dirty="0" err="1"/>
              <a:t>stand-alone</a:t>
            </a:r>
            <a:r>
              <a:rPr lang="tr-TR" sz="2500" b="1" dirty="0"/>
              <a:t> </a:t>
            </a:r>
            <a:r>
              <a:rPr lang="tr-TR" sz="2500" b="1" dirty="0" err="1"/>
              <a:t>works</a:t>
            </a:r>
            <a:r>
              <a:rPr lang="tr-TR" sz="2500" dirty="0"/>
              <a:t> (</a:t>
            </a:r>
            <a:r>
              <a:rPr lang="tr-TR" sz="2500" dirty="0" err="1"/>
              <a:t>books</a:t>
            </a:r>
            <a:r>
              <a:rPr lang="tr-TR" sz="2500" dirty="0"/>
              <a:t>, </a:t>
            </a:r>
            <a:r>
              <a:rPr lang="tr-TR" sz="2500" dirty="0" err="1"/>
              <a:t>reports</a:t>
            </a:r>
            <a:r>
              <a:rPr lang="tr-TR" sz="2500" dirty="0"/>
              <a:t>, </a:t>
            </a:r>
            <a:r>
              <a:rPr lang="tr-TR" sz="2500" dirty="0" err="1"/>
              <a:t>webpages</a:t>
            </a:r>
            <a:r>
              <a:rPr lang="tr-TR" sz="2500" dirty="0"/>
              <a:t> </a:t>
            </a:r>
            <a:r>
              <a:rPr lang="tr-TR" sz="2500" dirty="0" err="1"/>
              <a:t>with</a:t>
            </a:r>
            <a:r>
              <a:rPr lang="tr-TR" sz="2500" dirty="0"/>
              <a:t> a </a:t>
            </a:r>
            <a:r>
              <a:rPr lang="tr-TR" sz="2500" dirty="0" err="1"/>
              <a:t>stand-alone</a:t>
            </a:r>
            <a:r>
              <a:rPr lang="tr-TR" sz="2500" dirty="0"/>
              <a:t> </a:t>
            </a:r>
            <a:r>
              <a:rPr lang="tr-TR" sz="2500" dirty="0" err="1"/>
              <a:t>title</a:t>
            </a:r>
            <a:r>
              <a:rPr lang="tr-TR" sz="2500" dirty="0"/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sz="2500" dirty="0" err="1"/>
              <a:t>Use</a:t>
            </a:r>
            <a:r>
              <a:rPr lang="tr-TR" sz="2500" dirty="0"/>
              <a:t> </a:t>
            </a:r>
            <a:r>
              <a:rPr lang="tr-TR" sz="2500" b="1" dirty="0" err="1">
                <a:solidFill>
                  <a:srgbClr val="C00000"/>
                </a:solidFill>
              </a:rPr>
              <a:t>quotation</a:t>
            </a:r>
            <a:r>
              <a:rPr lang="tr-TR" sz="2500" b="1" dirty="0">
                <a:solidFill>
                  <a:srgbClr val="C00000"/>
                </a:solidFill>
              </a:rPr>
              <a:t> </a:t>
            </a:r>
            <a:r>
              <a:rPr lang="tr-TR" sz="2500" b="1" dirty="0" err="1">
                <a:solidFill>
                  <a:srgbClr val="C00000"/>
                </a:solidFill>
              </a:rPr>
              <a:t>marks</a:t>
            </a:r>
            <a:r>
              <a:rPr lang="tr-TR" sz="2500" dirty="0">
                <a:solidFill>
                  <a:srgbClr val="C00000"/>
                </a:solidFill>
              </a:rPr>
              <a:t> </a:t>
            </a:r>
            <a:r>
              <a:rPr lang="tr-TR" sz="2500" dirty="0" err="1"/>
              <a:t>for</a:t>
            </a:r>
            <a:r>
              <a:rPr lang="tr-TR" sz="2500" dirty="0"/>
              <a:t> </a:t>
            </a:r>
            <a:r>
              <a:rPr lang="tr-TR" sz="2500" b="1" dirty="0" err="1"/>
              <a:t>parts</a:t>
            </a:r>
            <a:r>
              <a:rPr lang="tr-TR" sz="2500" b="1" dirty="0"/>
              <a:t> of a </a:t>
            </a:r>
            <a:r>
              <a:rPr lang="tr-TR" sz="2500" b="1" dirty="0" err="1"/>
              <a:t>larger</a:t>
            </a:r>
            <a:r>
              <a:rPr lang="tr-TR" sz="2500" b="1" dirty="0"/>
              <a:t> </a:t>
            </a:r>
            <a:r>
              <a:rPr lang="tr-TR" sz="2500" b="1" dirty="0" err="1"/>
              <a:t>work</a:t>
            </a:r>
            <a:r>
              <a:rPr lang="tr-TR" sz="2500" dirty="0"/>
              <a:t> (</a:t>
            </a:r>
            <a:r>
              <a:rPr lang="tr-TR" sz="2500" dirty="0" err="1"/>
              <a:t>journal</a:t>
            </a:r>
            <a:r>
              <a:rPr lang="tr-TR" sz="2500" dirty="0"/>
              <a:t> </a:t>
            </a:r>
            <a:r>
              <a:rPr lang="tr-TR" sz="2500" dirty="0" err="1"/>
              <a:t>articles</a:t>
            </a:r>
            <a:r>
              <a:rPr lang="tr-TR" sz="2500" dirty="0"/>
              <a:t>, </a:t>
            </a:r>
            <a:r>
              <a:rPr lang="tr-TR" sz="2500" dirty="0" err="1"/>
              <a:t>book</a:t>
            </a:r>
            <a:r>
              <a:rPr lang="tr-TR" sz="2500" dirty="0"/>
              <a:t> </a:t>
            </a:r>
            <a:r>
              <a:rPr lang="tr-TR" sz="2500" dirty="0" err="1"/>
              <a:t>chapters</a:t>
            </a:r>
            <a:r>
              <a:rPr lang="tr-TR" sz="2500" dirty="0"/>
              <a:t>, </a:t>
            </a:r>
            <a:r>
              <a:rPr lang="tr-TR" sz="2500" dirty="0" err="1"/>
              <a:t>news</a:t>
            </a:r>
            <a:r>
              <a:rPr lang="tr-TR" sz="2500" dirty="0"/>
              <a:t> </a:t>
            </a:r>
            <a:r>
              <a:rPr lang="tr-TR" sz="2500" dirty="0" err="1"/>
              <a:t>articles</a:t>
            </a:r>
            <a:r>
              <a:rPr lang="tr-TR" sz="2500" dirty="0"/>
              <a:t>).</a:t>
            </a:r>
          </a:p>
          <a:p>
            <a:pPr marL="0" indent="0">
              <a:buNone/>
            </a:pPr>
            <a:r>
              <a:rPr lang="tr-TR" sz="2500" b="1" u="sng" dirty="0" err="1"/>
              <a:t>Examples</a:t>
            </a:r>
            <a:r>
              <a:rPr lang="tr-TR" sz="2500" b="1" u="sng" dirty="0"/>
              <a:t>:</a:t>
            </a:r>
          </a:p>
          <a:p>
            <a:pPr marL="0" indent="0">
              <a:buNone/>
            </a:pPr>
            <a:r>
              <a:rPr lang="tr-TR" sz="2500" dirty="0" err="1"/>
              <a:t>Book</a:t>
            </a:r>
            <a:r>
              <a:rPr lang="tr-TR" sz="2500" dirty="0"/>
              <a:t>/</a:t>
            </a:r>
            <a:r>
              <a:rPr lang="tr-TR" sz="2500" dirty="0" err="1"/>
              <a:t>report</a:t>
            </a:r>
            <a:r>
              <a:rPr lang="tr-TR" sz="2500" dirty="0"/>
              <a:t>/</a:t>
            </a:r>
            <a:r>
              <a:rPr lang="tr-TR" sz="2500" dirty="0" err="1"/>
              <a:t>webpage</a:t>
            </a:r>
            <a:r>
              <a:rPr lang="tr-TR" sz="2500" dirty="0"/>
              <a:t> </a:t>
            </a:r>
            <a:r>
              <a:rPr lang="tr-TR" sz="2500" dirty="0" err="1"/>
              <a:t>title</a:t>
            </a:r>
            <a:r>
              <a:rPr lang="tr-TR" sz="2500" dirty="0"/>
              <a:t> (</a:t>
            </a:r>
            <a:r>
              <a:rPr lang="tr-TR" sz="2500" dirty="0" err="1"/>
              <a:t>italic</a:t>
            </a:r>
            <a:r>
              <a:rPr lang="tr-TR" sz="2500" dirty="0"/>
              <a:t>): </a:t>
            </a:r>
            <a:r>
              <a:rPr lang="tr-TR" sz="25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tr-TR" sz="2500" i="1" dirty="0">
                <a:solidFill>
                  <a:schemeClr val="bg1">
                    <a:lumMod val="50000"/>
                  </a:schemeClr>
                </a:solidFill>
              </a:rPr>
              <a:t>The </a:t>
            </a:r>
            <a:r>
              <a:rPr lang="tr-TR" sz="2500" i="1" dirty="0" err="1">
                <a:solidFill>
                  <a:schemeClr val="bg1">
                    <a:lumMod val="50000"/>
                  </a:schemeClr>
                </a:solidFill>
              </a:rPr>
              <a:t>Elements</a:t>
            </a:r>
            <a:r>
              <a:rPr lang="tr-TR" sz="2500" i="1" dirty="0">
                <a:solidFill>
                  <a:schemeClr val="bg1">
                    <a:lumMod val="50000"/>
                  </a:schemeClr>
                </a:solidFill>
              </a:rPr>
              <a:t> of Style</a:t>
            </a:r>
            <a:r>
              <a:rPr lang="tr-TR" sz="2500" dirty="0">
                <a:solidFill>
                  <a:schemeClr val="bg1">
                    <a:lumMod val="50000"/>
                  </a:schemeClr>
                </a:solidFill>
              </a:rPr>
              <a:t>, 2000)</a:t>
            </a:r>
          </a:p>
          <a:p>
            <a:pPr marL="0" indent="0">
              <a:buNone/>
            </a:pPr>
            <a:r>
              <a:rPr lang="tr-TR" sz="2500" dirty="0"/>
              <a:t>News </a:t>
            </a:r>
            <a:r>
              <a:rPr lang="tr-TR" sz="2500" dirty="0" err="1"/>
              <a:t>article</a:t>
            </a:r>
            <a:r>
              <a:rPr lang="tr-TR" sz="2500" dirty="0"/>
              <a:t> </a:t>
            </a:r>
            <a:r>
              <a:rPr lang="tr-TR" sz="2500" dirty="0" err="1"/>
              <a:t>title</a:t>
            </a:r>
            <a:r>
              <a:rPr lang="tr-TR" sz="2500" dirty="0"/>
              <a:t> (</a:t>
            </a:r>
            <a:r>
              <a:rPr lang="tr-TR" sz="2500" dirty="0" err="1"/>
              <a:t>quotes</a:t>
            </a:r>
            <a:r>
              <a:rPr lang="tr-TR" sz="2500" dirty="0"/>
              <a:t>): </a:t>
            </a:r>
            <a:r>
              <a:rPr lang="tr-TR" sz="2500" dirty="0">
                <a:solidFill>
                  <a:schemeClr val="bg1">
                    <a:lumMod val="50000"/>
                  </a:schemeClr>
                </a:solidFill>
              </a:rPr>
              <a:t>(“</a:t>
            </a:r>
            <a:r>
              <a:rPr lang="tr-TR" sz="2500" dirty="0" err="1">
                <a:solidFill>
                  <a:schemeClr val="bg1">
                    <a:lumMod val="50000"/>
                  </a:schemeClr>
                </a:solidFill>
              </a:rPr>
              <a:t>Rare</a:t>
            </a:r>
            <a:r>
              <a:rPr lang="tr-TR" sz="25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sz="2500" dirty="0" err="1">
                <a:solidFill>
                  <a:schemeClr val="bg1">
                    <a:lumMod val="50000"/>
                  </a:schemeClr>
                </a:solidFill>
              </a:rPr>
              <a:t>meteorite</a:t>
            </a:r>
            <a:r>
              <a:rPr lang="tr-TR" sz="25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sz="2500" dirty="0" err="1">
                <a:solidFill>
                  <a:schemeClr val="bg1">
                    <a:lumMod val="50000"/>
                  </a:schemeClr>
                </a:solidFill>
              </a:rPr>
              <a:t>chunk</a:t>
            </a:r>
            <a:r>
              <a:rPr lang="tr-TR" sz="25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sz="2500" dirty="0" err="1">
                <a:solidFill>
                  <a:schemeClr val="bg1">
                    <a:lumMod val="50000"/>
                  </a:schemeClr>
                </a:solidFill>
              </a:rPr>
              <a:t>traced</a:t>
            </a:r>
            <a:r>
              <a:rPr lang="tr-TR" sz="25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sz="2500" dirty="0" err="1">
                <a:solidFill>
                  <a:schemeClr val="bg1">
                    <a:lumMod val="50000"/>
                  </a:schemeClr>
                </a:solidFill>
              </a:rPr>
              <a:t>by</a:t>
            </a:r>
            <a:r>
              <a:rPr lang="tr-TR" sz="25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sz="2500" dirty="0" err="1">
                <a:solidFill>
                  <a:schemeClr val="bg1">
                    <a:lumMod val="50000"/>
                  </a:schemeClr>
                </a:solidFill>
              </a:rPr>
              <a:t>scientists</a:t>
            </a:r>
            <a:r>
              <a:rPr lang="tr-TR" sz="2500" dirty="0">
                <a:solidFill>
                  <a:schemeClr val="bg1">
                    <a:lumMod val="50000"/>
                  </a:schemeClr>
                </a:solidFill>
              </a:rPr>
              <a:t>,” 2021)</a:t>
            </a:r>
          </a:p>
          <a:p>
            <a:r>
              <a:rPr lang="tr-TR" sz="2500" dirty="0" err="1"/>
              <a:t>Use</a:t>
            </a:r>
            <a:r>
              <a:rPr lang="tr-TR" sz="2500" dirty="0"/>
              <a:t> </a:t>
            </a:r>
            <a:r>
              <a:rPr lang="tr-TR" sz="2500" b="1" dirty="0" err="1"/>
              <a:t>title</a:t>
            </a:r>
            <a:r>
              <a:rPr lang="tr-TR" sz="2500" b="1" dirty="0"/>
              <a:t> </a:t>
            </a:r>
            <a:r>
              <a:rPr lang="tr-TR" sz="2500" b="1" dirty="0" err="1"/>
              <a:t>case</a:t>
            </a:r>
            <a:r>
              <a:rPr lang="tr-TR" sz="2500" dirty="0"/>
              <a:t> (</a:t>
            </a:r>
            <a:r>
              <a:rPr lang="tr-TR" sz="2500" dirty="0" err="1"/>
              <a:t>capitalize</a:t>
            </a:r>
            <a:r>
              <a:rPr lang="tr-TR" sz="2500" dirty="0"/>
              <a:t> </a:t>
            </a:r>
            <a:r>
              <a:rPr lang="tr-TR" sz="2500" dirty="0" err="1"/>
              <a:t>major</a:t>
            </a:r>
            <a:r>
              <a:rPr lang="tr-TR" sz="2500" dirty="0"/>
              <a:t> </a:t>
            </a:r>
            <a:r>
              <a:rPr lang="tr-TR" sz="2500" dirty="0" err="1"/>
              <a:t>words</a:t>
            </a:r>
            <a:r>
              <a:rPr lang="tr-TR" sz="2500" dirty="0"/>
              <a:t>) </a:t>
            </a:r>
            <a:r>
              <a:rPr lang="tr-TR" sz="2500" dirty="0" err="1"/>
              <a:t>for</a:t>
            </a:r>
            <a:r>
              <a:rPr lang="tr-TR" sz="2500" dirty="0"/>
              <a:t> </a:t>
            </a:r>
            <a:r>
              <a:rPr lang="tr-TR" sz="2500" dirty="0" err="1"/>
              <a:t>titles</a:t>
            </a:r>
            <a:r>
              <a:rPr lang="tr-TR" sz="2500" dirty="0"/>
              <a:t> </a:t>
            </a:r>
            <a:r>
              <a:rPr lang="tr-TR" sz="2500" dirty="0" err="1"/>
              <a:t>used</a:t>
            </a:r>
            <a:r>
              <a:rPr lang="tr-TR" sz="2500" dirty="0"/>
              <a:t> in the </a:t>
            </a:r>
            <a:r>
              <a:rPr lang="tr-TR" sz="2500" dirty="0" err="1"/>
              <a:t>text</a:t>
            </a:r>
            <a:r>
              <a:rPr lang="tr-TR" sz="25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866465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şlık 3">
            <a:extLst>
              <a:ext uri="{FF2B5EF4-FFF2-40B4-BE49-F238E27FC236}">
                <a16:creationId xmlns:a16="http://schemas.microsoft.com/office/drawing/2014/main" id="{CB8982D9-2DEE-462D-A02A-8EE8C2ACD2A3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tr-TR" b="1" dirty="0">
                <a:latin typeface="+mn-lt"/>
              </a:rPr>
              <a:t>5) How </a:t>
            </a:r>
            <a:r>
              <a:rPr lang="tr-TR" b="1" dirty="0" err="1">
                <a:latin typeface="+mn-lt"/>
              </a:rPr>
              <a:t>to</a:t>
            </a:r>
            <a:r>
              <a:rPr lang="tr-TR" b="1" dirty="0">
                <a:latin typeface="+mn-lt"/>
              </a:rPr>
              <a:t> format the </a:t>
            </a:r>
            <a:r>
              <a:rPr lang="tr-TR" b="1" dirty="0" err="1">
                <a:latin typeface="+mn-lt"/>
              </a:rPr>
              <a:t>date</a:t>
            </a:r>
            <a:r>
              <a:rPr lang="tr-TR" b="1" dirty="0">
                <a:latin typeface="+mn-lt"/>
              </a:rPr>
              <a:t> element</a:t>
            </a:r>
            <a:endParaRPr lang="tr-TR" dirty="0">
              <a:latin typeface="+mn-lt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BF54FCF-BCC9-A2A1-9421-CBDAE477CD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9046"/>
            <a:ext cx="11102788" cy="48637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2400" b="1" dirty="0"/>
              <a:t>5.1 </a:t>
            </a:r>
            <a:r>
              <a:rPr lang="tr-TR" sz="2400" b="1" dirty="0" err="1"/>
              <a:t>Standard</a:t>
            </a:r>
            <a:r>
              <a:rPr lang="tr-TR" sz="2400" b="1" dirty="0"/>
              <a:t> </a:t>
            </a:r>
            <a:r>
              <a:rPr lang="tr-TR" sz="2400" b="1" dirty="0" err="1"/>
              <a:t>year</a:t>
            </a:r>
            <a:r>
              <a:rPr lang="tr-TR" sz="2400" b="1" dirty="0"/>
              <a:t> format</a:t>
            </a:r>
          </a:p>
          <a:p>
            <a:r>
              <a:rPr lang="tr-TR" sz="2400" dirty="0" err="1"/>
              <a:t>Use</a:t>
            </a:r>
            <a:r>
              <a:rPr lang="tr-TR" sz="2400" dirty="0"/>
              <a:t> the </a:t>
            </a:r>
            <a:r>
              <a:rPr lang="tr-TR" sz="2400" dirty="0" err="1"/>
              <a:t>publication</a:t>
            </a:r>
            <a:r>
              <a:rPr lang="tr-TR" sz="2400" dirty="0"/>
              <a:t> </a:t>
            </a:r>
            <a:r>
              <a:rPr lang="tr-TR" sz="2400" dirty="0" err="1"/>
              <a:t>year</a:t>
            </a:r>
            <a:r>
              <a:rPr lang="tr-TR" sz="2400" dirty="0"/>
              <a:t>: </a:t>
            </a:r>
            <a:r>
              <a:rPr lang="tr-TR" sz="2400" dirty="0">
                <a:solidFill>
                  <a:schemeClr val="bg1">
                    <a:lumMod val="50000"/>
                  </a:schemeClr>
                </a:solidFill>
              </a:rPr>
              <a:t>(Author, </a:t>
            </a:r>
            <a:r>
              <a:rPr lang="tr-TR" sz="2400" b="1" dirty="0">
                <a:solidFill>
                  <a:schemeClr val="bg1">
                    <a:lumMod val="50000"/>
                  </a:schemeClr>
                </a:solidFill>
              </a:rPr>
              <a:t>2020</a:t>
            </a:r>
            <a:r>
              <a:rPr lang="tr-TR" sz="2400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tr-TR" sz="2400" dirty="0"/>
          </a:p>
          <a:p>
            <a:pPr marL="0" indent="0">
              <a:buNone/>
            </a:pPr>
            <a:r>
              <a:rPr lang="tr-TR" sz="2400" b="1" dirty="0"/>
              <a:t>5.2 No </a:t>
            </a:r>
            <a:r>
              <a:rPr lang="tr-TR" sz="2400" b="1" dirty="0" err="1"/>
              <a:t>date</a:t>
            </a:r>
            <a:r>
              <a:rPr lang="tr-TR" sz="2400" b="1" dirty="0"/>
              <a:t> </a:t>
            </a:r>
            <a:r>
              <a:rPr lang="tr-TR" sz="2400" b="1" dirty="0" err="1"/>
              <a:t>available</a:t>
            </a:r>
            <a:endParaRPr lang="tr-TR" sz="2400" b="1" dirty="0"/>
          </a:p>
          <a:p>
            <a:r>
              <a:rPr lang="tr-TR" sz="2400" dirty="0" err="1"/>
              <a:t>If</a:t>
            </a:r>
            <a:r>
              <a:rPr lang="tr-TR" sz="2400" dirty="0"/>
              <a:t> </a:t>
            </a:r>
            <a:r>
              <a:rPr lang="tr-TR" sz="2400" dirty="0" err="1"/>
              <a:t>no</a:t>
            </a:r>
            <a:r>
              <a:rPr lang="tr-TR" sz="2400" dirty="0"/>
              <a:t> </a:t>
            </a:r>
            <a:r>
              <a:rPr lang="tr-TR" sz="2400" dirty="0" err="1"/>
              <a:t>date</a:t>
            </a:r>
            <a:r>
              <a:rPr lang="tr-TR" sz="2400" dirty="0"/>
              <a:t> is </a:t>
            </a:r>
            <a:r>
              <a:rPr lang="tr-TR" sz="2400" dirty="0" err="1"/>
              <a:t>listed</a:t>
            </a:r>
            <a:r>
              <a:rPr lang="tr-TR" sz="2400" dirty="0"/>
              <a:t>, </a:t>
            </a:r>
            <a:r>
              <a:rPr lang="tr-TR" sz="2400" dirty="0" err="1"/>
              <a:t>use</a:t>
            </a:r>
            <a:r>
              <a:rPr lang="tr-TR" sz="2400" dirty="0"/>
              <a:t> </a:t>
            </a:r>
            <a:r>
              <a:rPr lang="tr-TR" sz="2400" b="1" dirty="0" err="1">
                <a:solidFill>
                  <a:srgbClr val="C00000"/>
                </a:solidFill>
              </a:rPr>
              <a:t>n.d</a:t>
            </a:r>
            <a:r>
              <a:rPr lang="tr-TR" sz="2400" b="1" dirty="0">
                <a:solidFill>
                  <a:srgbClr val="C00000"/>
                </a:solidFill>
              </a:rPr>
              <a:t>.</a:t>
            </a:r>
            <a:r>
              <a:rPr lang="tr-TR" sz="2400" dirty="0">
                <a:solidFill>
                  <a:srgbClr val="C00000"/>
                </a:solidFill>
              </a:rPr>
              <a:t> </a:t>
            </a:r>
            <a:r>
              <a:rPr lang="tr-TR" sz="2400" dirty="0"/>
              <a:t>(</a:t>
            </a:r>
            <a:r>
              <a:rPr lang="tr-TR" sz="2400" dirty="0" err="1"/>
              <a:t>no</a:t>
            </a:r>
            <a:r>
              <a:rPr lang="tr-TR" sz="2400" dirty="0"/>
              <a:t> </a:t>
            </a:r>
            <a:r>
              <a:rPr lang="tr-TR" sz="2400" dirty="0" err="1"/>
              <a:t>date</a:t>
            </a:r>
            <a:r>
              <a:rPr lang="tr-TR" sz="2400" dirty="0"/>
              <a:t>) in </a:t>
            </a:r>
            <a:r>
              <a:rPr lang="tr-TR" sz="2400" dirty="0" err="1"/>
              <a:t>both</a:t>
            </a:r>
            <a:r>
              <a:rPr lang="tr-TR" sz="2400" dirty="0"/>
              <a:t> in-</a:t>
            </a:r>
            <a:r>
              <a:rPr lang="tr-TR" sz="2400" dirty="0" err="1"/>
              <a:t>text</a:t>
            </a:r>
            <a:r>
              <a:rPr lang="tr-TR" sz="2400" dirty="0"/>
              <a:t> </a:t>
            </a:r>
            <a:r>
              <a:rPr lang="tr-TR" sz="2400" dirty="0" err="1"/>
              <a:t>citations</a:t>
            </a:r>
            <a:r>
              <a:rPr lang="tr-TR" sz="2400" dirty="0"/>
              <a:t> </a:t>
            </a:r>
            <a:r>
              <a:rPr lang="tr-TR" sz="2400" dirty="0" err="1"/>
              <a:t>and</a:t>
            </a:r>
            <a:r>
              <a:rPr lang="tr-TR" sz="2400" dirty="0"/>
              <a:t> the </a:t>
            </a:r>
            <a:r>
              <a:rPr lang="tr-TR" sz="2400" dirty="0" err="1"/>
              <a:t>reference</a:t>
            </a:r>
            <a:r>
              <a:rPr lang="tr-TR" sz="2400" dirty="0"/>
              <a:t> </a:t>
            </a:r>
            <a:r>
              <a:rPr lang="tr-TR" sz="2400" dirty="0" err="1"/>
              <a:t>list</a:t>
            </a:r>
            <a:r>
              <a:rPr lang="tr-TR" sz="2400" dirty="0"/>
              <a:t>: </a:t>
            </a:r>
            <a:r>
              <a:rPr lang="tr-TR" sz="24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tr-TR" sz="2400" dirty="0" err="1">
                <a:solidFill>
                  <a:schemeClr val="bg1">
                    <a:lumMod val="50000"/>
                  </a:schemeClr>
                </a:solidFill>
              </a:rPr>
              <a:t>Merriam-Webster</a:t>
            </a:r>
            <a:r>
              <a:rPr lang="tr-TR" sz="24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tr-TR" sz="2400" b="1" dirty="0" err="1">
                <a:solidFill>
                  <a:schemeClr val="bg1">
                    <a:lumMod val="50000"/>
                  </a:schemeClr>
                </a:solidFill>
              </a:rPr>
              <a:t>n.d</a:t>
            </a:r>
            <a:r>
              <a:rPr lang="tr-TR" sz="2400" b="1" dirty="0">
                <a:solidFill>
                  <a:schemeClr val="bg1">
                    <a:lumMod val="50000"/>
                  </a:schemeClr>
                </a:solidFill>
              </a:rPr>
              <a:t>.</a:t>
            </a:r>
            <a:r>
              <a:rPr lang="tr-TR" sz="24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  <a:p>
            <a:pPr marL="0" indent="0">
              <a:buNone/>
            </a:pPr>
            <a:r>
              <a:rPr lang="tr-TR" sz="2400" b="1" dirty="0"/>
              <a:t>5.3 </a:t>
            </a:r>
            <a:r>
              <a:rPr lang="tr-TR" sz="2400" b="1" dirty="0" err="1"/>
              <a:t>Repeating</a:t>
            </a:r>
            <a:r>
              <a:rPr lang="tr-TR" sz="2400" b="1" dirty="0"/>
              <a:t> </a:t>
            </a:r>
            <a:r>
              <a:rPr lang="tr-TR" sz="2400" b="1" dirty="0" err="1"/>
              <a:t>citations</a:t>
            </a:r>
            <a:r>
              <a:rPr lang="tr-TR" sz="2400" b="1" dirty="0"/>
              <a:t> in the </a:t>
            </a:r>
            <a:r>
              <a:rPr lang="tr-TR" sz="2400" b="1" dirty="0" err="1"/>
              <a:t>same</a:t>
            </a:r>
            <a:r>
              <a:rPr lang="tr-TR" sz="2400" b="1" dirty="0"/>
              <a:t> </a:t>
            </a:r>
            <a:r>
              <a:rPr lang="tr-TR" sz="2400" b="1" dirty="0" err="1"/>
              <a:t>paragraph</a:t>
            </a:r>
            <a:r>
              <a:rPr lang="tr-TR" sz="2400" b="1" dirty="0"/>
              <a:t> (</a:t>
            </a:r>
            <a:r>
              <a:rPr lang="tr-TR" sz="2400" b="1" dirty="0" err="1"/>
              <a:t>narrative</a:t>
            </a:r>
            <a:r>
              <a:rPr lang="tr-TR" sz="2400" b="1" dirty="0"/>
              <a:t>)</a:t>
            </a:r>
          </a:p>
          <a:p>
            <a:r>
              <a:rPr lang="tr-TR" sz="2400" dirty="0"/>
              <a:t>APA </a:t>
            </a:r>
            <a:r>
              <a:rPr lang="tr-TR" sz="2400" dirty="0" err="1"/>
              <a:t>allows</a:t>
            </a:r>
            <a:r>
              <a:rPr lang="tr-TR" sz="2400" dirty="0"/>
              <a:t> </a:t>
            </a:r>
            <a:r>
              <a:rPr lang="tr-TR" sz="2400" dirty="0" err="1"/>
              <a:t>you</a:t>
            </a:r>
            <a:r>
              <a:rPr lang="tr-TR" sz="2400" dirty="0"/>
              <a:t> </a:t>
            </a:r>
            <a:r>
              <a:rPr lang="tr-TR" sz="2400" dirty="0" err="1"/>
              <a:t>to</a:t>
            </a:r>
            <a:r>
              <a:rPr lang="tr-TR" sz="2400" dirty="0"/>
              <a:t> </a:t>
            </a:r>
            <a:r>
              <a:rPr lang="tr-TR" sz="2400" b="1" dirty="0" err="1"/>
              <a:t>omit</a:t>
            </a:r>
            <a:r>
              <a:rPr lang="tr-TR" sz="2400" b="1" dirty="0"/>
              <a:t> the </a:t>
            </a:r>
            <a:r>
              <a:rPr lang="tr-TR" sz="2400" b="1" dirty="0" err="1"/>
              <a:t>year</a:t>
            </a:r>
            <a:r>
              <a:rPr lang="tr-TR" sz="2400" b="1" dirty="0"/>
              <a:t> in </a:t>
            </a:r>
            <a:r>
              <a:rPr lang="tr-TR" sz="2400" b="1" dirty="0" err="1"/>
              <a:t>subsequent</a:t>
            </a:r>
            <a:r>
              <a:rPr lang="tr-TR" sz="2400" b="1" dirty="0"/>
              <a:t> </a:t>
            </a:r>
            <a:r>
              <a:rPr lang="tr-TR" sz="2400" b="1" dirty="0" err="1"/>
              <a:t>narrative</a:t>
            </a:r>
            <a:r>
              <a:rPr lang="tr-TR" sz="2400" b="1" dirty="0"/>
              <a:t> </a:t>
            </a:r>
            <a:r>
              <a:rPr lang="tr-TR" sz="2400" b="1" dirty="0" err="1"/>
              <a:t>citations</a:t>
            </a:r>
            <a:r>
              <a:rPr lang="tr-TR" sz="2400" b="1" dirty="0"/>
              <a:t> </a:t>
            </a:r>
            <a:r>
              <a:rPr lang="tr-TR" sz="2400" b="1" dirty="0" err="1"/>
              <a:t>within</a:t>
            </a:r>
            <a:r>
              <a:rPr lang="tr-TR" sz="2400" b="1" dirty="0"/>
              <a:t> the </a:t>
            </a:r>
            <a:r>
              <a:rPr lang="tr-TR" sz="2400" b="1" dirty="0" err="1"/>
              <a:t>same</a:t>
            </a:r>
            <a:r>
              <a:rPr lang="tr-TR" sz="2400" b="1" dirty="0"/>
              <a:t> </a:t>
            </a:r>
            <a:r>
              <a:rPr lang="tr-TR" sz="2400" b="1" dirty="0" err="1"/>
              <a:t>paragraph</a:t>
            </a:r>
            <a:r>
              <a:rPr lang="tr-TR" sz="2400" dirty="0"/>
              <a:t> </a:t>
            </a:r>
            <a:r>
              <a:rPr lang="tr-TR" sz="2400" dirty="0" err="1"/>
              <a:t>when</a:t>
            </a:r>
            <a:r>
              <a:rPr lang="tr-TR" sz="2400" dirty="0"/>
              <a:t> </a:t>
            </a:r>
            <a:r>
              <a:rPr lang="tr-TR" sz="2400" dirty="0" err="1"/>
              <a:t>it’s</a:t>
            </a:r>
            <a:r>
              <a:rPr lang="tr-TR" sz="2400" dirty="0"/>
              <a:t> </a:t>
            </a:r>
            <a:r>
              <a:rPr lang="tr-TR" sz="2400" dirty="0" err="1"/>
              <a:t>clear</a:t>
            </a:r>
            <a:r>
              <a:rPr lang="tr-TR" sz="2400" dirty="0"/>
              <a:t> </a:t>
            </a:r>
            <a:r>
              <a:rPr lang="tr-TR" sz="2400" dirty="0" err="1"/>
              <a:t>you</a:t>
            </a:r>
            <a:r>
              <a:rPr lang="tr-TR" sz="2400" dirty="0"/>
              <a:t> </a:t>
            </a:r>
            <a:r>
              <a:rPr lang="tr-TR" sz="2400" dirty="0" err="1"/>
              <a:t>are</a:t>
            </a:r>
            <a:r>
              <a:rPr lang="tr-TR" sz="2400" dirty="0"/>
              <a:t> </a:t>
            </a:r>
            <a:r>
              <a:rPr lang="tr-TR" sz="2400" dirty="0" err="1"/>
              <a:t>still</a:t>
            </a:r>
            <a:r>
              <a:rPr lang="tr-TR" sz="2400" dirty="0"/>
              <a:t> </a:t>
            </a:r>
            <a:r>
              <a:rPr lang="tr-TR" sz="2400" dirty="0" err="1"/>
              <a:t>discussing</a:t>
            </a:r>
            <a:r>
              <a:rPr lang="tr-TR" sz="2400" dirty="0"/>
              <a:t> the </a:t>
            </a:r>
            <a:r>
              <a:rPr lang="tr-TR" sz="2400" dirty="0" err="1"/>
              <a:t>same</a:t>
            </a:r>
            <a:r>
              <a:rPr lang="tr-TR" sz="2400" dirty="0"/>
              <a:t> </a:t>
            </a:r>
            <a:r>
              <a:rPr lang="tr-TR" sz="2400" dirty="0" err="1"/>
              <a:t>work</a:t>
            </a:r>
            <a:r>
              <a:rPr lang="tr-TR" sz="2400" dirty="0"/>
              <a:t>.</a:t>
            </a:r>
          </a:p>
          <a:p>
            <a:pPr marL="0" indent="0">
              <a:buNone/>
            </a:pPr>
            <a:r>
              <a:rPr lang="tr-TR" sz="2400" dirty="0" err="1"/>
              <a:t>Example</a:t>
            </a:r>
            <a:r>
              <a:rPr lang="tr-TR" sz="2400" dirty="0"/>
              <a:t>: </a:t>
            </a:r>
            <a:r>
              <a:rPr lang="tr-TR" sz="2400" dirty="0" err="1">
                <a:solidFill>
                  <a:schemeClr val="bg1">
                    <a:lumMod val="50000"/>
                  </a:schemeClr>
                </a:solidFill>
              </a:rPr>
              <a:t>Deci</a:t>
            </a:r>
            <a:r>
              <a:rPr lang="tr-TR" sz="24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sz="2400" dirty="0" err="1">
                <a:solidFill>
                  <a:schemeClr val="bg1">
                    <a:lumMod val="50000"/>
                  </a:schemeClr>
                </a:solidFill>
              </a:rPr>
              <a:t>and</a:t>
            </a:r>
            <a:r>
              <a:rPr lang="tr-TR" sz="24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sz="2400" dirty="0" err="1">
                <a:solidFill>
                  <a:schemeClr val="bg1">
                    <a:lumMod val="50000"/>
                  </a:schemeClr>
                </a:solidFill>
              </a:rPr>
              <a:t>Ryan</a:t>
            </a:r>
            <a:r>
              <a:rPr lang="tr-TR" sz="24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sz="2400" b="1" dirty="0">
                <a:solidFill>
                  <a:schemeClr val="bg1">
                    <a:lumMod val="50000"/>
                  </a:schemeClr>
                </a:solidFill>
              </a:rPr>
              <a:t>(2000) </a:t>
            </a:r>
            <a:r>
              <a:rPr lang="tr-TR" sz="2400" dirty="0" err="1">
                <a:solidFill>
                  <a:schemeClr val="bg1">
                    <a:lumMod val="50000"/>
                  </a:schemeClr>
                </a:solidFill>
              </a:rPr>
              <a:t>describe</a:t>
            </a:r>
            <a:r>
              <a:rPr lang="tr-TR" sz="2400" dirty="0">
                <a:solidFill>
                  <a:schemeClr val="bg1">
                    <a:lumMod val="50000"/>
                  </a:schemeClr>
                </a:solidFill>
              </a:rPr>
              <a:t> … </a:t>
            </a:r>
            <a:r>
              <a:rPr lang="tr-TR" sz="2400" dirty="0" err="1">
                <a:solidFill>
                  <a:schemeClr val="bg1">
                    <a:lumMod val="50000"/>
                  </a:schemeClr>
                </a:solidFill>
              </a:rPr>
              <a:t>Deci</a:t>
            </a:r>
            <a:r>
              <a:rPr lang="tr-TR" sz="24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sz="2400" dirty="0" err="1">
                <a:solidFill>
                  <a:schemeClr val="bg1">
                    <a:lumMod val="50000"/>
                  </a:schemeClr>
                </a:solidFill>
              </a:rPr>
              <a:t>and</a:t>
            </a:r>
            <a:r>
              <a:rPr lang="tr-TR" sz="24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sz="2400" dirty="0" err="1">
                <a:solidFill>
                  <a:schemeClr val="bg1">
                    <a:lumMod val="50000"/>
                  </a:schemeClr>
                </a:solidFill>
              </a:rPr>
              <a:t>Ryan</a:t>
            </a:r>
            <a:r>
              <a:rPr lang="tr-TR" sz="24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sz="2400" dirty="0" err="1">
                <a:solidFill>
                  <a:schemeClr val="bg1">
                    <a:lumMod val="50000"/>
                  </a:schemeClr>
                </a:solidFill>
              </a:rPr>
              <a:t>also</a:t>
            </a:r>
            <a:r>
              <a:rPr lang="tr-TR" sz="24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sz="2400" dirty="0" err="1">
                <a:solidFill>
                  <a:schemeClr val="bg1">
                    <a:lumMod val="50000"/>
                  </a:schemeClr>
                </a:solidFill>
              </a:rPr>
              <a:t>emphasize</a:t>
            </a:r>
            <a:r>
              <a:rPr lang="tr-TR" sz="2400" dirty="0">
                <a:solidFill>
                  <a:schemeClr val="bg1">
                    <a:lumMod val="50000"/>
                  </a:schemeClr>
                </a:solidFill>
              </a:rPr>
              <a:t> …</a:t>
            </a:r>
          </a:p>
          <a:p>
            <a:r>
              <a:rPr lang="tr-TR" sz="2400" dirty="0"/>
              <a:t>(</a:t>
            </a:r>
            <a:r>
              <a:rPr lang="tr-TR" sz="2400" dirty="0" err="1"/>
              <a:t>If</a:t>
            </a:r>
            <a:r>
              <a:rPr lang="tr-TR" sz="2400" dirty="0"/>
              <a:t> </a:t>
            </a:r>
            <a:r>
              <a:rPr lang="tr-TR" sz="2400" dirty="0" err="1"/>
              <a:t>you</a:t>
            </a:r>
            <a:r>
              <a:rPr lang="tr-TR" sz="2400" dirty="0"/>
              <a:t> </a:t>
            </a:r>
            <a:r>
              <a:rPr lang="tr-TR" sz="2400" dirty="0" err="1"/>
              <a:t>switch</a:t>
            </a:r>
            <a:r>
              <a:rPr lang="tr-TR" sz="2400" dirty="0"/>
              <a:t> </a:t>
            </a:r>
            <a:r>
              <a:rPr lang="tr-TR" sz="2400" dirty="0" err="1"/>
              <a:t>to</a:t>
            </a:r>
            <a:r>
              <a:rPr lang="tr-TR" sz="2400" dirty="0"/>
              <a:t> </a:t>
            </a:r>
            <a:r>
              <a:rPr lang="tr-TR" sz="2400" dirty="0" err="1"/>
              <a:t>another</a:t>
            </a:r>
            <a:r>
              <a:rPr lang="tr-TR" sz="2400" dirty="0"/>
              <a:t> </a:t>
            </a:r>
            <a:r>
              <a:rPr lang="tr-TR" sz="2400" dirty="0" err="1"/>
              <a:t>source</a:t>
            </a:r>
            <a:r>
              <a:rPr lang="tr-TR" sz="2400" dirty="0"/>
              <a:t>, </a:t>
            </a:r>
            <a:r>
              <a:rPr lang="tr-TR" sz="2400" dirty="0" err="1"/>
              <a:t>or</a:t>
            </a:r>
            <a:r>
              <a:rPr lang="tr-TR" sz="2400" dirty="0"/>
              <a:t> start a </a:t>
            </a:r>
            <a:r>
              <a:rPr lang="tr-TR" sz="2400" dirty="0" err="1"/>
              <a:t>new</a:t>
            </a:r>
            <a:r>
              <a:rPr lang="tr-TR" sz="2400" dirty="0"/>
              <a:t> </a:t>
            </a:r>
            <a:r>
              <a:rPr lang="tr-TR" sz="2400" dirty="0" err="1"/>
              <a:t>paragraph</a:t>
            </a:r>
            <a:r>
              <a:rPr lang="tr-TR" sz="2400" dirty="0"/>
              <a:t>, </a:t>
            </a:r>
            <a:r>
              <a:rPr lang="tr-TR" sz="2400" dirty="0" err="1"/>
              <a:t>include</a:t>
            </a:r>
            <a:r>
              <a:rPr lang="tr-TR" sz="2400" dirty="0"/>
              <a:t> the </a:t>
            </a:r>
            <a:r>
              <a:rPr lang="tr-TR" sz="2400" dirty="0" err="1"/>
              <a:t>year</a:t>
            </a:r>
            <a:r>
              <a:rPr lang="tr-TR" sz="2400" dirty="0"/>
              <a:t> </a:t>
            </a:r>
            <a:r>
              <a:rPr lang="tr-TR" sz="2400" dirty="0" err="1"/>
              <a:t>again</a:t>
            </a:r>
            <a:r>
              <a:rPr lang="tr-TR" sz="2400" dirty="0"/>
              <a:t>.)</a:t>
            </a:r>
          </a:p>
        </p:txBody>
      </p:sp>
    </p:spTree>
    <p:extLst>
      <p:ext uri="{BB962C8B-B14F-4D97-AF65-F5344CB8AC3E}">
        <p14:creationId xmlns:p14="http://schemas.microsoft.com/office/powerpoint/2010/main" val="10532600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35CCF74-F59A-211D-7EAF-9D2FD3C4CF58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pPr algn="ctr"/>
            <a:r>
              <a:rPr lang="tr-TR" b="1" dirty="0">
                <a:latin typeface="+mn-lt"/>
              </a:rPr>
              <a:t>Special </a:t>
            </a:r>
            <a:r>
              <a:rPr lang="tr-TR" b="1" dirty="0" err="1">
                <a:latin typeface="+mn-lt"/>
              </a:rPr>
              <a:t>Uses</a:t>
            </a:r>
            <a:r>
              <a:rPr lang="tr-TR" b="1" dirty="0">
                <a:latin typeface="+mn-lt"/>
              </a:rPr>
              <a:t> </a:t>
            </a:r>
            <a:r>
              <a:rPr lang="tr-TR" b="1" dirty="0" err="1">
                <a:latin typeface="+mn-lt"/>
              </a:rPr>
              <a:t>for</a:t>
            </a:r>
            <a:r>
              <a:rPr lang="tr-TR" b="1" dirty="0">
                <a:latin typeface="+mn-lt"/>
              </a:rPr>
              <a:t> Direct </a:t>
            </a:r>
            <a:r>
              <a:rPr lang="tr-TR" b="1" dirty="0" err="1">
                <a:latin typeface="+mn-lt"/>
              </a:rPr>
              <a:t>Quotations</a:t>
            </a:r>
            <a:endParaRPr lang="tr-TR" dirty="0">
              <a:latin typeface="+mn-lt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819351E-5349-A311-2FD1-83F42A0F6A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0108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tr-TR" b="1" dirty="0" err="1"/>
              <a:t>Short</a:t>
            </a:r>
            <a:r>
              <a:rPr lang="tr-TR" b="1" dirty="0"/>
              <a:t> </a:t>
            </a:r>
            <a:r>
              <a:rPr lang="tr-TR" b="1" dirty="0" err="1"/>
              <a:t>quotations</a:t>
            </a:r>
            <a:r>
              <a:rPr lang="tr-TR" b="1" dirty="0"/>
              <a:t> (</a:t>
            </a:r>
            <a:r>
              <a:rPr lang="tr-TR" b="1" dirty="0" err="1"/>
              <a:t>fewer</a:t>
            </a:r>
            <a:r>
              <a:rPr lang="tr-TR" b="1" dirty="0"/>
              <a:t> </a:t>
            </a:r>
            <a:r>
              <a:rPr lang="tr-TR" b="1" dirty="0" err="1"/>
              <a:t>than</a:t>
            </a:r>
            <a:r>
              <a:rPr lang="tr-TR" b="1" dirty="0"/>
              <a:t> 40 </a:t>
            </a:r>
            <a:r>
              <a:rPr lang="tr-TR" b="1" dirty="0" err="1"/>
              <a:t>words</a:t>
            </a:r>
            <a:r>
              <a:rPr lang="tr-TR" b="1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dirty="0" err="1"/>
              <a:t>Use</a:t>
            </a:r>
            <a:r>
              <a:rPr lang="tr-TR" dirty="0"/>
              <a:t> </a:t>
            </a:r>
            <a:r>
              <a:rPr lang="tr-TR" b="1" dirty="0" err="1"/>
              <a:t>double</a:t>
            </a:r>
            <a:r>
              <a:rPr lang="tr-TR" b="1" dirty="0"/>
              <a:t> </a:t>
            </a:r>
            <a:r>
              <a:rPr lang="tr-TR" b="1" dirty="0" err="1"/>
              <a:t>quotation</a:t>
            </a:r>
            <a:r>
              <a:rPr lang="tr-TR" b="1" dirty="0"/>
              <a:t> </a:t>
            </a:r>
            <a:r>
              <a:rPr lang="tr-TR" b="1" dirty="0" err="1"/>
              <a:t>marks</a:t>
            </a:r>
            <a:r>
              <a:rPr lang="tr-T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dirty="0" err="1"/>
              <a:t>Include</a:t>
            </a:r>
            <a:r>
              <a:rPr lang="tr-TR" dirty="0"/>
              <a:t> </a:t>
            </a:r>
            <a:r>
              <a:rPr lang="tr-TR" b="1" dirty="0" err="1"/>
              <a:t>author</a:t>
            </a:r>
            <a:r>
              <a:rPr lang="tr-TR" b="1" dirty="0"/>
              <a:t>, </a:t>
            </a:r>
            <a:r>
              <a:rPr lang="tr-TR" b="1" dirty="0" err="1"/>
              <a:t>year</a:t>
            </a:r>
            <a:r>
              <a:rPr lang="tr-TR" b="1" dirty="0"/>
              <a:t>, </a:t>
            </a:r>
            <a:r>
              <a:rPr lang="tr-TR" b="1" dirty="0" err="1"/>
              <a:t>and</a:t>
            </a:r>
            <a:r>
              <a:rPr lang="tr-TR" b="1" dirty="0"/>
              <a:t> </a:t>
            </a:r>
            <a:r>
              <a:rPr lang="tr-TR" b="1" dirty="0" err="1"/>
              <a:t>locator</a:t>
            </a:r>
            <a:r>
              <a:rPr lang="tr-TR" dirty="0"/>
              <a:t> (</a:t>
            </a:r>
            <a:r>
              <a:rPr lang="tr-TR" dirty="0" err="1"/>
              <a:t>page</a:t>
            </a:r>
            <a:r>
              <a:rPr lang="tr-TR" dirty="0"/>
              <a:t>/</a:t>
            </a:r>
            <a:r>
              <a:rPr lang="tr-TR" dirty="0" err="1"/>
              <a:t>paragraph</a:t>
            </a:r>
            <a:r>
              <a:rPr lang="tr-TR" dirty="0"/>
              <a:t> </a:t>
            </a:r>
            <a:r>
              <a:rPr lang="tr-TR" dirty="0" err="1"/>
              <a:t>number</a:t>
            </a:r>
            <a:r>
              <a:rPr lang="tr-TR" dirty="0"/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dirty="0"/>
              <a:t>Put the </a:t>
            </a:r>
            <a:r>
              <a:rPr lang="tr-TR" dirty="0" err="1"/>
              <a:t>period</a:t>
            </a:r>
            <a:r>
              <a:rPr lang="tr-TR" dirty="0"/>
              <a:t> </a:t>
            </a:r>
            <a:r>
              <a:rPr lang="tr-TR" b="1" dirty="0" err="1"/>
              <a:t>after</a:t>
            </a:r>
            <a:r>
              <a:rPr lang="tr-TR" dirty="0"/>
              <a:t> the </a:t>
            </a:r>
            <a:r>
              <a:rPr lang="tr-TR" dirty="0" err="1"/>
              <a:t>citation</a:t>
            </a:r>
            <a:r>
              <a:rPr lang="tr-TR" dirty="0"/>
              <a:t> (</a:t>
            </a:r>
            <a:r>
              <a:rPr lang="tr-TR" dirty="0" err="1"/>
              <a:t>because</a:t>
            </a:r>
            <a:r>
              <a:rPr lang="tr-TR" dirty="0"/>
              <a:t> the </a:t>
            </a:r>
            <a:r>
              <a:rPr lang="tr-TR" dirty="0" err="1"/>
              <a:t>citation</a:t>
            </a:r>
            <a:r>
              <a:rPr lang="tr-TR" dirty="0"/>
              <a:t> </a:t>
            </a:r>
            <a:r>
              <a:rPr lang="tr-TR" dirty="0" err="1"/>
              <a:t>belongs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the </a:t>
            </a:r>
            <a:r>
              <a:rPr lang="tr-TR" dirty="0" err="1"/>
              <a:t>sentence</a:t>
            </a:r>
            <a:r>
              <a:rPr lang="tr-TR" dirty="0"/>
              <a:t>).</a:t>
            </a:r>
          </a:p>
          <a:p>
            <a:pPr marL="0" indent="0">
              <a:buNone/>
            </a:pPr>
            <a:r>
              <a:rPr lang="tr-TR" dirty="0" err="1"/>
              <a:t>Example</a:t>
            </a:r>
            <a:r>
              <a:rPr lang="tr-TR" dirty="0"/>
              <a:t>: </a:t>
            </a:r>
            <a:r>
              <a:rPr lang="tr-TR" dirty="0">
                <a:solidFill>
                  <a:schemeClr val="bg1">
                    <a:lumMod val="50000"/>
                  </a:schemeClr>
                </a:solidFill>
              </a:rPr>
              <a:t>“…..................” (</a:t>
            </a:r>
            <a:r>
              <a:rPr lang="tr-TR" dirty="0" err="1">
                <a:solidFill>
                  <a:schemeClr val="bg1">
                    <a:lumMod val="50000"/>
                  </a:schemeClr>
                </a:solidFill>
              </a:rPr>
              <a:t>Deci</a:t>
            </a:r>
            <a:r>
              <a:rPr lang="tr-TR" dirty="0">
                <a:solidFill>
                  <a:schemeClr val="bg1">
                    <a:lumMod val="50000"/>
                  </a:schemeClr>
                </a:solidFill>
              </a:rPr>
              <a:t> &amp; </a:t>
            </a:r>
            <a:r>
              <a:rPr lang="tr-TR" dirty="0" err="1">
                <a:solidFill>
                  <a:schemeClr val="bg1">
                    <a:lumMod val="50000"/>
                  </a:schemeClr>
                </a:solidFill>
              </a:rPr>
              <a:t>Ryan</a:t>
            </a:r>
            <a:r>
              <a:rPr lang="tr-TR" dirty="0">
                <a:solidFill>
                  <a:schemeClr val="bg1">
                    <a:lumMod val="50000"/>
                  </a:schemeClr>
                </a:solidFill>
              </a:rPr>
              <a:t>, 2000, p. 230).</a:t>
            </a:r>
          </a:p>
          <a:p>
            <a:pPr marL="0" indent="0">
              <a:buNone/>
            </a:pPr>
            <a:endParaRPr lang="tr-TR" b="1" dirty="0"/>
          </a:p>
          <a:p>
            <a:pPr marL="0" indent="0">
              <a:buNone/>
            </a:pPr>
            <a:r>
              <a:rPr lang="tr-TR" b="1" dirty="0" err="1"/>
              <a:t>Block</a:t>
            </a:r>
            <a:r>
              <a:rPr lang="tr-TR" b="1" dirty="0"/>
              <a:t> </a:t>
            </a:r>
            <a:r>
              <a:rPr lang="tr-TR" b="1" dirty="0" err="1"/>
              <a:t>quotations</a:t>
            </a:r>
            <a:r>
              <a:rPr lang="tr-TR" b="1" dirty="0"/>
              <a:t> (40 </a:t>
            </a:r>
            <a:r>
              <a:rPr lang="tr-TR" b="1" dirty="0" err="1"/>
              <a:t>words</a:t>
            </a:r>
            <a:r>
              <a:rPr lang="tr-TR" b="1" dirty="0"/>
              <a:t> </a:t>
            </a:r>
            <a:r>
              <a:rPr lang="tr-TR" b="1" dirty="0" err="1"/>
              <a:t>or</a:t>
            </a:r>
            <a:r>
              <a:rPr lang="tr-TR" b="1" dirty="0"/>
              <a:t> </a:t>
            </a:r>
            <a:r>
              <a:rPr lang="tr-TR" b="1" dirty="0" err="1"/>
              <a:t>more</a:t>
            </a:r>
            <a:r>
              <a:rPr lang="tr-TR" b="1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b="1" dirty="0"/>
              <a:t>Do not</a:t>
            </a:r>
            <a:r>
              <a:rPr lang="tr-TR" dirty="0"/>
              <a:t> </a:t>
            </a:r>
            <a:r>
              <a:rPr lang="tr-TR" dirty="0" err="1"/>
              <a:t>use</a:t>
            </a:r>
            <a:r>
              <a:rPr lang="tr-TR" dirty="0"/>
              <a:t> </a:t>
            </a:r>
            <a:r>
              <a:rPr lang="tr-TR" dirty="0" err="1"/>
              <a:t>quotation</a:t>
            </a:r>
            <a:r>
              <a:rPr lang="tr-TR" dirty="0"/>
              <a:t> </a:t>
            </a:r>
            <a:r>
              <a:rPr lang="tr-TR" dirty="0" err="1"/>
              <a:t>marks</a:t>
            </a:r>
            <a:r>
              <a:rPr lang="tr-T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dirty="0"/>
              <a:t>Start on a </a:t>
            </a:r>
            <a:r>
              <a:rPr lang="tr-TR" dirty="0" err="1"/>
              <a:t>new</a:t>
            </a:r>
            <a:r>
              <a:rPr lang="tr-TR" dirty="0"/>
              <a:t> </a:t>
            </a:r>
            <a:r>
              <a:rPr lang="tr-TR" dirty="0" err="1"/>
              <a:t>line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indent</a:t>
            </a:r>
            <a:r>
              <a:rPr lang="tr-TR" dirty="0"/>
              <a:t> the </a:t>
            </a:r>
            <a:r>
              <a:rPr lang="tr-TR" dirty="0" err="1"/>
              <a:t>whole</a:t>
            </a:r>
            <a:r>
              <a:rPr lang="tr-TR" dirty="0"/>
              <a:t> </a:t>
            </a:r>
            <a:r>
              <a:rPr lang="tr-TR" dirty="0" err="1"/>
              <a:t>block</a:t>
            </a:r>
            <a:r>
              <a:rPr lang="tr-TR" dirty="0"/>
              <a:t> (</a:t>
            </a:r>
            <a:r>
              <a:rPr lang="tr-TR" dirty="0" err="1"/>
              <a:t>standard</a:t>
            </a:r>
            <a:r>
              <a:rPr lang="tr-TR" dirty="0"/>
              <a:t> APA: 0.5 </a:t>
            </a:r>
            <a:r>
              <a:rPr lang="tr-TR" dirty="0" err="1"/>
              <a:t>inch</a:t>
            </a:r>
            <a:r>
              <a:rPr lang="tr-TR" dirty="0"/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dirty="0" err="1"/>
              <a:t>Keep</a:t>
            </a:r>
            <a:r>
              <a:rPr lang="tr-TR" dirty="0"/>
              <a:t> </a:t>
            </a:r>
            <a:r>
              <a:rPr lang="tr-TR" dirty="0" err="1"/>
              <a:t>double</a:t>
            </a:r>
            <a:r>
              <a:rPr lang="tr-TR" dirty="0"/>
              <a:t> </a:t>
            </a:r>
            <a:r>
              <a:rPr lang="tr-TR" dirty="0" err="1"/>
              <a:t>spacing</a:t>
            </a:r>
            <a:r>
              <a:rPr lang="tr-T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dirty="0"/>
              <a:t>The </a:t>
            </a:r>
            <a:r>
              <a:rPr lang="tr-TR" dirty="0" err="1"/>
              <a:t>citation</a:t>
            </a:r>
            <a:r>
              <a:rPr lang="tr-TR" dirty="0"/>
              <a:t> </a:t>
            </a:r>
            <a:r>
              <a:rPr lang="tr-TR" dirty="0" err="1"/>
              <a:t>comes</a:t>
            </a:r>
            <a:r>
              <a:rPr lang="tr-TR" dirty="0"/>
              <a:t> </a:t>
            </a:r>
            <a:r>
              <a:rPr lang="tr-TR" b="1" dirty="0" err="1"/>
              <a:t>after</a:t>
            </a:r>
            <a:r>
              <a:rPr lang="tr-TR" dirty="0"/>
              <a:t> the final </a:t>
            </a:r>
            <a:r>
              <a:rPr lang="tr-TR" dirty="0" err="1"/>
              <a:t>punctuation</a:t>
            </a:r>
            <a:r>
              <a:rPr lang="tr-T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809227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D4C34BA-EBB3-73A1-6417-1CCC5D9684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02427"/>
            <a:ext cx="10515600" cy="5959737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tr-TR" b="1" dirty="0" err="1"/>
              <a:t>Omitting</a:t>
            </a:r>
            <a:r>
              <a:rPr lang="tr-TR" b="1" dirty="0"/>
              <a:t> </a:t>
            </a:r>
            <a:r>
              <a:rPr lang="tr-TR" b="1" dirty="0" err="1"/>
              <a:t>words</a:t>
            </a:r>
            <a:r>
              <a:rPr lang="tr-TR" b="1" dirty="0"/>
              <a:t> (</a:t>
            </a:r>
            <a:r>
              <a:rPr lang="tr-TR" b="1" dirty="0" err="1"/>
              <a:t>using</a:t>
            </a:r>
            <a:r>
              <a:rPr lang="tr-TR" b="1" dirty="0"/>
              <a:t> </a:t>
            </a:r>
            <a:r>
              <a:rPr lang="tr-TR" b="1" i="1" dirty="0" err="1"/>
              <a:t>ellipsis</a:t>
            </a:r>
            <a:r>
              <a:rPr lang="tr-TR" b="1" dirty="0"/>
              <a:t>)</a:t>
            </a:r>
          </a:p>
          <a:p>
            <a:r>
              <a:rPr lang="tr-TR" dirty="0" err="1"/>
              <a:t>Use</a:t>
            </a:r>
            <a:r>
              <a:rPr lang="tr-TR" dirty="0"/>
              <a:t> an </a:t>
            </a:r>
            <a:r>
              <a:rPr lang="tr-TR" dirty="0" err="1"/>
              <a:t>ellipsis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show</a:t>
            </a:r>
            <a:r>
              <a:rPr lang="tr-TR" dirty="0"/>
              <a:t> </a:t>
            </a:r>
            <a:r>
              <a:rPr lang="tr-TR" dirty="0" err="1"/>
              <a:t>you</a:t>
            </a:r>
            <a:r>
              <a:rPr lang="tr-TR" dirty="0"/>
              <a:t> </a:t>
            </a:r>
            <a:r>
              <a:rPr lang="tr-TR" dirty="0" err="1"/>
              <a:t>removed</a:t>
            </a:r>
            <a:r>
              <a:rPr lang="tr-TR" dirty="0"/>
              <a:t> </a:t>
            </a:r>
            <a:r>
              <a:rPr lang="tr-TR" dirty="0" err="1"/>
              <a:t>material</a:t>
            </a:r>
            <a:r>
              <a:rPr lang="tr-TR" dirty="0"/>
              <a:t> </a:t>
            </a:r>
            <a:r>
              <a:rPr lang="tr-TR" dirty="0" err="1"/>
              <a:t>from</a:t>
            </a:r>
            <a:r>
              <a:rPr lang="tr-TR" dirty="0"/>
              <a:t> inside a </a:t>
            </a:r>
            <a:r>
              <a:rPr lang="tr-TR" dirty="0" err="1"/>
              <a:t>quotation</a:t>
            </a:r>
            <a:r>
              <a:rPr lang="tr-TR" dirty="0"/>
              <a:t>. APA </a:t>
            </a:r>
            <a:r>
              <a:rPr lang="tr-TR" dirty="0" err="1"/>
              <a:t>uses</a:t>
            </a:r>
            <a:r>
              <a:rPr lang="tr-TR" dirty="0"/>
              <a:t> </a:t>
            </a:r>
            <a:r>
              <a:rPr lang="tr-TR" b="1" dirty="0" err="1"/>
              <a:t>three</a:t>
            </a:r>
            <a:r>
              <a:rPr lang="tr-TR" b="1" dirty="0"/>
              <a:t> </a:t>
            </a:r>
            <a:r>
              <a:rPr lang="tr-TR" b="1" dirty="0" err="1"/>
              <a:t>ellipsis</a:t>
            </a:r>
            <a:r>
              <a:rPr lang="tr-TR" b="1" dirty="0"/>
              <a:t> </a:t>
            </a:r>
            <a:r>
              <a:rPr lang="tr-TR" b="1" dirty="0" err="1"/>
              <a:t>points</a:t>
            </a:r>
            <a:r>
              <a:rPr lang="tr-TR" dirty="0"/>
              <a:t> </a:t>
            </a:r>
            <a:r>
              <a:rPr lang="tr-TR" b="1" dirty="0">
                <a:solidFill>
                  <a:srgbClr val="C00000"/>
                </a:solidFill>
              </a:rPr>
              <a:t>(…)</a:t>
            </a:r>
            <a:r>
              <a:rPr lang="tr-TR" dirty="0"/>
              <a:t> </a:t>
            </a:r>
            <a:r>
              <a:rPr lang="tr-TR" dirty="0" err="1"/>
              <a:t>for</a:t>
            </a:r>
            <a:r>
              <a:rPr lang="tr-TR" dirty="0"/>
              <a:t> a </a:t>
            </a:r>
            <a:r>
              <a:rPr lang="tr-TR" dirty="0" err="1"/>
              <a:t>mid-sentence</a:t>
            </a:r>
            <a:r>
              <a:rPr lang="tr-TR" dirty="0"/>
              <a:t> </a:t>
            </a:r>
            <a:r>
              <a:rPr lang="tr-TR" dirty="0" err="1"/>
              <a:t>omission</a:t>
            </a:r>
            <a:r>
              <a:rPr lang="tr-TR" dirty="0"/>
              <a:t>; </a:t>
            </a:r>
            <a:r>
              <a:rPr lang="tr-TR" dirty="0" err="1"/>
              <a:t>if</a:t>
            </a:r>
            <a:r>
              <a:rPr lang="tr-TR" dirty="0"/>
              <a:t> the </a:t>
            </a:r>
            <a:r>
              <a:rPr lang="tr-TR" dirty="0" err="1"/>
              <a:t>omission</a:t>
            </a:r>
            <a:r>
              <a:rPr lang="tr-TR" dirty="0"/>
              <a:t> </a:t>
            </a:r>
            <a:r>
              <a:rPr lang="tr-TR" dirty="0" err="1"/>
              <a:t>falls</a:t>
            </a:r>
            <a:r>
              <a:rPr lang="tr-TR" dirty="0"/>
              <a:t> </a:t>
            </a:r>
            <a:r>
              <a:rPr lang="tr-TR" dirty="0" err="1"/>
              <a:t>between</a:t>
            </a:r>
            <a:r>
              <a:rPr lang="tr-TR" dirty="0"/>
              <a:t> </a:t>
            </a:r>
            <a:r>
              <a:rPr lang="tr-TR" dirty="0" err="1"/>
              <a:t>sentences</a:t>
            </a:r>
            <a:r>
              <a:rPr lang="tr-TR" dirty="0"/>
              <a:t>, a </a:t>
            </a:r>
            <a:r>
              <a:rPr lang="tr-TR" dirty="0" err="1"/>
              <a:t>period</a:t>
            </a:r>
            <a:r>
              <a:rPr lang="tr-TR" dirty="0"/>
              <a:t> </a:t>
            </a:r>
            <a:r>
              <a:rPr lang="tr-TR" dirty="0" err="1"/>
              <a:t>may</a:t>
            </a:r>
            <a:r>
              <a:rPr lang="tr-TR" dirty="0"/>
              <a:t> </a:t>
            </a:r>
            <a:r>
              <a:rPr lang="tr-TR" dirty="0" err="1"/>
              <a:t>appear</a:t>
            </a:r>
            <a:r>
              <a:rPr lang="tr-TR" dirty="0"/>
              <a:t> </a:t>
            </a:r>
            <a:r>
              <a:rPr lang="tr-TR" dirty="0" err="1"/>
              <a:t>before</a:t>
            </a:r>
            <a:r>
              <a:rPr lang="tr-TR" dirty="0"/>
              <a:t> the </a:t>
            </a:r>
            <a:r>
              <a:rPr lang="tr-TR" dirty="0" err="1"/>
              <a:t>ellipsis</a:t>
            </a:r>
            <a:r>
              <a:rPr lang="tr-TR" dirty="0"/>
              <a:t>.</a:t>
            </a:r>
            <a:br>
              <a:rPr lang="tr-TR" dirty="0"/>
            </a:br>
            <a:endParaRPr lang="tr-TR" dirty="0"/>
          </a:p>
          <a:p>
            <a:pPr marL="0" indent="0">
              <a:buNone/>
            </a:pPr>
            <a:r>
              <a:rPr lang="tr-TR" b="1" dirty="0" err="1"/>
              <a:t>Adding</a:t>
            </a:r>
            <a:r>
              <a:rPr lang="tr-TR" b="1" dirty="0"/>
              <a:t> </a:t>
            </a:r>
            <a:r>
              <a:rPr lang="tr-TR" b="1" dirty="0" err="1"/>
              <a:t>clarifying</a:t>
            </a:r>
            <a:r>
              <a:rPr lang="tr-TR" b="1" dirty="0"/>
              <a:t> </a:t>
            </a:r>
            <a:r>
              <a:rPr lang="tr-TR" b="1" dirty="0" err="1"/>
              <a:t>words</a:t>
            </a:r>
            <a:r>
              <a:rPr lang="tr-TR" b="1" dirty="0"/>
              <a:t> (</a:t>
            </a:r>
            <a:r>
              <a:rPr lang="tr-TR" b="1" dirty="0" err="1"/>
              <a:t>using</a:t>
            </a:r>
            <a:r>
              <a:rPr lang="tr-TR" b="1" dirty="0"/>
              <a:t> </a:t>
            </a:r>
            <a:r>
              <a:rPr lang="tr-TR" b="1" i="1" dirty="0" err="1"/>
              <a:t>square</a:t>
            </a:r>
            <a:r>
              <a:rPr lang="tr-TR" b="1" i="1" dirty="0"/>
              <a:t> </a:t>
            </a:r>
            <a:r>
              <a:rPr lang="tr-TR" b="1" i="1" dirty="0" err="1"/>
              <a:t>brackets</a:t>
            </a:r>
            <a:r>
              <a:rPr lang="tr-TR" b="1" dirty="0"/>
              <a:t>)</a:t>
            </a:r>
          </a:p>
          <a:p>
            <a:r>
              <a:rPr lang="tr-TR" dirty="0" err="1"/>
              <a:t>Use</a:t>
            </a:r>
            <a:r>
              <a:rPr lang="tr-TR" dirty="0"/>
              <a:t> </a:t>
            </a:r>
            <a:r>
              <a:rPr lang="tr-TR" b="1" dirty="0">
                <a:solidFill>
                  <a:srgbClr val="C00000"/>
                </a:solidFill>
              </a:rPr>
              <a:t>[</a:t>
            </a:r>
            <a:r>
              <a:rPr lang="tr-TR" b="1" dirty="0" err="1">
                <a:solidFill>
                  <a:srgbClr val="C00000"/>
                </a:solidFill>
              </a:rPr>
              <a:t>square</a:t>
            </a:r>
            <a:r>
              <a:rPr lang="tr-TR" b="1" dirty="0">
                <a:solidFill>
                  <a:srgbClr val="C00000"/>
                </a:solidFill>
              </a:rPr>
              <a:t> </a:t>
            </a:r>
            <a:r>
              <a:rPr lang="tr-TR" b="1" dirty="0" err="1">
                <a:solidFill>
                  <a:srgbClr val="C00000"/>
                </a:solidFill>
              </a:rPr>
              <a:t>brackets</a:t>
            </a:r>
            <a:r>
              <a:rPr lang="tr-TR" b="1" dirty="0">
                <a:solidFill>
                  <a:srgbClr val="C00000"/>
                </a:solidFill>
              </a:rPr>
              <a:t>]</a:t>
            </a:r>
            <a:r>
              <a:rPr lang="tr-TR" dirty="0">
                <a:solidFill>
                  <a:srgbClr val="C00000"/>
                </a:solidFill>
              </a:rPr>
              <a:t> </a:t>
            </a:r>
            <a:r>
              <a:rPr lang="tr-TR" dirty="0" err="1"/>
              <a:t>to</a:t>
            </a:r>
            <a:r>
              <a:rPr lang="tr-TR" dirty="0"/>
              <a:t> insert </a:t>
            </a:r>
            <a:r>
              <a:rPr lang="tr-TR" dirty="0" err="1"/>
              <a:t>your</a:t>
            </a:r>
            <a:r>
              <a:rPr lang="tr-TR" dirty="0"/>
              <a:t> </a:t>
            </a:r>
            <a:r>
              <a:rPr lang="tr-TR" dirty="0" err="1"/>
              <a:t>own</a:t>
            </a:r>
            <a:r>
              <a:rPr lang="tr-TR" dirty="0"/>
              <a:t> </a:t>
            </a:r>
            <a:r>
              <a:rPr lang="tr-TR" dirty="0" err="1"/>
              <a:t>clarifying</a:t>
            </a:r>
            <a:r>
              <a:rPr lang="tr-TR" dirty="0"/>
              <a:t> </a:t>
            </a:r>
            <a:r>
              <a:rPr lang="tr-TR" dirty="0" err="1"/>
              <a:t>words</a:t>
            </a:r>
            <a:r>
              <a:rPr lang="tr-TR" dirty="0"/>
              <a:t> </a:t>
            </a:r>
            <a:r>
              <a:rPr lang="tr-TR" dirty="0" err="1"/>
              <a:t>into</a:t>
            </a:r>
            <a:r>
              <a:rPr lang="tr-TR" dirty="0"/>
              <a:t> a </a:t>
            </a:r>
            <a:r>
              <a:rPr lang="tr-TR" dirty="0" err="1"/>
              <a:t>quotation</a:t>
            </a:r>
            <a:r>
              <a:rPr lang="tr-TR" dirty="0"/>
              <a:t>:</a:t>
            </a:r>
          </a:p>
          <a:p>
            <a:pPr marL="0" indent="0">
              <a:buNone/>
            </a:pPr>
            <a:r>
              <a:rPr lang="tr-TR" dirty="0">
                <a:solidFill>
                  <a:schemeClr val="bg1">
                    <a:lumMod val="50000"/>
                  </a:schemeClr>
                </a:solidFill>
              </a:rPr>
              <a:t>“</a:t>
            </a:r>
            <a:r>
              <a:rPr lang="tr-TR" dirty="0" err="1">
                <a:solidFill>
                  <a:schemeClr val="bg1">
                    <a:lumMod val="50000"/>
                  </a:schemeClr>
                </a:solidFill>
              </a:rPr>
              <a:t>This</a:t>
            </a:r>
            <a:r>
              <a:rPr lang="tr-TR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dirty="0" err="1">
                <a:solidFill>
                  <a:schemeClr val="bg1">
                    <a:lumMod val="50000"/>
                  </a:schemeClr>
                </a:solidFill>
              </a:rPr>
              <a:t>situation</a:t>
            </a:r>
            <a:r>
              <a:rPr lang="tr-TR" dirty="0">
                <a:solidFill>
                  <a:schemeClr val="bg1">
                    <a:lumMod val="50000"/>
                  </a:schemeClr>
                </a:solidFill>
              </a:rPr>
              <a:t> … </a:t>
            </a:r>
            <a:r>
              <a:rPr lang="tr-TR" dirty="0" err="1">
                <a:solidFill>
                  <a:schemeClr val="bg1">
                    <a:lumMod val="50000"/>
                  </a:schemeClr>
                </a:solidFill>
              </a:rPr>
              <a:t>changed</a:t>
            </a:r>
            <a:r>
              <a:rPr lang="tr-TR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dirty="0" err="1">
                <a:solidFill>
                  <a:schemeClr val="bg1">
                    <a:lumMod val="50000"/>
                  </a:schemeClr>
                </a:solidFill>
              </a:rPr>
              <a:t>what</a:t>
            </a:r>
            <a:r>
              <a:rPr lang="tr-TR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dirty="0" err="1">
                <a:solidFill>
                  <a:schemeClr val="bg1">
                    <a:lumMod val="50000"/>
                  </a:schemeClr>
                </a:solidFill>
              </a:rPr>
              <a:t>people</a:t>
            </a:r>
            <a:r>
              <a:rPr lang="tr-TR" dirty="0">
                <a:solidFill>
                  <a:schemeClr val="bg1">
                    <a:lumMod val="50000"/>
                  </a:schemeClr>
                </a:solidFill>
              </a:rPr>
              <a:t> do in </a:t>
            </a:r>
            <a:r>
              <a:rPr lang="tr-TR" dirty="0" err="1">
                <a:solidFill>
                  <a:schemeClr val="bg1">
                    <a:lumMod val="50000"/>
                  </a:schemeClr>
                </a:solidFill>
              </a:rPr>
              <a:t>their</a:t>
            </a:r>
            <a:r>
              <a:rPr lang="tr-TR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dirty="0" err="1">
                <a:solidFill>
                  <a:schemeClr val="bg1">
                    <a:lumMod val="50000"/>
                  </a:schemeClr>
                </a:solidFill>
              </a:rPr>
              <a:t>leisure</a:t>
            </a:r>
            <a:r>
              <a:rPr lang="tr-TR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dirty="0" err="1">
                <a:solidFill>
                  <a:schemeClr val="bg1">
                    <a:lumMod val="50000"/>
                  </a:schemeClr>
                </a:solidFill>
              </a:rPr>
              <a:t>times</a:t>
            </a:r>
            <a:r>
              <a:rPr lang="tr-TR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b="1" dirty="0">
                <a:solidFill>
                  <a:schemeClr val="bg1">
                    <a:lumMod val="50000"/>
                  </a:schemeClr>
                </a:solidFill>
              </a:rPr>
              <a:t>[in online </a:t>
            </a:r>
            <a:r>
              <a:rPr lang="tr-TR" b="1" dirty="0" err="1">
                <a:solidFill>
                  <a:schemeClr val="bg1">
                    <a:lumMod val="50000"/>
                  </a:schemeClr>
                </a:solidFill>
              </a:rPr>
              <a:t>spaces</a:t>
            </a:r>
            <a:r>
              <a:rPr lang="tr-TR" b="1" dirty="0">
                <a:solidFill>
                  <a:schemeClr val="bg1">
                    <a:lumMod val="50000"/>
                  </a:schemeClr>
                </a:solidFill>
              </a:rPr>
              <a:t>]</a:t>
            </a:r>
            <a:r>
              <a:rPr lang="tr-TR" dirty="0">
                <a:solidFill>
                  <a:schemeClr val="bg1">
                    <a:lumMod val="50000"/>
                  </a:schemeClr>
                </a:solidFill>
              </a:rPr>
              <a:t>” (Author, </a:t>
            </a:r>
            <a:r>
              <a:rPr lang="tr-TR" dirty="0" err="1">
                <a:solidFill>
                  <a:schemeClr val="bg1">
                    <a:lumMod val="50000"/>
                  </a:schemeClr>
                </a:solidFill>
              </a:rPr>
              <a:t>Year</a:t>
            </a:r>
            <a:r>
              <a:rPr lang="tr-TR" dirty="0">
                <a:solidFill>
                  <a:schemeClr val="bg1">
                    <a:lumMod val="50000"/>
                  </a:schemeClr>
                </a:solidFill>
              </a:rPr>
              <a:t>, p. x).</a:t>
            </a:r>
          </a:p>
          <a:p>
            <a:pPr marL="0" indent="0">
              <a:buNone/>
            </a:pPr>
            <a:endParaRPr lang="tr-TR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tr-TR" b="1" dirty="0" err="1"/>
              <a:t>Quotation</a:t>
            </a:r>
            <a:r>
              <a:rPr lang="tr-TR" b="1" dirty="0"/>
              <a:t> inside a </a:t>
            </a:r>
            <a:r>
              <a:rPr lang="tr-TR" b="1" dirty="0" err="1"/>
              <a:t>quotation</a:t>
            </a:r>
            <a:r>
              <a:rPr lang="tr-TR" b="1" dirty="0"/>
              <a:t> (</a:t>
            </a:r>
            <a:r>
              <a:rPr lang="tr-TR" b="1" dirty="0" err="1"/>
              <a:t>using</a:t>
            </a:r>
            <a:r>
              <a:rPr lang="tr-TR" b="1" dirty="0"/>
              <a:t> </a:t>
            </a:r>
            <a:r>
              <a:rPr lang="tr-TR" b="1" i="1" dirty="0" err="1"/>
              <a:t>single</a:t>
            </a:r>
            <a:r>
              <a:rPr lang="tr-TR" b="1" i="1" dirty="0"/>
              <a:t> </a:t>
            </a:r>
            <a:r>
              <a:rPr lang="tr-TR" b="1" i="1" dirty="0" err="1"/>
              <a:t>quotation</a:t>
            </a:r>
            <a:r>
              <a:rPr lang="tr-TR" b="1" i="1" dirty="0"/>
              <a:t> </a:t>
            </a:r>
            <a:r>
              <a:rPr lang="tr-TR" b="1" i="1" dirty="0" err="1"/>
              <a:t>marks</a:t>
            </a:r>
            <a:r>
              <a:rPr lang="tr-TR" b="1" dirty="0"/>
              <a:t>)</a:t>
            </a:r>
          </a:p>
          <a:p>
            <a:r>
              <a:rPr lang="tr-TR" dirty="0" err="1"/>
              <a:t>Use</a:t>
            </a:r>
            <a:r>
              <a:rPr lang="tr-TR" dirty="0"/>
              <a:t> </a:t>
            </a:r>
            <a:r>
              <a:rPr lang="tr-TR" b="1" dirty="0" err="1"/>
              <a:t>single</a:t>
            </a:r>
            <a:r>
              <a:rPr lang="tr-TR" b="1" dirty="0"/>
              <a:t> </a:t>
            </a:r>
            <a:r>
              <a:rPr lang="tr-TR" b="1" dirty="0" err="1"/>
              <a:t>quotation</a:t>
            </a:r>
            <a:r>
              <a:rPr lang="tr-TR" b="1" dirty="0"/>
              <a:t> </a:t>
            </a:r>
            <a:r>
              <a:rPr lang="tr-TR" b="1" dirty="0" err="1"/>
              <a:t>marks</a:t>
            </a:r>
            <a:r>
              <a:rPr lang="tr-TR" dirty="0"/>
              <a:t> inside </a:t>
            </a:r>
            <a:r>
              <a:rPr lang="tr-TR" dirty="0" err="1"/>
              <a:t>double</a:t>
            </a:r>
            <a:r>
              <a:rPr lang="tr-TR" dirty="0"/>
              <a:t> </a:t>
            </a:r>
            <a:r>
              <a:rPr lang="tr-TR" dirty="0" err="1"/>
              <a:t>quotation</a:t>
            </a:r>
            <a:r>
              <a:rPr lang="tr-TR" dirty="0"/>
              <a:t> </a:t>
            </a:r>
            <a:r>
              <a:rPr lang="tr-TR" dirty="0" err="1"/>
              <a:t>marks</a:t>
            </a:r>
            <a:r>
              <a:rPr lang="tr-TR" dirty="0"/>
              <a:t>:</a:t>
            </a:r>
          </a:p>
          <a:p>
            <a:pPr marL="0" indent="0">
              <a:buNone/>
            </a:pPr>
            <a:r>
              <a:rPr lang="tr-TR" dirty="0">
                <a:solidFill>
                  <a:schemeClr val="bg1">
                    <a:lumMod val="50000"/>
                  </a:schemeClr>
                </a:solidFill>
              </a:rPr>
              <a:t>“The </a:t>
            </a:r>
            <a:r>
              <a:rPr lang="tr-TR" dirty="0" err="1">
                <a:solidFill>
                  <a:schemeClr val="bg1">
                    <a:lumMod val="50000"/>
                  </a:schemeClr>
                </a:solidFill>
              </a:rPr>
              <a:t>reviewer</a:t>
            </a:r>
            <a:r>
              <a:rPr lang="tr-TR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dirty="0" err="1">
                <a:solidFill>
                  <a:schemeClr val="bg1">
                    <a:lumMod val="50000"/>
                  </a:schemeClr>
                </a:solidFill>
              </a:rPr>
              <a:t>called</a:t>
            </a:r>
            <a:r>
              <a:rPr lang="tr-TR" dirty="0">
                <a:solidFill>
                  <a:schemeClr val="bg1">
                    <a:lumMod val="50000"/>
                  </a:schemeClr>
                </a:solidFill>
              </a:rPr>
              <a:t> it </a:t>
            </a:r>
            <a:r>
              <a:rPr lang="tr-TR" b="1" dirty="0">
                <a:solidFill>
                  <a:schemeClr val="bg1">
                    <a:lumMod val="50000"/>
                  </a:schemeClr>
                </a:solidFill>
              </a:rPr>
              <a:t>‘</a:t>
            </a:r>
            <a:r>
              <a:rPr lang="tr-TR" dirty="0">
                <a:solidFill>
                  <a:schemeClr val="bg1">
                    <a:lumMod val="50000"/>
                  </a:schemeClr>
                </a:solidFill>
              </a:rPr>
              <a:t>a </a:t>
            </a:r>
            <a:r>
              <a:rPr lang="tr-TR" dirty="0" err="1">
                <a:solidFill>
                  <a:schemeClr val="bg1">
                    <a:lumMod val="50000"/>
                  </a:schemeClr>
                </a:solidFill>
              </a:rPr>
              <a:t>turning</a:t>
            </a:r>
            <a:r>
              <a:rPr lang="tr-TR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dirty="0" err="1">
                <a:solidFill>
                  <a:schemeClr val="bg1">
                    <a:lumMod val="50000"/>
                  </a:schemeClr>
                </a:solidFill>
              </a:rPr>
              <a:t>point</a:t>
            </a:r>
            <a:r>
              <a:rPr lang="tr-TR" b="1" dirty="0">
                <a:solidFill>
                  <a:schemeClr val="bg1">
                    <a:lumMod val="50000"/>
                  </a:schemeClr>
                </a:solidFill>
              </a:rPr>
              <a:t>’</a:t>
            </a:r>
            <a:r>
              <a:rPr lang="tr-TR" dirty="0">
                <a:solidFill>
                  <a:schemeClr val="bg1">
                    <a:lumMod val="50000"/>
                  </a:schemeClr>
                </a:solidFill>
              </a:rPr>
              <a:t> in the </a:t>
            </a:r>
            <a:r>
              <a:rPr lang="tr-TR" dirty="0" err="1">
                <a:solidFill>
                  <a:schemeClr val="bg1">
                    <a:lumMod val="50000"/>
                  </a:schemeClr>
                </a:solidFill>
              </a:rPr>
              <a:t>field</a:t>
            </a:r>
            <a:r>
              <a:rPr lang="tr-TR" dirty="0">
                <a:solidFill>
                  <a:schemeClr val="bg1">
                    <a:lumMod val="50000"/>
                  </a:schemeClr>
                </a:solidFill>
              </a:rPr>
              <a:t>” (Author, </a:t>
            </a:r>
            <a:r>
              <a:rPr lang="tr-TR" dirty="0" err="1">
                <a:solidFill>
                  <a:schemeClr val="bg1">
                    <a:lumMod val="50000"/>
                  </a:schemeClr>
                </a:solidFill>
              </a:rPr>
              <a:t>Year</a:t>
            </a:r>
            <a:r>
              <a:rPr lang="tr-TR" dirty="0">
                <a:solidFill>
                  <a:schemeClr val="bg1">
                    <a:lumMod val="50000"/>
                  </a:schemeClr>
                </a:solidFill>
              </a:rPr>
              <a:t>, p. x).</a:t>
            </a:r>
          </a:p>
        </p:txBody>
      </p:sp>
    </p:spTree>
    <p:extLst>
      <p:ext uri="{BB962C8B-B14F-4D97-AF65-F5344CB8AC3E}">
        <p14:creationId xmlns:p14="http://schemas.microsoft.com/office/powerpoint/2010/main" val="7891892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şlık 3">
            <a:extLst>
              <a:ext uri="{FF2B5EF4-FFF2-40B4-BE49-F238E27FC236}">
                <a16:creationId xmlns:a16="http://schemas.microsoft.com/office/drawing/2014/main" id="{3E1BCE41-3D03-9D20-F4C1-FF53616884F2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40000"/>
              <a:lumOff val="60000"/>
            </a:schemeClr>
          </a:solidFill>
        </p:spPr>
        <p:txBody>
          <a:bodyPr/>
          <a:lstStyle/>
          <a:p>
            <a:pPr algn="ctr"/>
            <a:r>
              <a:rPr lang="tr-TR" b="1" dirty="0">
                <a:latin typeface="+mn-lt"/>
              </a:rPr>
              <a:t>6) </a:t>
            </a:r>
            <a:r>
              <a:rPr lang="tr-TR" b="1" dirty="0" err="1">
                <a:latin typeface="+mn-lt"/>
              </a:rPr>
              <a:t>Adding</a:t>
            </a:r>
            <a:r>
              <a:rPr lang="tr-TR" b="1" dirty="0">
                <a:latin typeface="+mn-lt"/>
              </a:rPr>
              <a:t> </a:t>
            </a:r>
            <a:r>
              <a:rPr lang="tr-TR" b="1" dirty="0" err="1">
                <a:latin typeface="+mn-lt"/>
              </a:rPr>
              <a:t>page</a:t>
            </a:r>
            <a:r>
              <a:rPr lang="tr-TR" b="1" dirty="0">
                <a:latin typeface="+mn-lt"/>
              </a:rPr>
              <a:t> </a:t>
            </a:r>
            <a:r>
              <a:rPr lang="tr-TR" b="1" dirty="0" err="1">
                <a:latin typeface="+mn-lt"/>
              </a:rPr>
              <a:t>or</a:t>
            </a:r>
            <a:r>
              <a:rPr lang="tr-TR" b="1" dirty="0">
                <a:latin typeface="+mn-lt"/>
              </a:rPr>
              <a:t> </a:t>
            </a:r>
            <a:r>
              <a:rPr lang="tr-TR" b="1" dirty="0" err="1">
                <a:latin typeface="+mn-lt"/>
              </a:rPr>
              <a:t>paragraph</a:t>
            </a:r>
            <a:r>
              <a:rPr lang="tr-TR" b="1" dirty="0">
                <a:latin typeface="+mn-lt"/>
              </a:rPr>
              <a:t> </a:t>
            </a:r>
            <a:r>
              <a:rPr lang="tr-TR" b="1" dirty="0" err="1">
                <a:latin typeface="+mn-lt"/>
              </a:rPr>
              <a:t>numbers</a:t>
            </a:r>
            <a:endParaRPr lang="tr-TR" dirty="0">
              <a:latin typeface="+mn-lt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570AEF3-2250-6062-7AD5-6B15C6F4C4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606" y="2025276"/>
            <a:ext cx="11342594" cy="462295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tr-TR" sz="2400" b="1" dirty="0"/>
              <a:t>6.1 </a:t>
            </a:r>
            <a:r>
              <a:rPr lang="tr-TR" sz="2400" b="1" dirty="0" err="1"/>
              <a:t>Include</a:t>
            </a:r>
            <a:r>
              <a:rPr lang="tr-TR" sz="2400" b="1" dirty="0"/>
              <a:t> a </a:t>
            </a:r>
            <a:r>
              <a:rPr lang="tr-TR" sz="2400" b="1" dirty="0" err="1"/>
              <a:t>locator</a:t>
            </a:r>
            <a:r>
              <a:rPr lang="tr-TR" sz="2400" b="1" dirty="0"/>
              <a:t> </a:t>
            </a:r>
            <a:r>
              <a:rPr lang="tr-TR" sz="2400" b="1" dirty="0" err="1"/>
              <a:t>when</a:t>
            </a:r>
            <a:r>
              <a:rPr lang="tr-TR" sz="2400" b="1" dirty="0"/>
              <a:t> </a:t>
            </a:r>
            <a:r>
              <a:rPr lang="tr-TR" sz="2400" b="1" dirty="0" err="1"/>
              <a:t>you</a:t>
            </a:r>
            <a:r>
              <a:rPr lang="tr-TR" sz="2400" b="1" dirty="0"/>
              <a:t>:</a:t>
            </a:r>
          </a:p>
          <a:p>
            <a:pPr lvl="2"/>
            <a:r>
              <a:rPr lang="tr-TR" sz="2200" dirty="0" err="1"/>
              <a:t>use</a:t>
            </a:r>
            <a:r>
              <a:rPr lang="tr-TR" sz="2200" dirty="0"/>
              <a:t> a </a:t>
            </a:r>
            <a:r>
              <a:rPr lang="tr-TR" sz="2200" b="1" dirty="0" err="1"/>
              <a:t>direct</a:t>
            </a:r>
            <a:r>
              <a:rPr lang="tr-TR" sz="2200" b="1" dirty="0"/>
              <a:t> </a:t>
            </a:r>
            <a:r>
              <a:rPr lang="tr-TR" sz="2200" b="1" dirty="0" err="1"/>
              <a:t>quotation</a:t>
            </a:r>
            <a:r>
              <a:rPr lang="tr-TR" sz="2200" dirty="0"/>
              <a:t>, </a:t>
            </a:r>
            <a:r>
              <a:rPr lang="tr-TR" sz="2200" dirty="0" err="1"/>
              <a:t>or</a:t>
            </a:r>
            <a:endParaRPr lang="tr-TR" sz="2200" dirty="0"/>
          </a:p>
          <a:p>
            <a:pPr lvl="2"/>
            <a:r>
              <a:rPr lang="tr-TR" sz="2200" dirty="0" err="1"/>
              <a:t>want</a:t>
            </a:r>
            <a:r>
              <a:rPr lang="tr-TR" sz="2200" dirty="0"/>
              <a:t> </a:t>
            </a:r>
            <a:r>
              <a:rPr lang="tr-TR" sz="2200" dirty="0" err="1"/>
              <a:t>to</a:t>
            </a:r>
            <a:r>
              <a:rPr lang="tr-TR" sz="2200" dirty="0"/>
              <a:t> </a:t>
            </a:r>
            <a:r>
              <a:rPr lang="tr-TR" sz="2200" dirty="0" err="1"/>
              <a:t>point</a:t>
            </a:r>
            <a:r>
              <a:rPr lang="tr-TR" sz="2200" dirty="0"/>
              <a:t> </a:t>
            </a:r>
            <a:r>
              <a:rPr lang="tr-TR" sz="2200" dirty="0" err="1"/>
              <a:t>readers</a:t>
            </a:r>
            <a:r>
              <a:rPr lang="tr-TR" sz="2200" dirty="0"/>
              <a:t> </a:t>
            </a:r>
            <a:r>
              <a:rPr lang="tr-TR" sz="2200" dirty="0" err="1"/>
              <a:t>to</a:t>
            </a:r>
            <a:r>
              <a:rPr lang="tr-TR" sz="2200" dirty="0"/>
              <a:t> a </a:t>
            </a:r>
            <a:r>
              <a:rPr lang="tr-TR" sz="2200" b="1" dirty="0" err="1"/>
              <a:t>specific</a:t>
            </a:r>
            <a:r>
              <a:rPr lang="tr-TR" sz="2200" b="1" dirty="0"/>
              <a:t>, </a:t>
            </a:r>
            <a:r>
              <a:rPr lang="tr-TR" sz="2200" b="1" dirty="0" err="1"/>
              <a:t>exact</a:t>
            </a:r>
            <a:r>
              <a:rPr lang="tr-TR" sz="2200" b="1" dirty="0"/>
              <a:t> </a:t>
            </a:r>
            <a:r>
              <a:rPr lang="tr-TR" sz="2200" b="1" dirty="0" err="1"/>
              <a:t>part</a:t>
            </a:r>
            <a:r>
              <a:rPr lang="tr-TR" sz="2200" dirty="0"/>
              <a:t> of a </a:t>
            </a:r>
            <a:r>
              <a:rPr lang="tr-TR" sz="2200" dirty="0" err="1"/>
              <a:t>source</a:t>
            </a:r>
            <a:r>
              <a:rPr lang="tr-TR" sz="2200" dirty="0"/>
              <a:t> (</a:t>
            </a:r>
            <a:r>
              <a:rPr lang="tr-TR" sz="2200" dirty="0" err="1"/>
              <a:t>recommended</a:t>
            </a:r>
            <a:r>
              <a:rPr lang="tr-TR" sz="2200" dirty="0"/>
              <a:t> </a:t>
            </a:r>
            <a:r>
              <a:rPr lang="tr-TR" sz="2200" dirty="0" err="1"/>
              <a:t>for</a:t>
            </a:r>
            <a:r>
              <a:rPr lang="tr-TR" sz="2200" dirty="0"/>
              <a:t> </a:t>
            </a:r>
            <a:r>
              <a:rPr lang="tr-TR" sz="2200" dirty="0" err="1"/>
              <a:t>precision</a:t>
            </a:r>
            <a:r>
              <a:rPr lang="tr-TR" sz="2200" dirty="0"/>
              <a:t>).</a:t>
            </a:r>
          </a:p>
          <a:p>
            <a:pPr marL="0" indent="0">
              <a:buNone/>
            </a:pPr>
            <a:r>
              <a:rPr lang="tr-TR" sz="2400" b="1" dirty="0"/>
              <a:t>6.2 </a:t>
            </a:r>
            <a:r>
              <a:rPr lang="tr-TR" sz="2400" b="1" dirty="0" err="1"/>
              <a:t>Print</a:t>
            </a:r>
            <a:r>
              <a:rPr lang="tr-TR" sz="2400" b="1" dirty="0"/>
              <a:t> </a:t>
            </a:r>
            <a:r>
              <a:rPr lang="tr-TR" sz="2400" b="1" dirty="0" err="1"/>
              <a:t>sources</a:t>
            </a:r>
            <a:r>
              <a:rPr lang="tr-TR" sz="2400" b="1" dirty="0"/>
              <a:t> </a:t>
            </a:r>
            <a:r>
              <a:rPr lang="tr-TR" sz="2400" b="1" dirty="0" err="1"/>
              <a:t>with</a:t>
            </a:r>
            <a:r>
              <a:rPr lang="tr-TR" sz="2400" b="1" dirty="0"/>
              <a:t> </a:t>
            </a:r>
            <a:r>
              <a:rPr lang="tr-TR" sz="2400" b="1" dirty="0" err="1"/>
              <a:t>page</a:t>
            </a:r>
            <a:r>
              <a:rPr lang="tr-TR" sz="2400" b="1" dirty="0"/>
              <a:t> </a:t>
            </a:r>
            <a:r>
              <a:rPr lang="tr-TR" sz="2400" b="1" dirty="0" err="1"/>
              <a:t>numbers</a:t>
            </a:r>
            <a:endParaRPr lang="tr-TR" sz="2400" b="1" dirty="0"/>
          </a:p>
          <a:p>
            <a:r>
              <a:rPr lang="tr-TR" sz="2400" dirty="0" err="1"/>
              <a:t>Use</a:t>
            </a:r>
            <a:r>
              <a:rPr lang="tr-TR" sz="2400" dirty="0"/>
              <a:t> </a:t>
            </a:r>
            <a:r>
              <a:rPr lang="tr-TR" sz="2400" b="1" dirty="0">
                <a:solidFill>
                  <a:srgbClr val="C00000"/>
                </a:solidFill>
              </a:rPr>
              <a:t>p.</a:t>
            </a:r>
            <a:r>
              <a:rPr lang="tr-TR" sz="2400" dirty="0"/>
              <a:t> </a:t>
            </a:r>
            <a:r>
              <a:rPr lang="tr-TR" sz="2400" dirty="0" err="1"/>
              <a:t>for</a:t>
            </a:r>
            <a:r>
              <a:rPr lang="tr-TR" sz="2400" dirty="0"/>
              <a:t> </a:t>
            </a:r>
            <a:r>
              <a:rPr lang="tr-TR" sz="2400" dirty="0" err="1"/>
              <a:t>one</a:t>
            </a:r>
            <a:r>
              <a:rPr lang="tr-TR" sz="2400" dirty="0"/>
              <a:t> </a:t>
            </a:r>
            <a:r>
              <a:rPr lang="tr-TR" sz="2400" dirty="0" err="1"/>
              <a:t>page</a:t>
            </a:r>
            <a:r>
              <a:rPr lang="tr-TR" sz="2400" dirty="0"/>
              <a:t>, </a:t>
            </a:r>
            <a:r>
              <a:rPr lang="tr-TR" sz="2400" b="1" dirty="0" err="1">
                <a:solidFill>
                  <a:srgbClr val="C00000"/>
                </a:solidFill>
              </a:rPr>
              <a:t>pp</a:t>
            </a:r>
            <a:r>
              <a:rPr lang="tr-TR" sz="2400" b="1" dirty="0">
                <a:solidFill>
                  <a:srgbClr val="C00000"/>
                </a:solidFill>
              </a:rPr>
              <a:t>.</a:t>
            </a:r>
            <a:r>
              <a:rPr lang="tr-TR" sz="2400" dirty="0"/>
              <a:t> </a:t>
            </a:r>
            <a:r>
              <a:rPr lang="tr-TR" sz="2400" dirty="0" err="1"/>
              <a:t>for</a:t>
            </a:r>
            <a:r>
              <a:rPr lang="tr-TR" sz="2400" dirty="0"/>
              <a:t> a </a:t>
            </a:r>
            <a:r>
              <a:rPr lang="tr-TR" sz="2400" dirty="0" err="1"/>
              <a:t>page</a:t>
            </a:r>
            <a:r>
              <a:rPr lang="tr-TR" sz="2400" dirty="0"/>
              <a:t> </a:t>
            </a:r>
            <a:r>
              <a:rPr lang="tr-TR" sz="2400" dirty="0" err="1"/>
              <a:t>range</a:t>
            </a:r>
            <a:r>
              <a:rPr lang="tr-TR" sz="2400" dirty="0"/>
              <a:t>:</a:t>
            </a:r>
          </a:p>
          <a:p>
            <a:pPr marL="0" indent="0">
              <a:buNone/>
            </a:pPr>
            <a:r>
              <a:rPr lang="tr-TR" sz="2400" dirty="0">
                <a:solidFill>
                  <a:schemeClr val="bg1">
                    <a:lumMod val="50000"/>
                  </a:schemeClr>
                </a:solidFill>
              </a:rPr>
              <a:t>	(</a:t>
            </a:r>
            <a:r>
              <a:rPr lang="tr-TR" sz="2400" dirty="0" err="1">
                <a:solidFill>
                  <a:schemeClr val="bg1">
                    <a:lumMod val="50000"/>
                  </a:schemeClr>
                </a:solidFill>
              </a:rPr>
              <a:t>Weir</a:t>
            </a:r>
            <a:r>
              <a:rPr lang="tr-TR" sz="2400" dirty="0">
                <a:solidFill>
                  <a:schemeClr val="bg1">
                    <a:lumMod val="50000"/>
                  </a:schemeClr>
                </a:solidFill>
              </a:rPr>
              <a:t>, 2017, </a:t>
            </a:r>
            <a:r>
              <a:rPr lang="tr-TR" sz="2400" b="1" dirty="0">
                <a:solidFill>
                  <a:schemeClr val="bg1">
                    <a:lumMod val="50000"/>
                  </a:schemeClr>
                </a:solidFill>
              </a:rPr>
              <a:t>p. 30</a:t>
            </a:r>
            <a:r>
              <a:rPr lang="tr-TR" sz="2400" dirty="0">
                <a:solidFill>
                  <a:schemeClr val="bg1">
                    <a:lumMod val="50000"/>
                  </a:schemeClr>
                </a:solidFill>
              </a:rPr>
              <a:t>) / (</a:t>
            </a:r>
            <a:r>
              <a:rPr lang="tr-TR" sz="2400" dirty="0" err="1">
                <a:solidFill>
                  <a:schemeClr val="bg1">
                    <a:lumMod val="50000"/>
                  </a:schemeClr>
                </a:solidFill>
              </a:rPr>
              <a:t>Deci</a:t>
            </a:r>
            <a:r>
              <a:rPr lang="tr-TR" sz="2400" dirty="0">
                <a:solidFill>
                  <a:schemeClr val="bg1">
                    <a:lumMod val="50000"/>
                  </a:schemeClr>
                </a:solidFill>
              </a:rPr>
              <a:t> &amp; </a:t>
            </a:r>
            <a:r>
              <a:rPr lang="tr-TR" sz="2400" dirty="0" err="1">
                <a:solidFill>
                  <a:schemeClr val="bg1">
                    <a:lumMod val="50000"/>
                  </a:schemeClr>
                </a:solidFill>
              </a:rPr>
              <a:t>Ryan</a:t>
            </a:r>
            <a:r>
              <a:rPr lang="tr-TR" sz="2400" dirty="0">
                <a:solidFill>
                  <a:schemeClr val="bg1">
                    <a:lumMod val="50000"/>
                  </a:schemeClr>
                </a:solidFill>
              </a:rPr>
              <a:t>, 2000, </a:t>
            </a:r>
            <a:r>
              <a:rPr lang="tr-TR" sz="2400" b="1" dirty="0" err="1">
                <a:solidFill>
                  <a:schemeClr val="bg1">
                    <a:lumMod val="50000"/>
                  </a:schemeClr>
                </a:solidFill>
              </a:rPr>
              <a:t>pp</a:t>
            </a:r>
            <a:r>
              <a:rPr lang="tr-TR" sz="2400" b="1" dirty="0">
                <a:solidFill>
                  <a:schemeClr val="bg1">
                    <a:lumMod val="50000"/>
                  </a:schemeClr>
                </a:solidFill>
              </a:rPr>
              <a:t>. 227-228</a:t>
            </a:r>
            <a:r>
              <a:rPr lang="tr-TR" sz="24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  <a:p>
            <a:pPr marL="0" indent="0">
              <a:buNone/>
            </a:pPr>
            <a:r>
              <a:rPr lang="tr-TR" sz="2400" b="1" dirty="0"/>
              <a:t>6.3 </a:t>
            </a:r>
            <a:r>
              <a:rPr lang="tr-TR" sz="2400" b="1" dirty="0" err="1"/>
              <a:t>Sources</a:t>
            </a:r>
            <a:r>
              <a:rPr lang="tr-TR" sz="2400" b="1" dirty="0"/>
              <a:t> </a:t>
            </a:r>
            <a:r>
              <a:rPr lang="tr-TR" sz="2400" b="1" dirty="0" err="1"/>
              <a:t>without</a:t>
            </a:r>
            <a:r>
              <a:rPr lang="tr-TR" sz="2400" b="1" dirty="0"/>
              <a:t> </a:t>
            </a:r>
            <a:r>
              <a:rPr lang="tr-TR" sz="2400" b="1" dirty="0" err="1"/>
              <a:t>page</a:t>
            </a:r>
            <a:r>
              <a:rPr lang="tr-TR" sz="2400" b="1" dirty="0"/>
              <a:t> </a:t>
            </a:r>
            <a:r>
              <a:rPr lang="tr-TR" sz="2400" b="1" dirty="0" err="1"/>
              <a:t>numbers</a:t>
            </a:r>
            <a:r>
              <a:rPr lang="tr-TR" sz="2400" b="1" dirty="0"/>
              <a:t> (</a:t>
            </a:r>
            <a:r>
              <a:rPr lang="tr-TR" sz="2400" b="1" dirty="0" err="1"/>
              <a:t>webpages</a:t>
            </a:r>
            <a:r>
              <a:rPr lang="tr-TR" sz="2400" b="1" dirty="0"/>
              <a:t>, </a:t>
            </a:r>
            <a:r>
              <a:rPr lang="tr-TR" sz="2400" b="1" dirty="0" err="1"/>
              <a:t>some</a:t>
            </a:r>
            <a:r>
              <a:rPr lang="tr-TR" sz="2400" b="1" dirty="0"/>
              <a:t> e-</a:t>
            </a:r>
            <a:r>
              <a:rPr lang="tr-TR" sz="2400" b="1" dirty="0" err="1"/>
              <a:t>books</a:t>
            </a:r>
            <a:r>
              <a:rPr lang="tr-TR" sz="2400" b="1" dirty="0"/>
              <a:t>)</a:t>
            </a:r>
          </a:p>
          <a:p>
            <a:r>
              <a:rPr lang="tr-TR" sz="2400" dirty="0" err="1"/>
              <a:t>Use</a:t>
            </a:r>
            <a:r>
              <a:rPr lang="tr-TR" sz="2400" dirty="0"/>
              <a:t>: </a:t>
            </a:r>
            <a:r>
              <a:rPr lang="tr-TR" sz="2400" b="1" dirty="0">
                <a:solidFill>
                  <a:srgbClr val="C00000"/>
                </a:solidFill>
              </a:rPr>
              <a:t>para.</a:t>
            </a:r>
            <a:r>
              <a:rPr lang="tr-TR" sz="2400" dirty="0"/>
              <a:t> (</a:t>
            </a:r>
            <a:r>
              <a:rPr lang="tr-TR" sz="2400" dirty="0" err="1"/>
              <a:t>paragraph</a:t>
            </a:r>
            <a:r>
              <a:rPr lang="tr-TR" sz="2400" dirty="0"/>
              <a:t> </a:t>
            </a:r>
            <a:r>
              <a:rPr lang="tr-TR" sz="2400" dirty="0" err="1"/>
              <a:t>number</a:t>
            </a:r>
            <a:r>
              <a:rPr lang="tr-TR" sz="2400" dirty="0"/>
              <a:t>), </a:t>
            </a:r>
            <a:r>
              <a:rPr lang="tr-TR" sz="2400" dirty="0" err="1"/>
              <a:t>or</a:t>
            </a:r>
            <a:r>
              <a:rPr lang="tr-TR" sz="2400" dirty="0"/>
              <a:t> a </a:t>
            </a:r>
            <a:r>
              <a:rPr lang="tr-TR" sz="2400" b="1" dirty="0" err="1">
                <a:solidFill>
                  <a:srgbClr val="C00000"/>
                </a:solidFill>
              </a:rPr>
              <a:t>section</a:t>
            </a:r>
            <a:r>
              <a:rPr lang="tr-TR" sz="2400" b="1" dirty="0">
                <a:solidFill>
                  <a:srgbClr val="C00000"/>
                </a:solidFill>
              </a:rPr>
              <a:t> </a:t>
            </a:r>
            <a:r>
              <a:rPr lang="tr-TR" sz="2400" b="1" dirty="0" err="1">
                <a:solidFill>
                  <a:srgbClr val="C00000"/>
                </a:solidFill>
              </a:rPr>
              <a:t>heading</a:t>
            </a:r>
            <a:r>
              <a:rPr lang="tr-TR" sz="2400" dirty="0">
                <a:solidFill>
                  <a:srgbClr val="C00000"/>
                </a:solidFill>
              </a:rPr>
              <a:t> + </a:t>
            </a:r>
            <a:r>
              <a:rPr lang="tr-TR" sz="2400" b="1" dirty="0" err="1">
                <a:solidFill>
                  <a:srgbClr val="C00000"/>
                </a:solidFill>
              </a:rPr>
              <a:t>paragraph</a:t>
            </a:r>
            <a:r>
              <a:rPr lang="tr-TR" sz="2400" b="1" dirty="0">
                <a:solidFill>
                  <a:srgbClr val="C00000"/>
                </a:solidFill>
              </a:rPr>
              <a:t> </a:t>
            </a:r>
            <a:r>
              <a:rPr lang="tr-TR" sz="2400" b="1" dirty="0" err="1">
                <a:solidFill>
                  <a:srgbClr val="C00000"/>
                </a:solidFill>
              </a:rPr>
              <a:t>number</a:t>
            </a:r>
            <a:r>
              <a:rPr lang="tr-TR" sz="2400" b="1" dirty="0">
                <a:solidFill>
                  <a:srgbClr val="C00000"/>
                </a:solidFill>
              </a:rPr>
              <a:t> </a:t>
            </a:r>
            <a:r>
              <a:rPr lang="tr-TR" sz="2400" dirty="0"/>
              <a:t>(</a:t>
            </a:r>
            <a:r>
              <a:rPr lang="tr-TR" sz="2400" dirty="0" err="1"/>
              <a:t>if</a:t>
            </a:r>
            <a:r>
              <a:rPr lang="tr-TR" sz="2400" dirty="0"/>
              <a:t> </a:t>
            </a:r>
            <a:r>
              <a:rPr lang="tr-TR" sz="2400" dirty="0" err="1"/>
              <a:t>helpful</a:t>
            </a:r>
            <a:r>
              <a:rPr lang="tr-TR" sz="2400" dirty="0"/>
              <a:t>).</a:t>
            </a:r>
          </a:p>
          <a:p>
            <a:pPr marL="0" indent="0">
              <a:buNone/>
            </a:pPr>
            <a:r>
              <a:rPr lang="tr-TR" sz="2400" dirty="0"/>
              <a:t>	</a:t>
            </a:r>
            <a:r>
              <a:rPr lang="tr-TR" sz="2400" dirty="0">
                <a:solidFill>
                  <a:schemeClr val="bg1">
                    <a:lumMod val="50000"/>
                  </a:schemeClr>
                </a:solidFill>
              </a:rPr>
              <a:t>(World </a:t>
            </a:r>
            <a:r>
              <a:rPr lang="tr-TR" sz="2400" dirty="0" err="1">
                <a:solidFill>
                  <a:schemeClr val="bg1">
                    <a:lumMod val="50000"/>
                  </a:schemeClr>
                </a:solidFill>
              </a:rPr>
              <a:t>Health</a:t>
            </a:r>
            <a:r>
              <a:rPr lang="tr-TR" sz="24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sz="2400" dirty="0" err="1">
                <a:solidFill>
                  <a:schemeClr val="bg1">
                    <a:lumMod val="50000"/>
                  </a:schemeClr>
                </a:solidFill>
              </a:rPr>
              <a:t>Organization</a:t>
            </a:r>
            <a:r>
              <a:rPr lang="tr-TR" sz="2400" dirty="0">
                <a:solidFill>
                  <a:schemeClr val="bg1">
                    <a:lumMod val="50000"/>
                  </a:schemeClr>
                </a:solidFill>
              </a:rPr>
              <a:t>, 2021, </a:t>
            </a:r>
            <a:r>
              <a:rPr lang="tr-TR" sz="2400" b="1" dirty="0">
                <a:solidFill>
                  <a:schemeClr val="bg1">
                    <a:lumMod val="50000"/>
                  </a:schemeClr>
                </a:solidFill>
              </a:rPr>
              <a:t>para. 3</a:t>
            </a:r>
            <a:r>
              <a:rPr lang="tr-TR" sz="24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  <a:p>
            <a:pPr marL="0" indent="0">
              <a:buNone/>
            </a:pPr>
            <a:r>
              <a:rPr lang="tr-TR" sz="2400" dirty="0">
                <a:solidFill>
                  <a:schemeClr val="bg1">
                    <a:lumMod val="50000"/>
                  </a:schemeClr>
                </a:solidFill>
              </a:rPr>
              <a:t>	(World </a:t>
            </a:r>
            <a:r>
              <a:rPr lang="tr-TR" sz="2400" dirty="0" err="1">
                <a:solidFill>
                  <a:schemeClr val="bg1">
                    <a:lumMod val="50000"/>
                  </a:schemeClr>
                </a:solidFill>
              </a:rPr>
              <a:t>Health</a:t>
            </a:r>
            <a:r>
              <a:rPr lang="tr-TR" sz="24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sz="2400" dirty="0" err="1">
                <a:solidFill>
                  <a:schemeClr val="bg1">
                    <a:lumMod val="50000"/>
                  </a:schemeClr>
                </a:solidFill>
              </a:rPr>
              <a:t>Organization</a:t>
            </a:r>
            <a:r>
              <a:rPr lang="tr-TR" sz="2400" dirty="0">
                <a:solidFill>
                  <a:schemeClr val="bg1">
                    <a:lumMod val="50000"/>
                  </a:schemeClr>
                </a:solidFill>
              </a:rPr>
              <a:t>, 2021, </a:t>
            </a:r>
            <a:r>
              <a:rPr lang="tr-TR" sz="2400" b="1" dirty="0">
                <a:solidFill>
                  <a:schemeClr val="bg1">
                    <a:lumMod val="50000"/>
                  </a:schemeClr>
                </a:solidFill>
              </a:rPr>
              <a:t>“Background” </a:t>
            </a:r>
            <a:r>
              <a:rPr lang="tr-TR" sz="2400" b="1" dirty="0" err="1">
                <a:solidFill>
                  <a:schemeClr val="bg1">
                    <a:lumMod val="50000"/>
                  </a:schemeClr>
                </a:solidFill>
              </a:rPr>
              <a:t>section</a:t>
            </a:r>
            <a:r>
              <a:rPr lang="tr-TR" sz="2400" b="1" dirty="0">
                <a:solidFill>
                  <a:schemeClr val="bg1">
                    <a:lumMod val="50000"/>
                  </a:schemeClr>
                </a:solidFill>
              </a:rPr>
              <a:t>, para. 2</a:t>
            </a:r>
            <a:r>
              <a:rPr lang="tr-TR" sz="24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299837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7994688-7A20-3993-0192-4266848F77FB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tr-TR" sz="3600" b="1" dirty="0" err="1">
                <a:latin typeface="+mn-lt"/>
              </a:rPr>
              <a:t>Page</a:t>
            </a:r>
            <a:r>
              <a:rPr lang="tr-TR" sz="3600" b="1" dirty="0">
                <a:latin typeface="+mn-lt"/>
              </a:rPr>
              <a:t> </a:t>
            </a:r>
            <a:r>
              <a:rPr lang="tr-TR" sz="3600" b="1" dirty="0" err="1">
                <a:latin typeface="+mn-lt"/>
              </a:rPr>
              <a:t>numbers</a:t>
            </a:r>
            <a:r>
              <a:rPr lang="tr-TR" sz="3600" b="1" dirty="0">
                <a:latin typeface="+mn-lt"/>
              </a:rPr>
              <a:t> in </a:t>
            </a:r>
            <a:r>
              <a:rPr lang="tr-TR" sz="3600" b="1" dirty="0" err="1">
                <a:solidFill>
                  <a:srgbClr val="C00000"/>
                </a:solidFill>
                <a:latin typeface="+mn-lt"/>
              </a:rPr>
              <a:t>paraphrases</a:t>
            </a:r>
            <a:r>
              <a:rPr lang="tr-TR" sz="3600" b="1" dirty="0">
                <a:latin typeface="+mn-lt"/>
              </a:rPr>
              <a:t> vs. </a:t>
            </a:r>
            <a:r>
              <a:rPr lang="tr-TR" sz="3600" b="1" dirty="0" err="1">
                <a:solidFill>
                  <a:srgbClr val="C00000"/>
                </a:solidFill>
                <a:latin typeface="+mn-lt"/>
              </a:rPr>
              <a:t>direct</a:t>
            </a:r>
            <a:r>
              <a:rPr lang="tr-TR" sz="3600" b="1" dirty="0">
                <a:solidFill>
                  <a:srgbClr val="C00000"/>
                </a:solidFill>
                <a:latin typeface="+mn-lt"/>
              </a:rPr>
              <a:t> </a:t>
            </a:r>
            <a:r>
              <a:rPr lang="tr-TR" sz="3600" b="1" dirty="0" err="1">
                <a:solidFill>
                  <a:srgbClr val="C00000"/>
                </a:solidFill>
                <a:latin typeface="+mn-lt"/>
              </a:rPr>
              <a:t>quotations</a:t>
            </a:r>
            <a:endParaRPr lang="tr-TR" sz="3600" b="1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90D7583-26B0-F0EE-27D0-F3C9584ED6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85015"/>
            <a:ext cx="10515600" cy="3691947"/>
          </a:xfrm>
        </p:spPr>
        <p:txBody>
          <a:bodyPr/>
          <a:lstStyle/>
          <a:p>
            <a:pPr marL="0" indent="0">
              <a:buNone/>
            </a:pPr>
            <a:r>
              <a:rPr lang="tr-TR" b="1" dirty="0" err="1"/>
              <a:t>Key</a:t>
            </a:r>
            <a:r>
              <a:rPr lang="tr-TR" b="1" dirty="0"/>
              <a:t> </a:t>
            </a:r>
            <a:r>
              <a:rPr lang="tr-TR" b="1" dirty="0" err="1"/>
              <a:t>difference</a:t>
            </a:r>
            <a:r>
              <a:rPr lang="tr-TR" b="1" dirty="0"/>
              <a:t>:</a:t>
            </a:r>
            <a:endParaRPr lang="tr-TR" dirty="0"/>
          </a:p>
          <a:p>
            <a:pPr>
              <a:buFont typeface="Arial" panose="020B0604020202020204" pitchFamily="34" charset="0"/>
              <a:buChar char="•"/>
            </a:pPr>
            <a:r>
              <a:rPr lang="tr-TR" b="1" dirty="0" err="1">
                <a:solidFill>
                  <a:srgbClr val="C00000"/>
                </a:solidFill>
              </a:rPr>
              <a:t>Paraphrase</a:t>
            </a:r>
            <a:r>
              <a:rPr lang="tr-TR" b="1" dirty="0">
                <a:solidFill>
                  <a:srgbClr val="C00000"/>
                </a:solidFill>
              </a:rPr>
              <a:t> / </a:t>
            </a:r>
            <a:r>
              <a:rPr lang="tr-TR" b="1" dirty="0" err="1">
                <a:solidFill>
                  <a:srgbClr val="C00000"/>
                </a:solidFill>
              </a:rPr>
              <a:t>summary</a:t>
            </a:r>
            <a:r>
              <a:rPr lang="tr-TR" b="1" dirty="0">
                <a:solidFill>
                  <a:srgbClr val="C00000"/>
                </a:solidFill>
              </a:rPr>
              <a:t>:</a:t>
            </a:r>
            <a:r>
              <a:rPr lang="tr-TR" dirty="0">
                <a:solidFill>
                  <a:srgbClr val="C00000"/>
                </a:solidFill>
              </a:rPr>
              <a:t> </a:t>
            </a:r>
            <a:r>
              <a:rPr lang="tr-TR" dirty="0" err="1"/>
              <a:t>page</a:t>
            </a:r>
            <a:r>
              <a:rPr lang="tr-TR" dirty="0"/>
              <a:t> </a:t>
            </a:r>
            <a:r>
              <a:rPr lang="tr-TR" dirty="0" err="1"/>
              <a:t>numbers</a:t>
            </a:r>
            <a:r>
              <a:rPr lang="tr-TR" dirty="0"/>
              <a:t> </a:t>
            </a:r>
            <a:r>
              <a:rPr lang="tr-TR" dirty="0" err="1"/>
              <a:t>are</a:t>
            </a:r>
            <a:r>
              <a:rPr lang="tr-TR" dirty="0"/>
              <a:t> </a:t>
            </a:r>
            <a:r>
              <a:rPr lang="tr-TR" b="1" dirty="0" err="1"/>
              <a:t>optional</a:t>
            </a:r>
            <a:r>
              <a:rPr lang="tr-TR" dirty="0"/>
              <a:t> (but </a:t>
            </a:r>
            <a:r>
              <a:rPr lang="tr-TR" dirty="0" err="1"/>
              <a:t>often</a:t>
            </a:r>
            <a:r>
              <a:rPr lang="tr-TR" dirty="0"/>
              <a:t> </a:t>
            </a:r>
            <a:r>
              <a:rPr lang="tr-TR" dirty="0" err="1"/>
              <a:t>helpful</a:t>
            </a:r>
            <a:r>
              <a:rPr lang="tr-TR" dirty="0"/>
              <a:t> in </a:t>
            </a:r>
            <a:r>
              <a:rPr lang="tr-TR" dirty="0" err="1"/>
              <a:t>longer</a:t>
            </a:r>
            <a:r>
              <a:rPr lang="tr-TR" dirty="0"/>
              <a:t> </a:t>
            </a:r>
            <a:r>
              <a:rPr lang="tr-TR" dirty="0" err="1"/>
              <a:t>works</a:t>
            </a:r>
            <a:r>
              <a:rPr lang="tr-TR" dirty="0"/>
              <a:t>).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b="1" dirty="0">
                <a:solidFill>
                  <a:srgbClr val="C00000"/>
                </a:solidFill>
              </a:rPr>
              <a:t>Direct </a:t>
            </a:r>
            <a:r>
              <a:rPr lang="tr-TR" b="1" dirty="0" err="1">
                <a:solidFill>
                  <a:srgbClr val="C00000"/>
                </a:solidFill>
              </a:rPr>
              <a:t>quotation</a:t>
            </a:r>
            <a:r>
              <a:rPr lang="tr-TR" b="1" dirty="0">
                <a:solidFill>
                  <a:srgbClr val="C00000"/>
                </a:solidFill>
              </a:rPr>
              <a:t>:</a:t>
            </a:r>
            <a:r>
              <a:rPr lang="tr-TR" dirty="0">
                <a:solidFill>
                  <a:srgbClr val="C00000"/>
                </a:solidFill>
              </a:rPr>
              <a:t> </a:t>
            </a:r>
            <a:r>
              <a:rPr lang="tr-TR" dirty="0" err="1"/>
              <a:t>page</a:t>
            </a:r>
            <a:r>
              <a:rPr lang="tr-TR" dirty="0"/>
              <a:t> </a:t>
            </a:r>
            <a:r>
              <a:rPr lang="tr-TR" dirty="0" err="1"/>
              <a:t>numbers</a:t>
            </a:r>
            <a:r>
              <a:rPr lang="tr-TR" dirty="0"/>
              <a:t> </a:t>
            </a:r>
            <a:r>
              <a:rPr lang="tr-TR" dirty="0" err="1"/>
              <a:t>are</a:t>
            </a:r>
            <a:r>
              <a:rPr lang="tr-TR" dirty="0"/>
              <a:t> </a:t>
            </a:r>
            <a:r>
              <a:rPr lang="tr-TR" b="1" dirty="0" err="1"/>
              <a:t>required</a:t>
            </a:r>
            <a:r>
              <a:rPr lang="tr-TR" dirty="0"/>
              <a:t> </a:t>
            </a:r>
            <a:r>
              <a:rPr lang="tr-TR" dirty="0" err="1"/>
              <a:t>when</a:t>
            </a:r>
            <a:r>
              <a:rPr lang="tr-TR" dirty="0"/>
              <a:t> the </a:t>
            </a:r>
            <a:r>
              <a:rPr lang="tr-TR" dirty="0" err="1"/>
              <a:t>source</a:t>
            </a:r>
            <a:r>
              <a:rPr lang="tr-TR" dirty="0"/>
              <a:t> has </a:t>
            </a:r>
            <a:r>
              <a:rPr lang="tr-TR" dirty="0" err="1"/>
              <a:t>pages</a:t>
            </a:r>
            <a:r>
              <a:rPr lang="tr-TR" dirty="0"/>
              <a:t>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8073445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BF26049-244F-4CE1-D06C-40CBEE6F2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8974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pPr algn="ctr"/>
            <a:r>
              <a:rPr lang="tr-TR" b="1" dirty="0" err="1">
                <a:latin typeface="+mn-lt"/>
              </a:rPr>
              <a:t>Examples</a:t>
            </a:r>
            <a:r>
              <a:rPr lang="tr-TR" b="1" dirty="0">
                <a:latin typeface="+mn-lt"/>
              </a:rPr>
              <a:t> </a:t>
            </a:r>
            <a:r>
              <a:rPr lang="tr-TR" b="1" dirty="0" err="1">
                <a:latin typeface="+mn-lt"/>
              </a:rPr>
              <a:t>for</a:t>
            </a:r>
            <a:r>
              <a:rPr lang="tr-TR" b="1" dirty="0">
                <a:latin typeface="+mn-lt"/>
              </a:rPr>
              <a:t> </a:t>
            </a:r>
            <a:r>
              <a:rPr lang="tr-TR" b="1" dirty="0" err="1">
                <a:latin typeface="+mn-lt"/>
              </a:rPr>
              <a:t>Paraphrasing</a:t>
            </a:r>
            <a:endParaRPr lang="tr-TR" b="1" dirty="0">
              <a:latin typeface="+mn-lt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3D5D6D8-DE6C-2C0E-7588-9D20C359A5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4561"/>
            <a:ext cx="10515600" cy="5032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tr-TR" b="1" dirty="0"/>
              <a:t>1) General </a:t>
            </a:r>
            <a:r>
              <a:rPr lang="tr-TR" b="1" dirty="0" err="1"/>
              <a:t>paraphrase</a:t>
            </a:r>
            <a:r>
              <a:rPr lang="tr-TR" b="1" dirty="0"/>
              <a:t> (</a:t>
            </a:r>
            <a:r>
              <a:rPr lang="tr-TR" b="1" dirty="0" err="1"/>
              <a:t>no</a:t>
            </a:r>
            <a:r>
              <a:rPr lang="tr-TR" b="1" dirty="0"/>
              <a:t> </a:t>
            </a:r>
            <a:r>
              <a:rPr lang="tr-TR" b="1" dirty="0" err="1"/>
              <a:t>page</a:t>
            </a:r>
            <a:r>
              <a:rPr lang="tr-TR" b="1" dirty="0"/>
              <a:t> </a:t>
            </a:r>
            <a:r>
              <a:rPr lang="tr-TR" b="1" dirty="0" err="1"/>
              <a:t>number</a:t>
            </a:r>
            <a:r>
              <a:rPr lang="tr-TR" b="1" dirty="0"/>
              <a:t> </a:t>
            </a:r>
            <a:r>
              <a:rPr lang="tr-TR" b="1" dirty="0" err="1"/>
              <a:t>needed</a:t>
            </a:r>
            <a:r>
              <a:rPr lang="tr-TR" b="1" dirty="0"/>
              <a:t>)</a:t>
            </a:r>
          </a:p>
          <a:p>
            <a:pPr marL="0" indent="0">
              <a:buNone/>
            </a:pPr>
            <a:r>
              <a:rPr lang="tr-TR" dirty="0">
                <a:solidFill>
                  <a:schemeClr val="bg1">
                    <a:lumMod val="50000"/>
                  </a:schemeClr>
                </a:solidFill>
              </a:rPr>
              <a:t>Self-</a:t>
            </a:r>
            <a:r>
              <a:rPr lang="tr-TR" dirty="0" err="1">
                <a:solidFill>
                  <a:schemeClr val="bg1">
                    <a:lumMod val="50000"/>
                  </a:schemeClr>
                </a:solidFill>
              </a:rPr>
              <a:t>determination</a:t>
            </a:r>
            <a:r>
              <a:rPr lang="tr-TR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dirty="0" err="1">
                <a:solidFill>
                  <a:schemeClr val="bg1">
                    <a:lumMod val="50000"/>
                  </a:schemeClr>
                </a:solidFill>
              </a:rPr>
              <a:t>theory</a:t>
            </a:r>
            <a:r>
              <a:rPr lang="tr-TR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dirty="0" err="1">
                <a:solidFill>
                  <a:schemeClr val="bg1">
                    <a:lumMod val="50000"/>
                  </a:schemeClr>
                </a:solidFill>
              </a:rPr>
              <a:t>distinguishes</a:t>
            </a:r>
            <a:r>
              <a:rPr lang="tr-TR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dirty="0" err="1">
                <a:solidFill>
                  <a:schemeClr val="bg1">
                    <a:lumMod val="50000"/>
                  </a:schemeClr>
                </a:solidFill>
              </a:rPr>
              <a:t>between</a:t>
            </a:r>
            <a:r>
              <a:rPr lang="tr-TR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dirty="0" err="1">
                <a:solidFill>
                  <a:schemeClr val="bg1">
                    <a:lumMod val="50000"/>
                  </a:schemeClr>
                </a:solidFill>
              </a:rPr>
              <a:t>different</a:t>
            </a:r>
            <a:r>
              <a:rPr lang="tr-TR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dirty="0" err="1">
                <a:solidFill>
                  <a:schemeClr val="bg1">
                    <a:lumMod val="50000"/>
                  </a:schemeClr>
                </a:solidFill>
              </a:rPr>
              <a:t>types</a:t>
            </a:r>
            <a:r>
              <a:rPr lang="tr-TR" dirty="0">
                <a:solidFill>
                  <a:schemeClr val="bg1">
                    <a:lumMod val="50000"/>
                  </a:schemeClr>
                </a:solidFill>
              </a:rPr>
              <a:t> of </a:t>
            </a:r>
            <a:r>
              <a:rPr lang="tr-TR" dirty="0" err="1">
                <a:solidFill>
                  <a:schemeClr val="bg1">
                    <a:lumMod val="50000"/>
                  </a:schemeClr>
                </a:solidFill>
              </a:rPr>
              <a:t>motivation</a:t>
            </a:r>
            <a:r>
              <a:rPr lang="tr-TR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dirty="0" err="1">
                <a:solidFill>
                  <a:schemeClr val="bg1">
                    <a:lumMod val="50000"/>
                  </a:schemeClr>
                </a:solidFill>
              </a:rPr>
              <a:t>and</a:t>
            </a:r>
            <a:r>
              <a:rPr lang="tr-TR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dirty="0" err="1">
                <a:solidFill>
                  <a:schemeClr val="bg1">
                    <a:lumMod val="50000"/>
                  </a:schemeClr>
                </a:solidFill>
              </a:rPr>
              <a:t>links</a:t>
            </a:r>
            <a:r>
              <a:rPr lang="tr-TR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dirty="0" err="1">
                <a:solidFill>
                  <a:schemeClr val="bg1">
                    <a:lumMod val="50000"/>
                  </a:schemeClr>
                </a:solidFill>
              </a:rPr>
              <a:t>them</a:t>
            </a:r>
            <a:r>
              <a:rPr lang="tr-TR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dirty="0" err="1">
                <a:solidFill>
                  <a:schemeClr val="bg1">
                    <a:lumMod val="50000"/>
                  </a:schemeClr>
                </a:solidFill>
              </a:rPr>
              <a:t>to</a:t>
            </a:r>
            <a:r>
              <a:rPr lang="tr-TR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dirty="0" err="1">
                <a:solidFill>
                  <a:schemeClr val="bg1">
                    <a:lumMod val="50000"/>
                  </a:schemeClr>
                </a:solidFill>
              </a:rPr>
              <a:t>psychological</a:t>
            </a:r>
            <a:r>
              <a:rPr lang="tr-TR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dirty="0" err="1">
                <a:solidFill>
                  <a:schemeClr val="bg1">
                    <a:lumMod val="50000"/>
                  </a:schemeClr>
                </a:solidFill>
              </a:rPr>
              <a:t>needs</a:t>
            </a:r>
            <a:r>
              <a:rPr lang="tr-TR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b="1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tr-TR" b="1" dirty="0" err="1">
                <a:solidFill>
                  <a:schemeClr val="bg1">
                    <a:lumMod val="50000"/>
                  </a:schemeClr>
                </a:solidFill>
              </a:rPr>
              <a:t>Deci</a:t>
            </a:r>
            <a:r>
              <a:rPr lang="tr-TR" b="1" dirty="0">
                <a:solidFill>
                  <a:schemeClr val="bg1">
                    <a:lumMod val="50000"/>
                  </a:schemeClr>
                </a:solidFill>
              </a:rPr>
              <a:t> &amp; </a:t>
            </a:r>
            <a:r>
              <a:rPr lang="tr-TR" b="1" dirty="0" err="1">
                <a:solidFill>
                  <a:schemeClr val="bg1">
                    <a:lumMod val="50000"/>
                  </a:schemeClr>
                </a:solidFill>
              </a:rPr>
              <a:t>Ryan</a:t>
            </a:r>
            <a:r>
              <a:rPr lang="tr-TR" b="1" dirty="0">
                <a:solidFill>
                  <a:schemeClr val="bg1">
                    <a:lumMod val="50000"/>
                  </a:schemeClr>
                </a:solidFill>
              </a:rPr>
              <a:t>, 2000)</a:t>
            </a:r>
            <a:r>
              <a:rPr lang="tr-TR" dirty="0">
                <a:solidFill>
                  <a:schemeClr val="bg1">
                    <a:lumMod val="50000"/>
                  </a:schemeClr>
                </a:solidFill>
              </a:rPr>
              <a:t>.</a:t>
            </a:r>
          </a:p>
          <a:p>
            <a:pPr marL="0" indent="0">
              <a:buNone/>
            </a:pPr>
            <a:r>
              <a:rPr lang="tr-TR" b="1" dirty="0"/>
              <a:t>2) </a:t>
            </a:r>
            <a:r>
              <a:rPr lang="tr-TR" b="1" dirty="0" err="1"/>
              <a:t>Targeted</a:t>
            </a:r>
            <a:r>
              <a:rPr lang="tr-TR" b="1" dirty="0"/>
              <a:t> </a:t>
            </a:r>
            <a:r>
              <a:rPr lang="tr-TR" b="1" dirty="0" err="1"/>
              <a:t>paraphrase</a:t>
            </a:r>
            <a:r>
              <a:rPr lang="tr-TR" b="1" dirty="0"/>
              <a:t> (</a:t>
            </a:r>
            <a:r>
              <a:rPr lang="tr-TR" b="1" dirty="0" err="1"/>
              <a:t>page</a:t>
            </a:r>
            <a:r>
              <a:rPr lang="tr-TR" b="1" dirty="0"/>
              <a:t> </a:t>
            </a:r>
            <a:r>
              <a:rPr lang="tr-TR" b="1" dirty="0" err="1"/>
              <a:t>number</a:t>
            </a:r>
            <a:r>
              <a:rPr lang="tr-TR" b="1" dirty="0"/>
              <a:t> </a:t>
            </a:r>
            <a:r>
              <a:rPr lang="tr-TR" b="1" dirty="0" err="1"/>
              <a:t>recommended</a:t>
            </a:r>
            <a:r>
              <a:rPr lang="tr-TR" b="1" dirty="0"/>
              <a:t>)</a:t>
            </a:r>
          </a:p>
          <a:p>
            <a:r>
              <a:rPr lang="tr-TR" dirty="0" err="1"/>
              <a:t>Use</a:t>
            </a:r>
            <a:r>
              <a:rPr lang="tr-TR" dirty="0"/>
              <a:t> a </a:t>
            </a:r>
            <a:r>
              <a:rPr lang="tr-TR" dirty="0" err="1"/>
              <a:t>page</a:t>
            </a:r>
            <a:r>
              <a:rPr lang="tr-TR" dirty="0"/>
              <a:t> </a:t>
            </a:r>
            <a:r>
              <a:rPr lang="tr-TR" dirty="0" err="1"/>
              <a:t>number</a:t>
            </a:r>
            <a:r>
              <a:rPr lang="tr-TR" dirty="0"/>
              <a:t> </a:t>
            </a:r>
            <a:r>
              <a:rPr lang="tr-TR" dirty="0" err="1"/>
              <a:t>when</a:t>
            </a:r>
            <a:r>
              <a:rPr lang="tr-TR" dirty="0"/>
              <a:t> </a:t>
            </a:r>
            <a:r>
              <a:rPr lang="tr-TR" dirty="0" err="1"/>
              <a:t>you’re</a:t>
            </a:r>
            <a:r>
              <a:rPr lang="tr-TR" dirty="0"/>
              <a:t> </a:t>
            </a:r>
            <a:r>
              <a:rPr lang="tr-TR" dirty="0" err="1"/>
              <a:t>paraphrasing</a:t>
            </a:r>
            <a:r>
              <a:rPr lang="tr-TR" dirty="0"/>
              <a:t> a </a:t>
            </a:r>
            <a:r>
              <a:rPr lang="tr-TR" b="1" dirty="0" err="1"/>
              <a:t>specific</a:t>
            </a:r>
            <a:r>
              <a:rPr lang="tr-TR" b="1" dirty="0"/>
              <a:t> </a:t>
            </a:r>
            <a:r>
              <a:rPr lang="tr-TR" b="1" dirty="0" err="1"/>
              <a:t>point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want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help</a:t>
            </a:r>
            <a:r>
              <a:rPr lang="tr-TR" dirty="0"/>
              <a:t> the </a:t>
            </a:r>
            <a:r>
              <a:rPr lang="tr-TR" dirty="0" err="1"/>
              <a:t>reader</a:t>
            </a:r>
            <a:r>
              <a:rPr lang="tr-TR" dirty="0"/>
              <a:t> </a:t>
            </a:r>
            <a:r>
              <a:rPr lang="tr-TR" dirty="0" err="1"/>
              <a:t>locate</a:t>
            </a:r>
            <a:r>
              <a:rPr lang="tr-TR" dirty="0"/>
              <a:t> it </a:t>
            </a:r>
            <a:r>
              <a:rPr lang="tr-TR" dirty="0" err="1"/>
              <a:t>quickly</a:t>
            </a:r>
            <a:r>
              <a:rPr lang="tr-TR" dirty="0"/>
              <a:t>, </a:t>
            </a:r>
            <a:r>
              <a:rPr lang="tr-TR" dirty="0" err="1"/>
              <a:t>especially</a:t>
            </a:r>
            <a:r>
              <a:rPr lang="tr-TR" dirty="0"/>
              <a:t> in a </a:t>
            </a:r>
            <a:r>
              <a:rPr lang="tr-TR" dirty="0" err="1"/>
              <a:t>long</a:t>
            </a:r>
            <a:r>
              <a:rPr lang="tr-TR" dirty="0"/>
              <a:t> </a:t>
            </a:r>
            <a:r>
              <a:rPr lang="tr-TR" dirty="0" err="1"/>
              <a:t>article</a:t>
            </a:r>
            <a:r>
              <a:rPr lang="tr-TR" dirty="0"/>
              <a:t>, </a:t>
            </a:r>
            <a:r>
              <a:rPr lang="tr-TR" dirty="0" err="1"/>
              <a:t>book</a:t>
            </a:r>
            <a:r>
              <a:rPr lang="tr-TR" dirty="0"/>
              <a:t>, </a:t>
            </a:r>
            <a:r>
              <a:rPr lang="tr-TR" dirty="0" err="1"/>
              <a:t>or</a:t>
            </a:r>
            <a:r>
              <a:rPr lang="tr-TR" dirty="0"/>
              <a:t> </a:t>
            </a:r>
            <a:r>
              <a:rPr lang="tr-TR" dirty="0" err="1"/>
              <a:t>report</a:t>
            </a:r>
            <a:r>
              <a:rPr lang="tr-TR" dirty="0"/>
              <a:t>. </a:t>
            </a:r>
          </a:p>
          <a:p>
            <a:pPr marL="0" indent="0">
              <a:buNone/>
            </a:pPr>
            <a:r>
              <a:rPr lang="tr-TR" dirty="0">
                <a:solidFill>
                  <a:schemeClr val="bg1">
                    <a:lumMod val="50000"/>
                  </a:schemeClr>
                </a:solidFill>
              </a:rPr>
              <a:t>Self-</a:t>
            </a:r>
            <a:r>
              <a:rPr lang="tr-TR" dirty="0" err="1">
                <a:solidFill>
                  <a:schemeClr val="bg1">
                    <a:lumMod val="50000"/>
                  </a:schemeClr>
                </a:solidFill>
              </a:rPr>
              <a:t>determination</a:t>
            </a:r>
            <a:r>
              <a:rPr lang="tr-TR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dirty="0" err="1">
                <a:solidFill>
                  <a:schemeClr val="bg1">
                    <a:lumMod val="50000"/>
                  </a:schemeClr>
                </a:solidFill>
              </a:rPr>
              <a:t>theory</a:t>
            </a:r>
            <a:r>
              <a:rPr lang="tr-TR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dirty="0" err="1">
                <a:solidFill>
                  <a:schemeClr val="bg1">
                    <a:lumMod val="50000"/>
                  </a:schemeClr>
                </a:solidFill>
              </a:rPr>
              <a:t>frames</a:t>
            </a:r>
            <a:r>
              <a:rPr lang="tr-TR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dirty="0" err="1">
                <a:solidFill>
                  <a:schemeClr val="bg1">
                    <a:lumMod val="50000"/>
                  </a:schemeClr>
                </a:solidFill>
              </a:rPr>
              <a:t>autonomy</a:t>
            </a:r>
            <a:r>
              <a:rPr lang="tr-TR" dirty="0">
                <a:solidFill>
                  <a:schemeClr val="bg1">
                    <a:lumMod val="50000"/>
                  </a:schemeClr>
                </a:solidFill>
              </a:rPr>
              <a:t> as </a:t>
            </a:r>
            <a:r>
              <a:rPr lang="tr-TR" dirty="0" err="1">
                <a:solidFill>
                  <a:schemeClr val="bg1">
                    <a:lumMod val="50000"/>
                  </a:schemeClr>
                </a:solidFill>
              </a:rPr>
              <a:t>central</a:t>
            </a:r>
            <a:r>
              <a:rPr lang="tr-TR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dirty="0" err="1">
                <a:solidFill>
                  <a:schemeClr val="bg1">
                    <a:lumMod val="50000"/>
                  </a:schemeClr>
                </a:solidFill>
              </a:rPr>
              <a:t>to</a:t>
            </a:r>
            <a:r>
              <a:rPr lang="tr-TR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dirty="0" err="1">
                <a:solidFill>
                  <a:schemeClr val="bg1">
                    <a:lumMod val="50000"/>
                  </a:schemeClr>
                </a:solidFill>
              </a:rPr>
              <a:t>sustained</a:t>
            </a:r>
            <a:r>
              <a:rPr lang="tr-TR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dirty="0" err="1">
                <a:solidFill>
                  <a:schemeClr val="bg1">
                    <a:lumMod val="50000"/>
                  </a:schemeClr>
                </a:solidFill>
              </a:rPr>
              <a:t>motivation</a:t>
            </a:r>
            <a:r>
              <a:rPr lang="tr-TR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b="1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tr-TR" b="1" dirty="0" err="1">
                <a:solidFill>
                  <a:schemeClr val="bg1">
                    <a:lumMod val="50000"/>
                  </a:schemeClr>
                </a:solidFill>
              </a:rPr>
              <a:t>Deci</a:t>
            </a:r>
            <a:r>
              <a:rPr lang="tr-TR" b="1" dirty="0">
                <a:solidFill>
                  <a:schemeClr val="bg1">
                    <a:lumMod val="50000"/>
                  </a:schemeClr>
                </a:solidFill>
              </a:rPr>
              <a:t> &amp; </a:t>
            </a:r>
            <a:r>
              <a:rPr lang="tr-TR" b="1" dirty="0" err="1">
                <a:solidFill>
                  <a:schemeClr val="bg1">
                    <a:lumMod val="50000"/>
                  </a:schemeClr>
                </a:solidFill>
              </a:rPr>
              <a:t>Ryan</a:t>
            </a:r>
            <a:r>
              <a:rPr lang="tr-TR" b="1" dirty="0">
                <a:solidFill>
                  <a:schemeClr val="bg1">
                    <a:lumMod val="50000"/>
                  </a:schemeClr>
                </a:solidFill>
              </a:rPr>
              <a:t>, 2000, p. 229)</a:t>
            </a:r>
            <a:r>
              <a:rPr lang="tr-TR" dirty="0">
                <a:solidFill>
                  <a:schemeClr val="bg1">
                    <a:lumMod val="50000"/>
                  </a:schemeClr>
                </a:solidFill>
              </a:rPr>
              <a:t>.</a:t>
            </a:r>
          </a:p>
          <a:p>
            <a:pPr>
              <a:buFont typeface="Wingdings" pitchFamily="2" charset="2"/>
              <a:buChar char="Ø"/>
            </a:pPr>
            <a:r>
              <a:rPr lang="tr-TR" b="1" dirty="0"/>
              <a:t> </a:t>
            </a:r>
            <a:r>
              <a:rPr lang="tr-TR" b="1" dirty="0" err="1"/>
              <a:t>Narrative</a:t>
            </a:r>
            <a:r>
              <a:rPr lang="tr-TR" b="1" dirty="0"/>
              <a:t> </a:t>
            </a:r>
            <a:r>
              <a:rPr lang="tr-TR" b="1" dirty="0" err="1"/>
              <a:t>option</a:t>
            </a:r>
            <a:r>
              <a:rPr lang="tr-TR" b="1" dirty="0"/>
              <a:t>:</a:t>
            </a:r>
            <a:endParaRPr lang="tr-TR" dirty="0"/>
          </a:p>
          <a:p>
            <a:pPr marL="0" indent="0">
              <a:buNone/>
            </a:pPr>
            <a:r>
              <a:rPr lang="tr-TR" b="1" dirty="0" err="1">
                <a:solidFill>
                  <a:schemeClr val="bg1">
                    <a:lumMod val="50000"/>
                  </a:schemeClr>
                </a:solidFill>
              </a:rPr>
              <a:t>Deci</a:t>
            </a:r>
            <a:r>
              <a:rPr lang="tr-TR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b="1" dirty="0" err="1">
                <a:solidFill>
                  <a:schemeClr val="bg1">
                    <a:lumMod val="50000"/>
                  </a:schemeClr>
                </a:solidFill>
              </a:rPr>
              <a:t>and</a:t>
            </a:r>
            <a:r>
              <a:rPr lang="tr-TR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b="1" dirty="0" err="1">
                <a:solidFill>
                  <a:schemeClr val="bg1">
                    <a:lumMod val="50000"/>
                  </a:schemeClr>
                </a:solidFill>
              </a:rPr>
              <a:t>Ryan</a:t>
            </a:r>
            <a:r>
              <a:rPr lang="tr-TR" b="1" dirty="0">
                <a:solidFill>
                  <a:schemeClr val="bg1">
                    <a:lumMod val="50000"/>
                  </a:schemeClr>
                </a:solidFill>
              </a:rPr>
              <a:t> (2000) </a:t>
            </a:r>
            <a:r>
              <a:rPr lang="tr-TR" dirty="0" err="1">
                <a:solidFill>
                  <a:schemeClr val="bg1">
                    <a:lumMod val="50000"/>
                  </a:schemeClr>
                </a:solidFill>
              </a:rPr>
              <a:t>describe</a:t>
            </a:r>
            <a:r>
              <a:rPr lang="tr-TR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dirty="0" err="1">
                <a:solidFill>
                  <a:schemeClr val="bg1">
                    <a:lumMod val="50000"/>
                  </a:schemeClr>
                </a:solidFill>
              </a:rPr>
              <a:t>autonomy</a:t>
            </a:r>
            <a:r>
              <a:rPr lang="tr-TR" dirty="0">
                <a:solidFill>
                  <a:schemeClr val="bg1">
                    <a:lumMod val="50000"/>
                  </a:schemeClr>
                </a:solidFill>
              </a:rPr>
              <a:t> as </a:t>
            </a:r>
            <a:r>
              <a:rPr lang="tr-TR" dirty="0" err="1">
                <a:solidFill>
                  <a:schemeClr val="bg1">
                    <a:lumMod val="50000"/>
                  </a:schemeClr>
                </a:solidFill>
              </a:rPr>
              <a:t>central</a:t>
            </a:r>
            <a:r>
              <a:rPr lang="tr-TR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dirty="0" err="1">
                <a:solidFill>
                  <a:schemeClr val="bg1">
                    <a:lumMod val="50000"/>
                  </a:schemeClr>
                </a:solidFill>
              </a:rPr>
              <a:t>to</a:t>
            </a:r>
            <a:r>
              <a:rPr lang="tr-TR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dirty="0" err="1">
                <a:solidFill>
                  <a:schemeClr val="bg1">
                    <a:lumMod val="50000"/>
                  </a:schemeClr>
                </a:solidFill>
              </a:rPr>
              <a:t>sustained</a:t>
            </a:r>
            <a:r>
              <a:rPr lang="tr-TR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dirty="0" err="1">
                <a:solidFill>
                  <a:schemeClr val="bg1">
                    <a:lumMod val="50000"/>
                  </a:schemeClr>
                </a:solidFill>
              </a:rPr>
              <a:t>motivation</a:t>
            </a:r>
            <a:r>
              <a:rPr lang="tr-TR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b="1" dirty="0">
                <a:solidFill>
                  <a:schemeClr val="bg1">
                    <a:lumMod val="50000"/>
                  </a:schemeClr>
                </a:solidFill>
              </a:rPr>
              <a:t>(p. 229)</a:t>
            </a:r>
            <a:r>
              <a:rPr lang="tr-TR" dirty="0">
                <a:solidFill>
                  <a:schemeClr val="bg1">
                    <a:lumMod val="50000"/>
                  </a:schemeClr>
                </a:solidFill>
              </a:rPr>
              <a:t>.</a:t>
            </a:r>
          </a:p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8727112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BE248FB-E16D-F5C7-77EF-661A31678F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18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b="1" dirty="0"/>
              <a:t>1) </a:t>
            </a:r>
            <a:r>
              <a:rPr lang="tr-TR" b="1" dirty="0" err="1"/>
              <a:t>Short</a:t>
            </a:r>
            <a:r>
              <a:rPr lang="tr-TR" b="1" dirty="0"/>
              <a:t> </a:t>
            </a:r>
            <a:r>
              <a:rPr lang="tr-TR" b="1" dirty="0" err="1"/>
              <a:t>quotation</a:t>
            </a:r>
            <a:r>
              <a:rPr lang="tr-TR" b="1" dirty="0"/>
              <a:t> (</a:t>
            </a:r>
            <a:r>
              <a:rPr lang="tr-TR" b="1" dirty="0" err="1"/>
              <a:t>fewer</a:t>
            </a:r>
            <a:r>
              <a:rPr lang="tr-TR" b="1" dirty="0"/>
              <a:t> </a:t>
            </a:r>
            <a:r>
              <a:rPr lang="tr-TR" b="1" dirty="0" err="1"/>
              <a:t>than</a:t>
            </a:r>
            <a:r>
              <a:rPr lang="tr-TR" b="1" dirty="0"/>
              <a:t> 40 </a:t>
            </a:r>
            <a:r>
              <a:rPr lang="tr-TR" b="1" dirty="0" err="1"/>
              <a:t>words</a:t>
            </a:r>
            <a:r>
              <a:rPr lang="tr-TR" b="1" dirty="0"/>
              <a:t>)</a:t>
            </a:r>
          </a:p>
          <a:p>
            <a:pPr marL="0" indent="0">
              <a:buNone/>
            </a:pPr>
            <a:r>
              <a:rPr lang="tr-TR" dirty="0">
                <a:solidFill>
                  <a:schemeClr val="bg1">
                    <a:lumMod val="50000"/>
                  </a:schemeClr>
                </a:solidFill>
              </a:rPr>
              <a:t>“</a:t>
            </a:r>
            <a:r>
              <a:rPr lang="tr-TR" dirty="0" err="1">
                <a:solidFill>
                  <a:schemeClr val="bg1">
                    <a:lumMod val="50000"/>
                  </a:schemeClr>
                </a:solidFill>
              </a:rPr>
              <a:t>Psychological</a:t>
            </a:r>
            <a:r>
              <a:rPr lang="tr-TR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dirty="0" err="1">
                <a:solidFill>
                  <a:schemeClr val="bg1">
                    <a:lumMod val="50000"/>
                  </a:schemeClr>
                </a:solidFill>
              </a:rPr>
              <a:t>health</a:t>
            </a:r>
            <a:r>
              <a:rPr lang="tr-TR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dirty="0" err="1">
                <a:solidFill>
                  <a:schemeClr val="bg1">
                    <a:lumMod val="50000"/>
                  </a:schemeClr>
                </a:solidFill>
              </a:rPr>
              <a:t>requires</a:t>
            </a:r>
            <a:r>
              <a:rPr lang="tr-TR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dirty="0" err="1">
                <a:solidFill>
                  <a:schemeClr val="bg1">
                    <a:lumMod val="50000"/>
                  </a:schemeClr>
                </a:solidFill>
              </a:rPr>
              <a:t>satisfaction</a:t>
            </a:r>
            <a:r>
              <a:rPr lang="tr-TR" dirty="0">
                <a:solidFill>
                  <a:schemeClr val="bg1">
                    <a:lumMod val="50000"/>
                  </a:schemeClr>
                </a:solidFill>
              </a:rPr>
              <a:t> of </a:t>
            </a:r>
            <a:r>
              <a:rPr lang="tr-TR" dirty="0" err="1">
                <a:solidFill>
                  <a:schemeClr val="bg1">
                    <a:lumMod val="50000"/>
                  </a:schemeClr>
                </a:solidFill>
              </a:rPr>
              <a:t>all</a:t>
            </a:r>
            <a:r>
              <a:rPr lang="tr-TR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dirty="0" err="1">
                <a:solidFill>
                  <a:schemeClr val="bg1">
                    <a:lumMod val="50000"/>
                  </a:schemeClr>
                </a:solidFill>
              </a:rPr>
              <a:t>three</a:t>
            </a:r>
            <a:r>
              <a:rPr lang="tr-TR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dirty="0" err="1">
                <a:solidFill>
                  <a:schemeClr val="bg1">
                    <a:lumMod val="50000"/>
                  </a:schemeClr>
                </a:solidFill>
              </a:rPr>
              <a:t>needs</a:t>
            </a:r>
            <a:r>
              <a:rPr lang="tr-TR" dirty="0">
                <a:solidFill>
                  <a:schemeClr val="bg1">
                    <a:lumMod val="50000"/>
                  </a:schemeClr>
                </a:solidFill>
              </a:rPr>
              <a:t>; </a:t>
            </a:r>
            <a:r>
              <a:rPr lang="tr-TR" dirty="0" err="1">
                <a:solidFill>
                  <a:schemeClr val="bg1">
                    <a:lumMod val="50000"/>
                  </a:schemeClr>
                </a:solidFill>
              </a:rPr>
              <a:t>one</a:t>
            </a:r>
            <a:r>
              <a:rPr lang="tr-TR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dirty="0" err="1">
                <a:solidFill>
                  <a:schemeClr val="bg1">
                    <a:lumMod val="50000"/>
                  </a:schemeClr>
                </a:solidFill>
              </a:rPr>
              <a:t>or</a:t>
            </a:r>
            <a:r>
              <a:rPr lang="tr-TR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dirty="0" err="1">
                <a:solidFill>
                  <a:schemeClr val="bg1">
                    <a:lumMod val="50000"/>
                  </a:schemeClr>
                </a:solidFill>
              </a:rPr>
              <a:t>two</a:t>
            </a:r>
            <a:r>
              <a:rPr lang="tr-TR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dirty="0" err="1">
                <a:solidFill>
                  <a:schemeClr val="bg1">
                    <a:lumMod val="50000"/>
                  </a:schemeClr>
                </a:solidFill>
              </a:rPr>
              <a:t>are</a:t>
            </a:r>
            <a:r>
              <a:rPr lang="tr-TR" dirty="0">
                <a:solidFill>
                  <a:schemeClr val="bg1">
                    <a:lumMod val="50000"/>
                  </a:schemeClr>
                </a:solidFill>
              </a:rPr>
              <a:t> not </a:t>
            </a:r>
            <a:r>
              <a:rPr lang="tr-TR" dirty="0" err="1">
                <a:solidFill>
                  <a:schemeClr val="bg1">
                    <a:lumMod val="50000"/>
                  </a:schemeClr>
                </a:solidFill>
              </a:rPr>
              <a:t>enough</a:t>
            </a:r>
            <a:r>
              <a:rPr lang="tr-TR" dirty="0">
                <a:solidFill>
                  <a:schemeClr val="bg1">
                    <a:lumMod val="50000"/>
                  </a:schemeClr>
                </a:solidFill>
              </a:rPr>
              <a:t>” </a:t>
            </a:r>
            <a:r>
              <a:rPr lang="tr-TR" b="1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tr-TR" b="1" dirty="0" err="1">
                <a:solidFill>
                  <a:schemeClr val="bg1">
                    <a:lumMod val="50000"/>
                  </a:schemeClr>
                </a:solidFill>
              </a:rPr>
              <a:t>Deci</a:t>
            </a:r>
            <a:r>
              <a:rPr lang="tr-TR" b="1" dirty="0">
                <a:solidFill>
                  <a:schemeClr val="bg1">
                    <a:lumMod val="50000"/>
                  </a:schemeClr>
                </a:solidFill>
              </a:rPr>
              <a:t> &amp; </a:t>
            </a:r>
            <a:r>
              <a:rPr lang="tr-TR" b="1" dirty="0" err="1">
                <a:solidFill>
                  <a:schemeClr val="bg1">
                    <a:lumMod val="50000"/>
                  </a:schemeClr>
                </a:solidFill>
              </a:rPr>
              <a:t>Ryan</a:t>
            </a:r>
            <a:r>
              <a:rPr lang="tr-TR" b="1" dirty="0">
                <a:solidFill>
                  <a:schemeClr val="bg1">
                    <a:lumMod val="50000"/>
                  </a:schemeClr>
                </a:solidFill>
              </a:rPr>
              <a:t>, 2000, p. 230)</a:t>
            </a:r>
            <a:r>
              <a:rPr lang="tr-TR" dirty="0">
                <a:solidFill>
                  <a:schemeClr val="bg1">
                    <a:lumMod val="50000"/>
                  </a:schemeClr>
                </a:solidFill>
              </a:rPr>
              <a:t>.</a:t>
            </a:r>
          </a:p>
          <a:p>
            <a:pPr marL="0" indent="0">
              <a:buNone/>
            </a:pPr>
            <a:endParaRPr lang="tr-TR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tr-TR" b="1" dirty="0"/>
              <a:t> </a:t>
            </a:r>
            <a:r>
              <a:rPr lang="tr-TR" b="1" dirty="0" err="1"/>
              <a:t>Narrative</a:t>
            </a:r>
            <a:r>
              <a:rPr lang="tr-TR" b="1" dirty="0"/>
              <a:t> </a:t>
            </a:r>
            <a:r>
              <a:rPr lang="tr-TR" b="1" dirty="0" err="1"/>
              <a:t>option</a:t>
            </a:r>
            <a:r>
              <a:rPr lang="tr-TR" b="1" dirty="0"/>
              <a:t>:</a:t>
            </a:r>
            <a:endParaRPr lang="tr-TR" dirty="0"/>
          </a:p>
          <a:p>
            <a:pPr marL="0" indent="0">
              <a:buNone/>
            </a:pPr>
            <a:r>
              <a:rPr lang="tr-TR" b="1" dirty="0" err="1">
                <a:solidFill>
                  <a:schemeClr val="bg1">
                    <a:lumMod val="50000"/>
                  </a:schemeClr>
                </a:solidFill>
              </a:rPr>
              <a:t>Deci</a:t>
            </a:r>
            <a:r>
              <a:rPr lang="tr-TR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b="1" dirty="0" err="1">
                <a:solidFill>
                  <a:schemeClr val="bg1">
                    <a:lumMod val="50000"/>
                  </a:schemeClr>
                </a:solidFill>
              </a:rPr>
              <a:t>and</a:t>
            </a:r>
            <a:r>
              <a:rPr lang="tr-TR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b="1" dirty="0" err="1">
                <a:solidFill>
                  <a:schemeClr val="bg1">
                    <a:lumMod val="50000"/>
                  </a:schemeClr>
                </a:solidFill>
              </a:rPr>
              <a:t>Ryan</a:t>
            </a:r>
            <a:r>
              <a:rPr lang="tr-TR" b="1" dirty="0">
                <a:solidFill>
                  <a:schemeClr val="bg1">
                    <a:lumMod val="50000"/>
                  </a:schemeClr>
                </a:solidFill>
              </a:rPr>
              <a:t> (2000) </a:t>
            </a:r>
            <a:r>
              <a:rPr lang="tr-TR" dirty="0" err="1">
                <a:solidFill>
                  <a:schemeClr val="bg1">
                    <a:lumMod val="50000"/>
                  </a:schemeClr>
                </a:solidFill>
              </a:rPr>
              <a:t>state</a:t>
            </a:r>
            <a:r>
              <a:rPr lang="tr-TR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dirty="0" err="1">
                <a:solidFill>
                  <a:schemeClr val="bg1">
                    <a:lumMod val="50000"/>
                  </a:schemeClr>
                </a:solidFill>
              </a:rPr>
              <a:t>that</a:t>
            </a:r>
            <a:r>
              <a:rPr lang="tr-TR" dirty="0">
                <a:solidFill>
                  <a:schemeClr val="bg1">
                    <a:lumMod val="50000"/>
                  </a:schemeClr>
                </a:solidFill>
              </a:rPr>
              <a:t> “</a:t>
            </a:r>
            <a:r>
              <a:rPr lang="tr-TR" dirty="0" err="1">
                <a:solidFill>
                  <a:schemeClr val="bg1">
                    <a:lumMod val="50000"/>
                  </a:schemeClr>
                </a:solidFill>
              </a:rPr>
              <a:t>Psychological</a:t>
            </a:r>
            <a:r>
              <a:rPr lang="tr-TR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dirty="0" err="1">
                <a:solidFill>
                  <a:schemeClr val="bg1">
                    <a:lumMod val="50000"/>
                  </a:schemeClr>
                </a:solidFill>
              </a:rPr>
              <a:t>health</a:t>
            </a:r>
            <a:r>
              <a:rPr lang="tr-TR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dirty="0" err="1">
                <a:solidFill>
                  <a:schemeClr val="bg1">
                    <a:lumMod val="50000"/>
                  </a:schemeClr>
                </a:solidFill>
              </a:rPr>
              <a:t>requires</a:t>
            </a:r>
            <a:r>
              <a:rPr lang="tr-TR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dirty="0" err="1">
                <a:solidFill>
                  <a:schemeClr val="bg1">
                    <a:lumMod val="50000"/>
                  </a:schemeClr>
                </a:solidFill>
              </a:rPr>
              <a:t>satisfaction</a:t>
            </a:r>
            <a:r>
              <a:rPr lang="tr-TR" dirty="0">
                <a:solidFill>
                  <a:schemeClr val="bg1">
                    <a:lumMod val="50000"/>
                  </a:schemeClr>
                </a:solidFill>
              </a:rPr>
              <a:t> of </a:t>
            </a:r>
            <a:r>
              <a:rPr lang="tr-TR" dirty="0" err="1">
                <a:solidFill>
                  <a:schemeClr val="bg1">
                    <a:lumMod val="50000"/>
                  </a:schemeClr>
                </a:solidFill>
              </a:rPr>
              <a:t>all</a:t>
            </a:r>
            <a:r>
              <a:rPr lang="tr-TR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dirty="0" err="1">
                <a:solidFill>
                  <a:schemeClr val="bg1">
                    <a:lumMod val="50000"/>
                  </a:schemeClr>
                </a:solidFill>
              </a:rPr>
              <a:t>three</a:t>
            </a:r>
            <a:r>
              <a:rPr lang="tr-TR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dirty="0" err="1">
                <a:solidFill>
                  <a:schemeClr val="bg1">
                    <a:lumMod val="50000"/>
                  </a:schemeClr>
                </a:solidFill>
              </a:rPr>
              <a:t>needs</a:t>
            </a:r>
            <a:r>
              <a:rPr lang="tr-TR" dirty="0">
                <a:solidFill>
                  <a:schemeClr val="bg1">
                    <a:lumMod val="50000"/>
                  </a:schemeClr>
                </a:solidFill>
              </a:rPr>
              <a:t>; </a:t>
            </a:r>
            <a:r>
              <a:rPr lang="tr-TR" dirty="0" err="1">
                <a:solidFill>
                  <a:schemeClr val="bg1">
                    <a:lumMod val="50000"/>
                  </a:schemeClr>
                </a:solidFill>
              </a:rPr>
              <a:t>one</a:t>
            </a:r>
            <a:r>
              <a:rPr lang="tr-TR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dirty="0" err="1">
                <a:solidFill>
                  <a:schemeClr val="bg1">
                    <a:lumMod val="50000"/>
                  </a:schemeClr>
                </a:solidFill>
              </a:rPr>
              <a:t>or</a:t>
            </a:r>
            <a:r>
              <a:rPr lang="tr-TR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dirty="0" err="1">
                <a:solidFill>
                  <a:schemeClr val="bg1">
                    <a:lumMod val="50000"/>
                  </a:schemeClr>
                </a:solidFill>
              </a:rPr>
              <a:t>two</a:t>
            </a:r>
            <a:r>
              <a:rPr lang="tr-TR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dirty="0" err="1">
                <a:solidFill>
                  <a:schemeClr val="bg1">
                    <a:lumMod val="50000"/>
                  </a:schemeClr>
                </a:solidFill>
              </a:rPr>
              <a:t>are</a:t>
            </a:r>
            <a:r>
              <a:rPr lang="tr-TR" dirty="0">
                <a:solidFill>
                  <a:schemeClr val="bg1">
                    <a:lumMod val="50000"/>
                  </a:schemeClr>
                </a:solidFill>
              </a:rPr>
              <a:t> not </a:t>
            </a:r>
            <a:r>
              <a:rPr lang="tr-TR" dirty="0" err="1">
                <a:solidFill>
                  <a:schemeClr val="bg1">
                    <a:lumMod val="50000"/>
                  </a:schemeClr>
                </a:solidFill>
              </a:rPr>
              <a:t>enough</a:t>
            </a:r>
            <a:r>
              <a:rPr lang="tr-TR" dirty="0">
                <a:solidFill>
                  <a:schemeClr val="bg1">
                    <a:lumMod val="50000"/>
                  </a:schemeClr>
                </a:solidFill>
              </a:rPr>
              <a:t>” </a:t>
            </a:r>
            <a:r>
              <a:rPr lang="tr-TR" b="1" dirty="0">
                <a:solidFill>
                  <a:schemeClr val="bg1">
                    <a:lumMod val="50000"/>
                  </a:schemeClr>
                </a:solidFill>
              </a:rPr>
              <a:t>(p. 230)</a:t>
            </a:r>
            <a:r>
              <a:rPr lang="tr-TR" dirty="0">
                <a:solidFill>
                  <a:schemeClr val="bg1">
                    <a:lumMod val="50000"/>
                  </a:schemeClr>
                </a:solidFill>
              </a:rPr>
              <a:t>.</a:t>
            </a:r>
          </a:p>
          <a:p>
            <a:pPr marL="0" indent="0">
              <a:buNone/>
            </a:pPr>
            <a:endParaRPr lang="tr-TR" b="1" dirty="0"/>
          </a:p>
          <a:p>
            <a:endParaRPr lang="tr-TR" dirty="0"/>
          </a:p>
        </p:txBody>
      </p:sp>
      <p:sp>
        <p:nvSpPr>
          <p:cNvPr id="4" name="Başlık 1">
            <a:extLst>
              <a:ext uri="{FF2B5EF4-FFF2-40B4-BE49-F238E27FC236}">
                <a16:creationId xmlns:a16="http://schemas.microsoft.com/office/drawing/2014/main" id="{A5883307-A6E1-3E36-CC61-6F5EAF6E4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8974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pPr algn="ctr"/>
            <a:r>
              <a:rPr lang="tr-TR" b="1" dirty="0" err="1">
                <a:latin typeface="+mn-lt"/>
              </a:rPr>
              <a:t>Examples</a:t>
            </a:r>
            <a:r>
              <a:rPr lang="tr-TR" b="1" dirty="0">
                <a:latin typeface="+mn-lt"/>
              </a:rPr>
              <a:t> </a:t>
            </a:r>
            <a:r>
              <a:rPr lang="tr-TR" b="1" dirty="0" err="1">
                <a:latin typeface="+mn-lt"/>
              </a:rPr>
              <a:t>for</a:t>
            </a:r>
            <a:r>
              <a:rPr lang="tr-TR" b="1" dirty="0">
                <a:latin typeface="+mn-lt"/>
              </a:rPr>
              <a:t> Direct </a:t>
            </a:r>
            <a:r>
              <a:rPr lang="tr-TR" b="1" dirty="0" err="1">
                <a:latin typeface="+mn-lt"/>
              </a:rPr>
              <a:t>Quotations</a:t>
            </a:r>
            <a:endParaRPr lang="tr-TR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015351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E86B736-6297-2871-2878-89F9BFF779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667" y="559399"/>
            <a:ext cx="10930666" cy="60350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tr-TR" b="1" dirty="0"/>
              <a:t>2) </a:t>
            </a:r>
            <a:r>
              <a:rPr lang="tr-TR" b="1" dirty="0" err="1"/>
              <a:t>Block</a:t>
            </a:r>
            <a:r>
              <a:rPr lang="tr-TR" b="1" dirty="0"/>
              <a:t> </a:t>
            </a:r>
            <a:r>
              <a:rPr lang="tr-TR" b="1" dirty="0" err="1"/>
              <a:t>quotation</a:t>
            </a:r>
            <a:r>
              <a:rPr lang="tr-TR" b="1" dirty="0"/>
              <a:t> (40+ </a:t>
            </a:r>
            <a:r>
              <a:rPr lang="tr-TR" b="1" dirty="0" err="1"/>
              <a:t>words</a:t>
            </a:r>
            <a:r>
              <a:rPr lang="tr-TR" b="1" dirty="0"/>
              <a:t>)</a:t>
            </a:r>
          </a:p>
          <a:p>
            <a:pPr marL="0" indent="0">
              <a:buNone/>
            </a:pPr>
            <a:r>
              <a:rPr lang="tr-TR" sz="2600" dirty="0" err="1">
                <a:solidFill>
                  <a:schemeClr val="bg1">
                    <a:lumMod val="50000"/>
                  </a:schemeClr>
                </a:solidFill>
              </a:rPr>
              <a:t>This</a:t>
            </a:r>
            <a:r>
              <a:rPr lang="tr-TR" sz="2600" dirty="0">
                <a:solidFill>
                  <a:schemeClr val="bg1">
                    <a:lumMod val="50000"/>
                  </a:schemeClr>
                </a:solidFill>
              </a:rPr>
              <a:t> can be </a:t>
            </a:r>
            <a:r>
              <a:rPr lang="tr-TR" sz="2600" dirty="0" err="1">
                <a:solidFill>
                  <a:schemeClr val="bg1">
                    <a:lumMod val="50000"/>
                  </a:schemeClr>
                </a:solidFill>
              </a:rPr>
              <a:t>seen</a:t>
            </a:r>
            <a:r>
              <a:rPr lang="tr-TR" sz="2600" dirty="0">
                <a:solidFill>
                  <a:schemeClr val="bg1">
                    <a:lumMod val="50000"/>
                  </a:schemeClr>
                </a:solidFill>
              </a:rPr>
              <a:t> in the </a:t>
            </a:r>
            <a:r>
              <a:rPr lang="tr-TR" sz="2600" dirty="0" err="1">
                <a:solidFill>
                  <a:schemeClr val="bg1">
                    <a:lumMod val="50000"/>
                  </a:schemeClr>
                </a:solidFill>
              </a:rPr>
              <a:t>following</a:t>
            </a:r>
            <a:r>
              <a:rPr lang="tr-TR" sz="26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sz="2600" dirty="0" err="1">
                <a:solidFill>
                  <a:schemeClr val="bg1">
                    <a:lumMod val="50000"/>
                  </a:schemeClr>
                </a:solidFill>
              </a:rPr>
              <a:t>claim</a:t>
            </a:r>
            <a:r>
              <a:rPr lang="tr-TR" sz="2600" dirty="0">
                <a:solidFill>
                  <a:schemeClr val="bg1">
                    <a:lumMod val="50000"/>
                  </a:schemeClr>
                </a:solidFill>
              </a:rPr>
              <a:t>:</a:t>
            </a:r>
          </a:p>
          <a:p>
            <a:pPr marL="457200" lvl="1" indent="0">
              <a:buNone/>
            </a:pPr>
            <a:r>
              <a:rPr lang="tr-TR" sz="2600" dirty="0">
                <a:solidFill>
                  <a:schemeClr val="bg1">
                    <a:lumMod val="50000"/>
                  </a:schemeClr>
                </a:solidFill>
              </a:rPr>
              <a:t>As </a:t>
            </a:r>
            <a:r>
              <a:rPr lang="tr-TR" sz="2600" dirty="0" err="1">
                <a:solidFill>
                  <a:schemeClr val="bg1">
                    <a:lumMod val="50000"/>
                  </a:schemeClr>
                </a:solidFill>
              </a:rPr>
              <a:t>such</a:t>
            </a:r>
            <a:r>
              <a:rPr lang="tr-TR" sz="2600" dirty="0">
                <a:solidFill>
                  <a:schemeClr val="bg1">
                    <a:lumMod val="50000"/>
                  </a:schemeClr>
                </a:solidFill>
              </a:rPr>
              <a:t>, the </a:t>
            </a:r>
            <a:r>
              <a:rPr lang="tr-TR" sz="2600" dirty="0" err="1">
                <a:solidFill>
                  <a:schemeClr val="bg1">
                    <a:lumMod val="50000"/>
                  </a:schemeClr>
                </a:solidFill>
              </a:rPr>
              <a:t>natural</a:t>
            </a:r>
            <a:r>
              <a:rPr lang="tr-TR" sz="26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sz="2600" dirty="0" err="1">
                <a:solidFill>
                  <a:schemeClr val="bg1">
                    <a:lumMod val="50000"/>
                  </a:schemeClr>
                </a:solidFill>
              </a:rPr>
              <a:t>processes</a:t>
            </a:r>
            <a:r>
              <a:rPr lang="tr-TR" sz="26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sz="2600" dirty="0" err="1">
                <a:solidFill>
                  <a:schemeClr val="bg1">
                    <a:lumMod val="50000"/>
                  </a:schemeClr>
                </a:solidFill>
              </a:rPr>
              <a:t>such</a:t>
            </a:r>
            <a:r>
              <a:rPr lang="tr-TR" sz="2600" dirty="0">
                <a:solidFill>
                  <a:schemeClr val="bg1">
                    <a:lumMod val="50000"/>
                  </a:schemeClr>
                </a:solidFill>
              </a:rPr>
              <a:t> as </a:t>
            </a:r>
            <a:r>
              <a:rPr lang="tr-TR" sz="2600" dirty="0" err="1">
                <a:solidFill>
                  <a:schemeClr val="bg1">
                    <a:lumMod val="50000"/>
                  </a:schemeClr>
                </a:solidFill>
              </a:rPr>
              <a:t>intrinsic</a:t>
            </a:r>
            <a:r>
              <a:rPr lang="tr-TR" sz="26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sz="2600" dirty="0" err="1">
                <a:solidFill>
                  <a:schemeClr val="bg1">
                    <a:lumMod val="50000"/>
                  </a:schemeClr>
                </a:solidFill>
              </a:rPr>
              <a:t>motivation</a:t>
            </a:r>
            <a:r>
              <a:rPr lang="tr-TR" sz="26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tr-TR" sz="2600" dirty="0" err="1">
                <a:solidFill>
                  <a:schemeClr val="bg1">
                    <a:lumMod val="50000"/>
                  </a:schemeClr>
                </a:solidFill>
              </a:rPr>
              <a:t>integration</a:t>
            </a:r>
            <a:r>
              <a:rPr lang="tr-TR" sz="2600" dirty="0">
                <a:solidFill>
                  <a:schemeClr val="bg1">
                    <a:lumMod val="50000"/>
                  </a:schemeClr>
                </a:solidFill>
              </a:rPr>
              <a:t> of </a:t>
            </a:r>
            <a:r>
              <a:rPr lang="tr-TR" sz="2600" dirty="0" err="1">
                <a:solidFill>
                  <a:schemeClr val="bg1">
                    <a:lumMod val="50000"/>
                  </a:schemeClr>
                </a:solidFill>
              </a:rPr>
              <a:t>extrinsic</a:t>
            </a:r>
            <a:r>
              <a:rPr lang="tr-TR" sz="26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sz="2600" dirty="0" err="1">
                <a:solidFill>
                  <a:schemeClr val="bg1">
                    <a:lumMod val="50000"/>
                  </a:schemeClr>
                </a:solidFill>
              </a:rPr>
              <a:t>regulations</a:t>
            </a:r>
            <a:r>
              <a:rPr lang="tr-TR" sz="26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tr-TR" sz="2600" dirty="0" err="1">
                <a:solidFill>
                  <a:schemeClr val="bg1">
                    <a:lumMod val="50000"/>
                  </a:schemeClr>
                </a:solidFill>
              </a:rPr>
              <a:t>and</a:t>
            </a:r>
            <a:r>
              <a:rPr lang="tr-TR" sz="26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sz="2600" dirty="0" err="1">
                <a:solidFill>
                  <a:schemeClr val="bg1">
                    <a:lumMod val="50000"/>
                  </a:schemeClr>
                </a:solidFill>
              </a:rPr>
              <a:t>movement</a:t>
            </a:r>
            <a:r>
              <a:rPr lang="tr-TR" sz="26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sz="2600" dirty="0" err="1">
                <a:solidFill>
                  <a:schemeClr val="bg1">
                    <a:lumMod val="50000"/>
                  </a:schemeClr>
                </a:solidFill>
              </a:rPr>
              <a:t>toward</a:t>
            </a:r>
            <a:r>
              <a:rPr lang="tr-TR" sz="26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sz="2600" dirty="0" err="1">
                <a:solidFill>
                  <a:schemeClr val="bg1">
                    <a:lumMod val="50000"/>
                  </a:schemeClr>
                </a:solidFill>
              </a:rPr>
              <a:t>well-being</a:t>
            </a:r>
            <a:r>
              <a:rPr lang="tr-TR" sz="26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sz="2600" dirty="0" err="1">
                <a:solidFill>
                  <a:schemeClr val="bg1">
                    <a:lumMod val="50000"/>
                  </a:schemeClr>
                </a:solidFill>
              </a:rPr>
              <a:t>are</a:t>
            </a:r>
            <a:r>
              <a:rPr lang="tr-TR" sz="26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sz="2600" dirty="0" err="1">
                <a:solidFill>
                  <a:schemeClr val="bg1">
                    <a:lumMod val="50000"/>
                  </a:schemeClr>
                </a:solidFill>
              </a:rPr>
              <a:t>theorized</a:t>
            </a:r>
            <a:r>
              <a:rPr lang="tr-TR" sz="26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sz="2600" dirty="0" err="1">
                <a:solidFill>
                  <a:schemeClr val="bg1">
                    <a:lumMod val="50000"/>
                  </a:schemeClr>
                </a:solidFill>
              </a:rPr>
              <a:t>to</a:t>
            </a:r>
            <a:r>
              <a:rPr lang="tr-TR" sz="26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sz="2600" dirty="0" err="1">
                <a:solidFill>
                  <a:schemeClr val="bg1">
                    <a:lumMod val="50000"/>
                  </a:schemeClr>
                </a:solidFill>
              </a:rPr>
              <a:t>operate</a:t>
            </a:r>
            <a:r>
              <a:rPr lang="tr-TR" sz="26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sz="2600" dirty="0" err="1">
                <a:solidFill>
                  <a:schemeClr val="bg1">
                    <a:lumMod val="50000"/>
                  </a:schemeClr>
                </a:solidFill>
              </a:rPr>
              <a:t>optimally</a:t>
            </a:r>
            <a:r>
              <a:rPr lang="tr-TR" sz="26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sz="2600" dirty="0" err="1">
                <a:solidFill>
                  <a:schemeClr val="bg1">
                    <a:lumMod val="50000"/>
                  </a:schemeClr>
                </a:solidFill>
              </a:rPr>
              <a:t>only</a:t>
            </a:r>
            <a:r>
              <a:rPr lang="tr-TR" sz="26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sz="2600" dirty="0" err="1">
                <a:solidFill>
                  <a:schemeClr val="bg1">
                    <a:lumMod val="50000"/>
                  </a:schemeClr>
                </a:solidFill>
              </a:rPr>
              <a:t>to</a:t>
            </a:r>
            <a:r>
              <a:rPr lang="tr-TR" sz="2600" dirty="0">
                <a:solidFill>
                  <a:schemeClr val="bg1">
                    <a:lumMod val="50000"/>
                  </a:schemeClr>
                </a:solidFill>
              </a:rPr>
              <a:t> the </a:t>
            </a:r>
            <a:r>
              <a:rPr lang="tr-TR" sz="2600" dirty="0" err="1">
                <a:solidFill>
                  <a:schemeClr val="bg1">
                    <a:lumMod val="50000"/>
                  </a:schemeClr>
                </a:solidFill>
              </a:rPr>
              <a:t>extent</a:t>
            </a:r>
            <a:r>
              <a:rPr lang="tr-TR" sz="26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sz="2600" dirty="0" err="1">
                <a:solidFill>
                  <a:schemeClr val="bg1">
                    <a:lumMod val="50000"/>
                  </a:schemeClr>
                </a:solidFill>
              </a:rPr>
              <a:t>that</a:t>
            </a:r>
            <a:r>
              <a:rPr lang="tr-TR" sz="2600" dirty="0">
                <a:solidFill>
                  <a:schemeClr val="bg1">
                    <a:lumMod val="50000"/>
                  </a:schemeClr>
                </a:solidFill>
              </a:rPr>
              <a:t> the </a:t>
            </a:r>
            <a:r>
              <a:rPr lang="tr-TR" sz="2600" dirty="0" err="1">
                <a:solidFill>
                  <a:schemeClr val="bg1">
                    <a:lumMod val="50000"/>
                  </a:schemeClr>
                </a:solidFill>
              </a:rPr>
              <a:t>nutriments</a:t>
            </a:r>
            <a:r>
              <a:rPr lang="tr-TR" sz="26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sz="2600" dirty="0" err="1">
                <a:solidFill>
                  <a:schemeClr val="bg1">
                    <a:lumMod val="50000"/>
                  </a:schemeClr>
                </a:solidFill>
              </a:rPr>
              <a:t>are</a:t>
            </a:r>
            <a:r>
              <a:rPr lang="tr-TR" sz="26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sz="2600" dirty="0" err="1">
                <a:solidFill>
                  <a:schemeClr val="bg1">
                    <a:lumMod val="50000"/>
                  </a:schemeClr>
                </a:solidFill>
              </a:rPr>
              <a:t>immediately</a:t>
            </a:r>
            <a:r>
              <a:rPr lang="tr-TR" sz="26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sz="2600" dirty="0" err="1">
                <a:solidFill>
                  <a:schemeClr val="bg1">
                    <a:lumMod val="50000"/>
                  </a:schemeClr>
                </a:solidFill>
              </a:rPr>
              <a:t>present</a:t>
            </a:r>
            <a:r>
              <a:rPr lang="tr-TR" sz="26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tr-TR" sz="2600" dirty="0" err="1">
                <a:solidFill>
                  <a:schemeClr val="bg1">
                    <a:lumMod val="50000"/>
                  </a:schemeClr>
                </a:solidFill>
              </a:rPr>
              <a:t>or</a:t>
            </a:r>
            <a:r>
              <a:rPr lang="tr-TR" sz="26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tr-TR" sz="2600" dirty="0" err="1">
                <a:solidFill>
                  <a:schemeClr val="bg1">
                    <a:lumMod val="50000"/>
                  </a:schemeClr>
                </a:solidFill>
              </a:rPr>
              <a:t>alternatively</a:t>
            </a:r>
            <a:r>
              <a:rPr lang="tr-TR" sz="26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tr-TR" sz="2600" dirty="0" err="1">
                <a:solidFill>
                  <a:schemeClr val="bg1">
                    <a:lumMod val="50000"/>
                  </a:schemeClr>
                </a:solidFill>
              </a:rPr>
              <a:t>to</a:t>
            </a:r>
            <a:r>
              <a:rPr lang="tr-TR" sz="2600" dirty="0">
                <a:solidFill>
                  <a:schemeClr val="bg1">
                    <a:lumMod val="50000"/>
                  </a:schemeClr>
                </a:solidFill>
              </a:rPr>
              <a:t> the </a:t>
            </a:r>
            <a:r>
              <a:rPr lang="tr-TR" sz="2600" dirty="0" err="1">
                <a:solidFill>
                  <a:schemeClr val="bg1">
                    <a:lumMod val="50000"/>
                  </a:schemeClr>
                </a:solidFill>
              </a:rPr>
              <a:t>extent</a:t>
            </a:r>
            <a:r>
              <a:rPr lang="tr-TR" sz="26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sz="2600" dirty="0" err="1">
                <a:solidFill>
                  <a:schemeClr val="bg1">
                    <a:lumMod val="50000"/>
                  </a:schemeClr>
                </a:solidFill>
              </a:rPr>
              <a:t>that</a:t>
            </a:r>
            <a:r>
              <a:rPr lang="tr-TR" sz="2600" dirty="0">
                <a:solidFill>
                  <a:schemeClr val="bg1">
                    <a:lumMod val="50000"/>
                  </a:schemeClr>
                </a:solidFill>
              </a:rPr>
              <a:t> the </a:t>
            </a:r>
            <a:r>
              <a:rPr lang="tr-TR" sz="2600" dirty="0" err="1">
                <a:solidFill>
                  <a:schemeClr val="bg1">
                    <a:lumMod val="50000"/>
                  </a:schemeClr>
                </a:solidFill>
              </a:rPr>
              <a:t>individual</a:t>
            </a:r>
            <a:r>
              <a:rPr lang="tr-TR" sz="2600" dirty="0">
                <a:solidFill>
                  <a:schemeClr val="bg1">
                    <a:lumMod val="50000"/>
                  </a:schemeClr>
                </a:solidFill>
              </a:rPr>
              <a:t> has </a:t>
            </a:r>
            <a:r>
              <a:rPr lang="tr-TR" sz="2600" dirty="0" err="1">
                <a:solidFill>
                  <a:schemeClr val="bg1">
                    <a:lumMod val="50000"/>
                  </a:schemeClr>
                </a:solidFill>
              </a:rPr>
              <a:t>sufficient</a:t>
            </a:r>
            <a:r>
              <a:rPr lang="tr-TR" sz="26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sz="2600" dirty="0" err="1">
                <a:solidFill>
                  <a:schemeClr val="bg1">
                    <a:lumMod val="50000"/>
                  </a:schemeClr>
                </a:solidFill>
              </a:rPr>
              <a:t>inner</a:t>
            </a:r>
            <a:r>
              <a:rPr lang="tr-TR" sz="26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sz="2600" dirty="0" err="1">
                <a:solidFill>
                  <a:schemeClr val="bg1">
                    <a:lumMod val="50000"/>
                  </a:schemeClr>
                </a:solidFill>
              </a:rPr>
              <a:t>resources</a:t>
            </a:r>
            <a:r>
              <a:rPr lang="tr-TR" sz="26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sz="2600" dirty="0" err="1">
                <a:solidFill>
                  <a:schemeClr val="bg1">
                    <a:lumMod val="50000"/>
                  </a:schemeClr>
                </a:solidFill>
              </a:rPr>
              <a:t>to</a:t>
            </a:r>
            <a:r>
              <a:rPr lang="tr-TR" sz="26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sz="2600" dirty="0" err="1">
                <a:solidFill>
                  <a:schemeClr val="bg1">
                    <a:lumMod val="50000"/>
                  </a:schemeClr>
                </a:solidFill>
              </a:rPr>
              <a:t>find</a:t>
            </a:r>
            <a:r>
              <a:rPr lang="tr-TR" sz="26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sz="2600" dirty="0" err="1">
                <a:solidFill>
                  <a:schemeClr val="bg1">
                    <a:lumMod val="50000"/>
                  </a:schemeClr>
                </a:solidFill>
              </a:rPr>
              <a:t>or</a:t>
            </a:r>
            <a:r>
              <a:rPr lang="tr-TR" sz="26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sz="2600" dirty="0" err="1">
                <a:solidFill>
                  <a:schemeClr val="bg1">
                    <a:lumMod val="50000"/>
                  </a:schemeClr>
                </a:solidFill>
              </a:rPr>
              <a:t>construct</a:t>
            </a:r>
            <a:r>
              <a:rPr lang="tr-TR" sz="2600" dirty="0">
                <a:solidFill>
                  <a:schemeClr val="bg1">
                    <a:lumMod val="50000"/>
                  </a:schemeClr>
                </a:solidFill>
              </a:rPr>
              <a:t> the </a:t>
            </a:r>
            <a:r>
              <a:rPr lang="tr-TR" sz="2600" dirty="0" err="1">
                <a:solidFill>
                  <a:schemeClr val="bg1">
                    <a:lumMod val="50000"/>
                  </a:schemeClr>
                </a:solidFill>
              </a:rPr>
              <a:t>necessary</a:t>
            </a:r>
            <a:r>
              <a:rPr lang="tr-TR" sz="26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sz="2600" dirty="0" err="1">
                <a:solidFill>
                  <a:schemeClr val="bg1">
                    <a:lumMod val="50000"/>
                  </a:schemeClr>
                </a:solidFill>
              </a:rPr>
              <a:t>nourishment</a:t>
            </a:r>
            <a:r>
              <a:rPr lang="tr-TR" sz="2600" dirty="0">
                <a:solidFill>
                  <a:schemeClr val="bg1">
                    <a:lumMod val="50000"/>
                  </a:schemeClr>
                </a:solidFill>
              </a:rPr>
              <a:t>. </a:t>
            </a:r>
            <a:r>
              <a:rPr lang="tr-TR" sz="2600" b="1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tr-TR" sz="2600" b="1" dirty="0" err="1">
                <a:solidFill>
                  <a:schemeClr val="bg1">
                    <a:lumMod val="50000"/>
                  </a:schemeClr>
                </a:solidFill>
              </a:rPr>
              <a:t>Deci</a:t>
            </a:r>
            <a:r>
              <a:rPr lang="tr-TR" sz="2600" b="1" dirty="0">
                <a:solidFill>
                  <a:schemeClr val="bg1">
                    <a:lumMod val="50000"/>
                  </a:schemeClr>
                </a:solidFill>
              </a:rPr>
              <a:t> &amp; </a:t>
            </a:r>
            <a:r>
              <a:rPr lang="tr-TR" sz="2600" b="1" dirty="0" err="1">
                <a:solidFill>
                  <a:schemeClr val="bg1">
                    <a:lumMod val="50000"/>
                  </a:schemeClr>
                </a:solidFill>
              </a:rPr>
              <a:t>Ryan</a:t>
            </a:r>
            <a:r>
              <a:rPr lang="tr-TR" sz="2600" b="1" dirty="0">
                <a:solidFill>
                  <a:schemeClr val="bg1">
                    <a:lumMod val="50000"/>
                  </a:schemeClr>
                </a:solidFill>
              </a:rPr>
              <a:t>, 2000, p. 229)</a:t>
            </a:r>
          </a:p>
          <a:p>
            <a:pPr marL="457200" lvl="1" indent="0">
              <a:buNone/>
            </a:pPr>
            <a:endParaRPr lang="tr-TR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tr-TR" b="1" dirty="0"/>
              <a:t> </a:t>
            </a:r>
            <a:r>
              <a:rPr lang="tr-TR" b="1" dirty="0" err="1"/>
              <a:t>Narrative</a:t>
            </a:r>
            <a:r>
              <a:rPr lang="tr-TR" b="1" dirty="0"/>
              <a:t> </a:t>
            </a:r>
            <a:r>
              <a:rPr lang="tr-TR" b="1" dirty="0" err="1"/>
              <a:t>option</a:t>
            </a:r>
            <a:r>
              <a:rPr lang="tr-TR" b="1" dirty="0"/>
              <a:t>:</a:t>
            </a:r>
            <a:endParaRPr lang="tr-TR" dirty="0"/>
          </a:p>
          <a:p>
            <a:pPr marL="0" indent="0">
              <a:buNone/>
            </a:pPr>
            <a:endParaRPr lang="tr-TR" b="1" dirty="0"/>
          </a:p>
          <a:p>
            <a:pPr marL="0" indent="0">
              <a:buNone/>
            </a:pPr>
            <a:r>
              <a:rPr lang="tr-TR" b="1" dirty="0" err="1">
                <a:solidFill>
                  <a:schemeClr val="bg1">
                    <a:lumMod val="50000"/>
                  </a:schemeClr>
                </a:solidFill>
              </a:rPr>
              <a:t>Deci</a:t>
            </a:r>
            <a:r>
              <a:rPr lang="tr-TR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b="1" dirty="0" err="1">
                <a:solidFill>
                  <a:schemeClr val="bg1">
                    <a:lumMod val="50000"/>
                  </a:schemeClr>
                </a:solidFill>
              </a:rPr>
              <a:t>and</a:t>
            </a:r>
            <a:r>
              <a:rPr lang="tr-TR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b="1" dirty="0" err="1">
                <a:solidFill>
                  <a:schemeClr val="bg1">
                    <a:lumMod val="50000"/>
                  </a:schemeClr>
                </a:solidFill>
              </a:rPr>
              <a:t>Ryan</a:t>
            </a:r>
            <a:r>
              <a:rPr lang="tr-TR" b="1" dirty="0">
                <a:solidFill>
                  <a:schemeClr val="bg1">
                    <a:lumMod val="50000"/>
                  </a:schemeClr>
                </a:solidFill>
              </a:rPr>
              <a:t> (2000) </a:t>
            </a:r>
            <a:r>
              <a:rPr lang="tr-TR" dirty="0" err="1">
                <a:solidFill>
                  <a:schemeClr val="bg1">
                    <a:lumMod val="50000"/>
                  </a:schemeClr>
                </a:solidFill>
              </a:rPr>
              <a:t>claim</a:t>
            </a:r>
            <a:r>
              <a:rPr lang="tr-TR" dirty="0">
                <a:solidFill>
                  <a:schemeClr val="bg1">
                    <a:lumMod val="50000"/>
                  </a:schemeClr>
                </a:solidFill>
              </a:rPr>
              <a:t> the </a:t>
            </a:r>
            <a:r>
              <a:rPr lang="tr-TR" dirty="0" err="1">
                <a:solidFill>
                  <a:schemeClr val="bg1">
                    <a:lumMod val="50000"/>
                  </a:schemeClr>
                </a:solidFill>
              </a:rPr>
              <a:t>following</a:t>
            </a:r>
            <a:r>
              <a:rPr lang="tr-TR" dirty="0">
                <a:solidFill>
                  <a:schemeClr val="bg1">
                    <a:lumMod val="50000"/>
                  </a:schemeClr>
                </a:solidFill>
              </a:rPr>
              <a:t>:</a:t>
            </a:r>
          </a:p>
          <a:p>
            <a:pPr marL="457200" lvl="1" indent="0">
              <a:buNone/>
            </a:pPr>
            <a:r>
              <a:rPr lang="tr-TR" sz="2800" dirty="0">
                <a:solidFill>
                  <a:schemeClr val="bg1">
                    <a:lumMod val="50000"/>
                  </a:schemeClr>
                </a:solidFill>
              </a:rPr>
              <a:t>As </a:t>
            </a:r>
            <a:r>
              <a:rPr lang="tr-TR" sz="2800" dirty="0" err="1">
                <a:solidFill>
                  <a:schemeClr val="bg1">
                    <a:lumMod val="50000"/>
                  </a:schemeClr>
                </a:solidFill>
              </a:rPr>
              <a:t>such</a:t>
            </a:r>
            <a:r>
              <a:rPr lang="tr-TR" sz="2800" dirty="0">
                <a:solidFill>
                  <a:schemeClr val="bg1">
                    <a:lumMod val="50000"/>
                  </a:schemeClr>
                </a:solidFill>
              </a:rPr>
              <a:t>, the </a:t>
            </a:r>
            <a:r>
              <a:rPr lang="tr-TR" sz="2800" dirty="0" err="1">
                <a:solidFill>
                  <a:schemeClr val="bg1">
                    <a:lumMod val="50000"/>
                  </a:schemeClr>
                </a:solidFill>
              </a:rPr>
              <a:t>natural</a:t>
            </a:r>
            <a:r>
              <a:rPr lang="tr-TR" sz="2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sz="2800" dirty="0" err="1">
                <a:solidFill>
                  <a:schemeClr val="bg1">
                    <a:lumMod val="50000"/>
                  </a:schemeClr>
                </a:solidFill>
              </a:rPr>
              <a:t>processes</a:t>
            </a:r>
            <a:r>
              <a:rPr lang="tr-TR" sz="2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sz="2800" dirty="0" err="1">
                <a:solidFill>
                  <a:schemeClr val="bg1">
                    <a:lumMod val="50000"/>
                  </a:schemeClr>
                </a:solidFill>
              </a:rPr>
              <a:t>such</a:t>
            </a:r>
            <a:r>
              <a:rPr lang="tr-TR" sz="2800" dirty="0">
                <a:solidFill>
                  <a:schemeClr val="bg1">
                    <a:lumMod val="50000"/>
                  </a:schemeClr>
                </a:solidFill>
              </a:rPr>
              <a:t> as </a:t>
            </a:r>
            <a:r>
              <a:rPr lang="tr-TR" sz="2800" dirty="0" err="1">
                <a:solidFill>
                  <a:schemeClr val="bg1">
                    <a:lumMod val="50000"/>
                  </a:schemeClr>
                </a:solidFill>
              </a:rPr>
              <a:t>intrinsic</a:t>
            </a:r>
            <a:r>
              <a:rPr lang="tr-TR" sz="2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sz="2800" dirty="0" err="1">
                <a:solidFill>
                  <a:schemeClr val="bg1">
                    <a:lumMod val="50000"/>
                  </a:schemeClr>
                </a:solidFill>
              </a:rPr>
              <a:t>motivation</a:t>
            </a:r>
            <a:r>
              <a:rPr lang="tr-TR" sz="28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tr-TR" sz="2800" dirty="0" err="1">
                <a:solidFill>
                  <a:schemeClr val="bg1">
                    <a:lumMod val="50000"/>
                  </a:schemeClr>
                </a:solidFill>
              </a:rPr>
              <a:t>integration</a:t>
            </a:r>
            <a:r>
              <a:rPr lang="tr-TR" sz="2800" dirty="0">
                <a:solidFill>
                  <a:schemeClr val="bg1">
                    <a:lumMod val="50000"/>
                  </a:schemeClr>
                </a:solidFill>
              </a:rPr>
              <a:t> of </a:t>
            </a:r>
            <a:r>
              <a:rPr lang="tr-TR" sz="2800" dirty="0" err="1">
                <a:solidFill>
                  <a:schemeClr val="bg1">
                    <a:lumMod val="50000"/>
                  </a:schemeClr>
                </a:solidFill>
              </a:rPr>
              <a:t>extrinsic</a:t>
            </a:r>
            <a:r>
              <a:rPr lang="tr-TR" sz="2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sz="2800" dirty="0" err="1">
                <a:solidFill>
                  <a:schemeClr val="bg1">
                    <a:lumMod val="50000"/>
                  </a:schemeClr>
                </a:solidFill>
              </a:rPr>
              <a:t>regulations</a:t>
            </a:r>
            <a:r>
              <a:rPr lang="tr-TR" sz="28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tr-TR" sz="2800" dirty="0" err="1">
                <a:solidFill>
                  <a:schemeClr val="bg1">
                    <a:lumMod val="50000"/>
                  </a:schemeClr>
                </a:solidFill>
              </a:rPr>
              <a:t>and</a:t>
            </a:r>
            <a:r>
              <a:rPr lang="tr-TR" sz="2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sz="2800" dirty="0" err="1">
                <a:solidFill>
                  <a:schemeClr val="bg1">
                    <a:lumMod val="50000"/>
                  </a:schemeClr>
                </a:solidFill>
              </a:rPr>
              <a:t>movement</a:t>
            </a:r>
            <a:r>
              <a:rPr lang="tr-TR" sz="2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sz="2800" dirty="0" err="1">
                <a:solidFill>
                  <a:schemeClr val="bg1">
                    <a:lumMod val="50000"/>
                  </a:schemeClr>
                </a:solidFill>
              </a:rPr>
              <a:t>toward</a:t>
            </a:r>
            <a:r>
              <a:rPr lang="tr-TR" sz="2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sz="2800" dirty="0" err="1">
                <a:solidFill>
                  <a:schemeClr val="bg1">
                    <a:lumMod val="50000"/>
                  </a:schemeClr>
                </a:solidFill>
              </a:rPr>
              <a:t>well-being</a:t>
            </a:r>
            <a:r>
              <a:rPr lang="tr-TR" sz="2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sz="2800" dirty="0" err="1">
                <a:solidFill>
                  <a:schemeClr val="bg1">
                    <a:lumMod val="50000"/>
                  </a:schemeClr>
                </a:solidFill>
              </a:rPr>
              <a:t>are</a:t>
            </a:r>
            <a:r>
              <a:rPr lang="tr-TR" sz="2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sz="2800" dirty="0" err="1">
                <a:solidFill>
                  <a:schemeClr val="bg1">
                    <a:lumMod val="50000"/>
                  </a:schemeClr>
                </a:solidFill>
              </a:rPr>
              <a:t>theorized</a:t>
            </a:r>
            <a:r>
              <a:rPr lang="tr-TR" sz="2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sz="2800" dirty="0" err="1">
                <a:solidFill>
                  <a:schemeClr val="bg1">
                    <a:lumMod val="50000"/>
                  </a:schemeClr>
                </a:solidFill>
              </a:rPr>
              <a:t>to</a:t>
            </a:r>
            <a:r>
              <a:rPr lang="tr-TR" sz="2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sz="2800" dirty="0" err="1">
                <a:solidFill>
                  <a:schemeClr val="bg1">
                    <a:lumMod val="50000"/>
                  </a:schemeClr>
                </a:solidFill>
              </a:rPr>
              <a:t>operate</a:t>
            </a:r>
            <a:r>
              <a:rPr lang="tr-TR" sz="2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sz="2800" dirty="0" err="1">
                <a:solidFill>
                  <a:schemeClr val="bg1">
                    <a:lumMod val="50000"/>
                  </a:schemeClr>
                </a:solidFill>
              </a:rPr>
              <a:t>optimally</a:t>
            </a:r>
            <a:r>
              <a:rPr lang="tr-TR" sz="2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sz="2800" dirty="0" err="1">
                <a:solidFill>
                  <a:schemeClr val="bg1">
                    <a:lumMod val="50000"/>
                  </a:schemeClr>
                </a:solidFill>
              </a:rPr>
              <a:t>only</a:t>
            </a:r>
            <a:r>
              <a:rPr lang="tr-TR" sz="2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sz="2800" dirty="0" err="1">
                <a:solidFill>
                  <a:schemeClr val="bg1">
                    <a:lumMod val="50000"/>
                  </a:schemeClr>
                </a:solidFill>
              </a:rPr>
              <a:t>to</a:t>
            </a:r>
            <a:r>
              <a:rPr lang="tr-TR" sz="2800" dirty="0">
                <a:solidFill>
                  <a:schemeClr val="bg1">
                    <a:lumMod val="50000"/>
                  </a:schemeClr>
                </a:solidFill>
              </a:rPr>
              <a:t> the </a:t>
            </a:r>
            <a:r>
              <a:rPr lang="tr-TR" sz="2800" dirty="0" err="1">
                <a:solidFill>
                  <a:schemeClr val="bg1">
                    <a:lumMod val="50000"/>
                  </a:schemeClr>
                </a:solidFill>
              </a:rPr>
              <a:t>extent</a:t>
            </a:r>
            <a:r>
              <a:rPr lang="tr-TR" sz="2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sz="2800" dirty="0" err="1">
                <a:solidFill>
                  <a:schemeClr val="bg1">
                    <a:lumMod val="50000"/>
                  </a:schemeClr>
                </a:solidFill>
              </a:rPr>
              <a:t>that</a:t>
            </a:r>
            <a:r>
              <a:rPr lang="tr-TR" sz="2800" dirty="0">
                <a:solidFill>
                  <a:schemeClr val="bg1">
                    <a:lumMod val="50000"/>
                  </a:schemeClr>
                </a:solidFill>
              </a:rPr>
              <a:t> the </a:t>
            </a:r>
            <a:r>
              <a:rPr lang="tr-TR" sz="2800" dirty="0" err="1">
                <a:solidFill>
                  <a:schemeClr val="bg1">
                    <a:lumMod val="50000"/>
                  </a:schemeClr>
                </a:solidFill>
              </a:rPr>
              <a:t>nutriments</a:t>
            </a:r>
            <a:r>
              <a:rPr lang="tr-TR" sz="2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sz="2800" dirty="0" err="1">
                <a:solidFill>
                  <a:schemeClr val="bg1">
                    <a:lumMod val="50000"/>
                  </a:schemeClr>
                </a:solidFill>
              </a:rPr>
              <a:t>are</a:t>
            </a:r>
            <a:r>
              <a:rPr lang="tr-TR" sz="2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sz="2800" dirty="0" err="1">
                <a:solidFill>
                  <a:schemeClr val="bg1">
                    <a:lumMod val="50000"/>
                  </a:schemeClr>
                </a:solidFill>
              </a:rPr>
              <a:t>immediately</a:t>
            </a:r>
            <a:r>
              <a:rPr lang="tr-TR" sz="2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sz="2800" dirty="0" err="1">
                <a:solidFill>
                  <a:schemeClr val="bg1">
                    <a:lumMod val="50000"/>
                  </a:schemeClr>
                </a:solidFill>
              </a:rPr>
              <a:t>present</a:t>
            </a:r>
            <a:r>
              <a:rPr lang="tr-TR" sz="28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tr-TR" sz="2800" dirty="0" err="1">
                <a:solidFill>
                  <a:schemeClr val="bg1">
                    <a:lumMod val="50000"/>
                  </a:schemeClr>
                </a:solidFill>
              </a:rPr>
              <a:t>or</a:t>
            </a:r>
            <a:r>
              <a:rPr lang="tr-TR" sz="28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tr-TR" sz="2800" dirty="0" err="1">
                <a:solidFill>
                  <a:schemeClr val="bg1">
                    <a:lumMod val="50000"/>
                  </a:schemeClr>
                </a:solidFill>
              </a:rPr>
              <a:t>alternatively</a:t>
            </a:r>
            <a:r>
              <a:rPr lang="tr-TR" sz="28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tr-TR" sz="2800" dirty="0" err="1">
                <a:solidFill>
                  <a:schemeClr val="bg1">
                    <a:lumMod val="50000"/>
                  </a:schemeClr>
                </a:solidFill>
              </a:rPr>
              <a:t>to</a:t>
            </a:r>
            <a:r>
              <a:rPr lang="tr-TR" sz="2800" dirty="0">
                <a:solidFill>
                  <a:schemeClr val="bg1">
                    <a:lumMod val="50000"/>
                  </a:schemeClr>
                </a:solidFill>
              </a:rPr>
              <a:t> the </a:t>
            </a:r>
            <a:r>
              <a:rPr lang="tr-TR" sz="2800" dirty="0" err="1">
                <a:solidFill>
                  <a:schemeClr val="bg1">
                    <a:lumMod val="50000"/>
                  </a:schemeClr>
                </a:solidFill>
              </a:rPr>
              <a:t>extent</a:t>
            </a:r>
            <a:r>
              <a:rPr lang="tr-TR" sz="2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sz="2800" dirty="0" err="1">
                <a:solidFill>
                  <a:schemeClr val="bg1">
                    <a:lumMod val="50000"/>
                  </a:schemeClr>
                </a:solidFill>
              </a:rPr>
              <a:t>that</a:t>
            </a:r>
            <a:r>
              <a:rPr lang="tr-TR" sz="2800" dirty="0">
                <a:solidFill>
                  <a:schemeClr val="bg1">
                    <a:lumMod val="50000"/>
                  </a:schemeClr>
                </a:solidFill>
              </a:rPr>
              <a:t> the </a:t>
            </a:r>
            <a:r>
              <a:rPr lang="tr-TR" sz="2800" dirty="0" err="1">
                <a:solidFill>
                  <a:schemeClr val="bg1">
                    <a:lumMod val="50000"/>
                  </a:schemeClr>
                </a:solidFill>
              </a:rPr>
              <a:t>individual</a:t>
            </a:r>
            <a:r>
              <a:rPr lang="tr-TR" sz="2800" dirty="0">
                <a:solidFill>
                  <a:schemeClr val="bg1">
                    <a:lumMod val="50000"/>
                  </a:schemeClr>
                </a:solidFill>
              </a:rPr>
              <a:t> has </a:t>
            </a:r>
            <a:r>
              <a:rPr lang="tr-TR" sz="2800" dirty="0" err="1">
                <a:solidFill>
                  <a:schemeClr val="bg1">
                    <a:lumMod val="50000"/>
                  </a:schemeClr>
                </a:solidFill>
              </a:rPr>
              <a:t>sufficient</a:t>
            </a:r>
            <a:r>
              <a:rPr lang="tr-TR" sz="2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sz="2800" dirty="0" err="1">
                <a:solidFill>
                  <a:schemeClr val="bg1">
                    <a:lumMod val="50000"/>
                  </a:schemeClr>
                </a:solidFill>
              </a:rPr>
              <a:t>inner</a:t>
            </a:r>
            <a:r>
              <a:rPr lang="tr-TR" sz="2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sz="2800" dirty="0" err="1">
                <a:solidFill>
                  <a:schemeClr val="bg1">
                    <a:lumMod val="50000"/>
                  </a:schemeClr>
                </a:solidFill>
              </a:rPr>
              <a:t>resources</a:t>
            </a:r>
            <a:r>
              <a:rPr lang="tr-TR" sz="2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sz="2800" dirty="0" err="1">
                <a:solidFill>
                  <a:schemeClr val="bg1">
                    <a:lumMod val="50000"/>
                  </a:schemeClr>
                </a:solidFill>
              </a:rPr>
              <a:t>to</a:t>
            </a:r>
            <a:r>
              <a:rPr lang="tr-TR" sz="2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sz="2800" dirty="0" err="1">
                <a:solidFill>
                  <a:schemeClr val="bg1">
                    <a:lumMod val="50000"/>
                  </a:schemeClr>
                </a:solidFill>
              </a:rPr>
              <a:t>find</a:t>
            </a:r>
            <a:r>
              <a:rPr lang="tr-TR" sz="2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sz="2800" dirty="0" err="1">
                <a:solidFill>
                  <a:schemeClr val="bg1">
                    <a:lumMod val="50000"/>
                  </a:schemeClr>
                </a:solidFill>
              </a:rPr>
              <a:t>or</a:t>
            </a:r>
            <a:r>
              <a:rPr lang="tr-TR" sz="2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sz="2800" dirty="0" err="1">
                <a:solidFill>
                  <a:schemeClr val="bg1">
                    <a:lumMod val="50000"/>
                  </a:schemeClr>
                </a:solidFill>
              </a:rPr>
              <a:t>construct</a:t>
            </a:r>
            <a:r>
              <a:rPr lang="tr-TR" sz="2800" dirty="0">
                <a:solidFill>
                  <a:schemeClr val="bg1">
                    <a:lumMod val="50000"/>
                  </a:schemeClr>
                </a:solidFill>
              </a:rPr>
              <a:t> the </a:t>
            </a:r>
            <a:r>
              <a:rPr lang="tr-TR" sz="2800" dirty="0" err="1">
                <a:solidFill>
                  <a:schemeClr val="bg1">
                    <a:lumMod val="50000"/>
                  </a:schemeClr>
                </a:solidFill>
              </a:rPr>
              <a:t>necessary</a:t>
            </a:r>
            <a:r>
              <a:rPr lang="tr-TR" sz="2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sz="2800" dirty="0" err="1">
                <a:solidFill>
                  <a:schemeClr val="bg1">
                    <a:lumMod val="50000"/>
                  </a:schemeClr>
                </a:solidFill>
              </a:rPr>
              <a:t>nourishment</a:t>
            </a:r>
            <a:r>
              <a:rPr lang="tr-TR" sz="2800" dirty="0">
                <a:solidFill>
                  <a:schemeClr val="bg1">
                    <a:lumMod val="50000"/>
                  </a:schemeClr>
                </a:solidFill>
              </a:rPr>
              <a:t>. </a:t>
            </a:r>
            <a:r>
              <a:rPr lang="tr-TR" sz="2800" b="1" dirty="0">
                <a:solidFill>
                  <a:schemeClr val="bg1">
                    <a:lumMod val="50000"/>
                  </a:schemeClr>
                </a:solidFill>
              </a:rPr>
              <a:t>(p. 229)</a:t>
            </a:r>
          </a:p>
        </p:txBody>
      </p:sp>
    </p:spTree>
    <p:extLst>
      <p:ext uri="{BB962C8B-B14F-4D97-AF65-F5344CB8AC3E}">
        <p14:creationId xmlns:p14="http://schemas.microsoft.com/office/powerpoint/2010/main" val="41882901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şlık 3">
            <a:extLst>
              <a:ext uri="{FF2B5EF4-FFF2-40B4-BE49-F238E27FC236}">
                <a16:creationId xmlns:a16="http://schemas.microsoft.com/office/drawing/2014/main" id="{DC8E3A5A-DA62-847A-08B6-C748629C431F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40000"/>
              <a:lumOff val="60000"/>
            </a:schemeClr>
          </a:solidFill>
        </p:spPr>
        <p:txBody>
          <a:bodyPr/>
          <a:lstStyle/>
          <a:p>
            <a:pPr algn="ctr"/>
            <a:r>
              <a:rPr lang="tr-TR" b="1" dirty="0">
                <a:latin typeface="+mn-lt"/>
              </a:rPr>
              <a:t>7) </a:t>
            </a:r>
            <a:r>
              <a:rPr lang="tr-TR" b="1" dirty="0" err="1">
                <a:latin typeface="+mn-lt"/>
              </a:rPr>
              <a:t>Citing</a:t>
            </a:r>
            <a:r>
              <a:rPr lang="tr-TR" b="1" dirty="0">
                <a:latin typeface="+mn-lt"/>
              </a:rPr>
              <a:t> </a:t>
            </a:r>
            <a:r>
              <a:rPr lang="tr-TR" b="1" dirty="0" err="1">
                <a:latin typeface="+mn-lt"/>
              </a:rPr>
              <a:t>multiple</a:t>
            </a:r>
            <a:r>
              <a:rPr lang="tr-TR" b="1" dirty="0">
                <a:latin typeface="+mn-lt"/>
              </a:rPr>
              <a:t> </a:t>
            </a:r>
            <a:r>
              <a:rPr lang="tr-TR" b="1" dirty="0" err="1">
                <a:latin typeface="+mn-lt"/>
              </a:rPr>
              <a:t>works</a:t>
            </a:r>
            <a:r>
              <a:rPr lang="tr-TR" b="1" dirty="0">
                <a:latin typeface="+mn-lt"/>
              </a:rPr>
              <a:t> at </a:t>
            </a:r>
            <a:r>
              <a:rPr lang="tr-TR" b="1" dirty="0" err="1">
                <a:latin typeface="+mn-lt"/>
              </a:rPr>
              <a:t>once</a:t>
            </a:r>
            <a:endParaRPr lang="tr-TR" dirty="0">
              <a:latin typeface="+mn-lt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115F143-1071-F53C-AABA-9E655C782C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4410"/>
            <a:ext cx="10515600" cy="487638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tr-TR" b="1" dirty="0"/>
          </a:p>
          <a:p>
            <a:pPr marL="0" indent="0">
              <a:buNone/>
            </a:pPr>
            <a:r>
              <a:rPr lang="tr-TR" b="1" dirty="0"/>
              <a:t>7.1 </a:t>
            </a:r>
            <a:r>
              <a:rPr lang="tr-TR" b="1" dirty="0" err="1"/>
              <a:t>Two</a:t>
            </a:r>
            <a:r>
              <a:rPr lang="tr-TR" b="1" dirty="0"/>
              <a:t> </a:t>
            </a:r>
            <a:r>
              <a:rPr lang="tr-TR" b="1" dirty="0" err="1"/>
              <a:t>or</a:t>
            </a:r>
            <a:r>
              <a:rPr lang="tr-TR" b="1" dirty="0"/>
              <a:t> </a:t>
            </a:r>
            <a:r>
              <a:rPr lang="tr-TR" b="1" dirty="0" err="1"/>
              <a:t>more</a:t>
            </a:r>
            <a:r>
              <a:rPr lang="tr-TR" b="1" dirty="0"/>
              <a:t> </a:t>
            </a:r>
            <a:r>
              <a:rPr lang="tr-TR" b="1" dirty="0" err="1"/>
              <a:t>works</a:t>
            </a:r>
            <a:r>
              <a:rPr lang="tr-TR" b="1" dirty="0"/>
              <a:t> in the </a:t>
            </a:r>
            <a:r>
              <a:rPr lang="tr-TR" b="1" dirty="0" err="1"/>
              <a:t>same</a:t>
            </a:r>
            <a:r>
              <a:rPr lang="tr-TR" b="1" dirty="0"/>
              <a:t> </a:t>
            </a:r>
            <a:r>
              <a:rPr lang="tr-TR" b="1" dirty="0" err="1"/>
              <a:t>parentheses</a:t>
            </a:r>
            <a:endParaRPr lang="tr-TR" b="1" dirty="0"/>
          </a:p>
          <a:p>
            <a:r>
              <a:rPr lang="tr-TR" dirty="0"/>
              <a:t>Put </a:t>
            </a:r>
            <a:r>
              <a:rPr lang="tr-TR" dirty="0" err="1"/>
              <a:t>them</a:t>
            </a:r>
            <a:r>
              <a:rPr lang="tr-TR" dirty="0"/>
              <a:t> in </a:t>
            </a:r>
            <a:r>
              <a:rPr lang="tr-TR" b="1" dirty="0" err="1"/>
              <a:t>alphabetical</a:t>
            </a:r>
            <a:r>
              <a:rPr lang="tr-TR" b="1" dirty="0"/>
              <a:t> </a:t>
            </a:r>
            <a:r>
              <a:rPr lang="tr-TR" b="1" dirty="0" err="1"/>
              <a:t>order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separate</a:t>
            </a:r>
            <a:r>
              <a:rPr lang="tr-TR" dirty="0"/>
              <a:t> </a:t>
            </a:r>
            <a:r>
              <a:rPr lang="tr-TR" dirty="0" err="1"/>
              <a:t>with</a:t>
            </a:r>
            <a:r>
              <a:rPr lang="tr-TR" dirty="0"/>
              <a:t> </a:t>
            </a:r>
            <a:r>
              <a:rPr lang="tr-TR" b="1" dirty="0" err="1"/>
              <a:t>semicolons</a:t>
            </a:r>
            <a:r>
              <a:rPr lang="tr-TR" dirty="0"/>
              <a:t>. </a:t>
            </a:r>
          </a:p>
          <a:p>
            <a:pPr marL="0" indent="0">
              <a:buNone/>
            </a:pPr>
            <a:r>
              <a:rPr lang="tr-TR" dirty="0">
                <a:solidFill>
                  <a:schemeClr val="bg1">
                    <a:lumMod val="50000"/>
                  </a:schemeClr>
                </a:solidFill>
              </a:rPr>
              <a:t>	(</a:t>
            </a:r>
            <a:r>
              <a:rPr lang="tr-TR" dirty="0" err="1">
                <a:solidFill>
                  <a:schemeClr val="bg1">
                    <a:lumMod val="50000"/>
                  </a:schemeClr>
                </a:solidFill>
              </a:rPr>
              <a:t>Deci</a:t>
            </a:r>
            <a:r>
              <a:rPr lang="tr-TR" dirty="0">
                <a:solidFill>
                  <a:schemeClr val="bg1">
                    <a:lumMod val="50000"/>
                  </a:schemeClr>
                </a:solidFill>
              </a:rPr>
              <a:t> &amp; </a:t>
            </a:r>
            <a:r>
              <a:rPr lang="tr-TR" dirty="0" err="1">
                <a:solidFill>
                  <a:schemeClr val="bg1">
                    <a:lumMod val="50000"/>
                  </a:schemeClr>
                </a:solidFill>
              </a:rPr>
              <a:t>Ryan</a:t>
            </a:r>
            <a:r>
              <a:rPr lang="tr-TR" dirty="0">
                <a:solidFill>
                  <a:schemeClr val="bg1">
                    <a:lumMod val="50000"/>
                  </a:schemeClr>
                </a:solidFill>
              </a:rPr>
              <a:t>, 2000</a:t>
            </a:r>
            <a:r>
              <a:rPr lang="tr-TR" b="1" dirty="0">
                <a:solidFill>
                  <a:schemeClr val="bg1">
                    <a:lumMod val="50000"/>
                  </a:schemeClr>
                </a:solidFill>
              </a:rPr>
              <a:t>;</a:t>
            </a:r>
            <a:r>
              <a:rPr lang="tr-TR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dirty="0" err="1">
                <a:solidFill>
                  <a:schemeClr val="bg1">
                    <a:lumMod val="50000"/>
                  </a:schemeClr>
                </a:solidFill>
              </a:rPr>
              <a:t>Pestana</a:t>
            </a:r>
            <a:r>
              <a:rPr lang="tr-TR" dirty="0">
                <a:solidFill>
                  <a:schemeClr val="bg1">
                    <a:lumMod val="50000"/>
                  </a:schemeClr>
                </a:solidFill>
              </a:rPr>
              <a:t> et al., 2020</a:t>
            </a:r>
            <a:r>
              <a:rPr lang="tr-TR" b="1" dirty="0">
                <a:solidFill>
                  <a:schemeClr val="bg1">
                    <a:lumMod val="50000"/>
                  </a:schemeClr>
                </a:solidFill>
              </a:rPr>
              <a:t>;</a:t>
            </a:r>
            <a:r>
              <a:rPr lang="tr-TR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dirty="0" err="1">
                <a:solidFill>
                  <a:schemeClr val="bg1">
                    <a:lumMod val="50000"/>
                  </a:schemeClr>
                </a:solidFill>
              </a:rPr>
              <a:t>Weir</a:t>
            </a:r>
            <a:r>
              <a:rPr lang="tr-TR" dirty="0">
                <a:solidFill>
                  <a:schemeClr val="bg1">
                    <a:lumMod val="50000"/>
                  </a:schemeClr>
                </a:solidFill>
              </a:rPr>
              <a:t>, 2017)</a:t>
            </a:r>
          </a:p>
          <a:p>
            <a:pPr marL="0" indent="0">
              <a:buNone/>
            </a:pPr>
            <a:endParaRPr lang="tr-TR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tr-TR" b="1" dirty="0"/>
              <a:t>7.2 </a:t>
            </a:r>
            <a:r>
              <a:rPr lang="tr-TR" b="1" dirty="0" err="1"/>
              <a:t>Same</a:t>
            </a:r>
            <a:r>
              <a:rPr lang="tr-TR" b="1" dirty="0"/>
              <a:t> </a:t>
            </a:r>
            <a:r>
              <a:rPr lang="tr-TR" b="1" dirty="0" err="1"/>
              <a:t>author</a:t>
            </a:r>
            <a:r>
              <a:rPr lang="tr-TR" b="1" dirty="0"/>
              <a:t>, </a:t>
            </a:r>
            <a:r>
              <a:rPr lang="tr-TR" b="1" dirty="0" err="1"/>
              <a:t>different</a:t>
            </a:r>
            <a:r>
              <a:rPr lang="tr-TR" b="1" dirty="0"/>
              <a:t> </a:t>
            </a:r>
            <a:r>
              <a:rPr lang="tr-TR" b="1" dirty="0" err="1"/>
              <a:t>years</a:t>
            </a:r>
            <a:endParaRPr lang="tr-TR" b="1" dirty="0"/>
          </a:p>
          <a:p>
            <a:r>
              <a:rPr lang="tr-TR" dirty="0" err="1"/>
              <a:t>Order</a:t>
            </a:r>
            <a:r>
              <a:rPr lang="tr-TR" dirty="0"/>
              <a:t> </a:t>
            </a:r>
            <a:r>
              <a:rPr lang="tr-TR" dirty="0" err="1"/>
              <a:t>by</a:t>
            </a:r>
            <a:r>
              <a:rPr lang="tr-TR" dirty="0"/>
              <a:t> </a:t>
            </a:r>
            <a:r>
              <a:rPr lang="tr-TR" dirty="0" err="1"/>
              <a:t>year</a:t>
            </a:r>
            <a:r>
              <a:rPr lang="tr-TR" dirty="0"/>
              <a:t> (</a:t>
            </a:r>
            <a:r>
              <a:rPr lang="tr-TR" dirty="0" err="1"/>
              <a:t>oldest</a:t>
            </a:r>
            <a:r>
              <a:rPr lang="tr-TR" dirty="0"/>
              <a:t> → </a:t>
            </a:r>
            <a:r>
              <a:rPr lang="tr-TR" dirty="0" err="1"/>
              <a:t>newest</a:t>
            </a:r>
            <a:r>
              <a:rPr lang="tr-TR" dirty="0"/>
              <a:t>): </a:t>
            </a:r>
            <a:r>
              <a:rPr lang="tr-TR" dirty="0">
                <a:solidFill>
                  <a:schemeClr val="bg1">
                    <a:lumMod val="50000"/>
                  </a:schemeClr>
                </a:solidFill>
              </a:rPr>
              <a:t>(Brown, </a:t>
            </a:r>
            <a:r>
              <a:rPr lang="tr-TR" b="1" dirty="0">
                <a:solidFill>
                  <a:schemeClr val="bg1">
                    <a:lumMod val="50000"/>
                  </a:schemeClr>
                </a:solidFill>
              </a:rPr>
              <a:t>2012</a:t>
            </a:r>
            <a:r>
              <a:rPr lang="tr-TR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tr-TR" b="1" dirty="0">
                <a:solidFill>
                  <a:schemeClr val="bg1">
                    <a:lumMod val="50000"/>
                  </a:schemeClr>
                </a:solidFill>
              </a:rPr>
              <a:t>2018</a:t>
            </a:r>
            <a:r>
              <a:rPr lang="tr-TR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  <a:p>
            <a:endParaRPr lang="tr-TR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tr-TR" b="1" dirty="0"/>
              <a:t>7.3 </a:t>
            </a:r>
            <a:r>
              <a:rPr lang="tr-TR" b="1" dirty="0" err="1"/>
              <a:t>Same</a:t>
            </a:r>
            <a:r>
              <a:rPr lang="tr-TR" b="1" dirty="0"/>
              <a:t> </a:t>
            </a:r>
            <a:r>
              <a:rPr lang="tr-TR" b="1" dirty="0" err="1"/>
              <a:t>author</a:t>
            </a:r>
            <a:r>
              <a:rPr lang="tr-TR" b="1" dirty="0"/>
              <a:t>, </a:t>
            </a:r>
            <a:r>
              <a:rPr lang="tr-TR" b="1" dirty="0" err="1"/>
              <a:t>same</a:t>
            </a:r>
            <a:r>
              <a:rPr lang="tr-TR" b="1" dirty="0"/>
              <a:t> </a:t>
            </a:r>
            <a:r>
              <a:rPr lang="tr-TR" b="1" dirty="0" err="1"/>
              <a:t>year</a:t>
            </a:r>
            <a:endParaRPr lang="tr-TR" b="1" dirty="0"/>
          </a:p>
          <a:p>
            <a:r>
              <a:rPr lang="tr-TR" dirty="0" err="1"/>
              <a:t>Add</a:t>
            </a:r>
            <a:r>
              <a:rPr lang="tr-TR" dirty="0"/>
              <a:t> </a:t>
            </a:r>
            <a:r>
              <a:rPr lang="tr-TR" b="1" dirty="0">
                <a:solidFill>
                  <a:srgbClr val="C00000"/>
                </a:solidFill>
              </a:rPr>
              <a:t>a</a:t>
            </a:r>
            <a:r>
              <a:rPr lang="tr-TR" dirty="0"/>
              <a:t>, </a:t>
            </a:r>
            <a:r>
              <a:rPr lang="tr-TR" b="1" dirty="0">
                <a:solidFill>
                  <a:srgbClr val="C00000"/>
                </a:solidFill>
              </a:rPr>
              <a:t>b</a:t>
            </a:r>
            <a:r>
              <a:rPr lang="tr-TR" dirty="0"/>
              <a:t>, </a:t>
            </a:r>
            <a:r>
              <a:rPr lang="tr-TR" b="1" dirty="0">
                <a:solidFill>
                  <a:srgbClr val="C00000"/>
                </a:solidFill>
              </a:rPr>
              <a:t>c</a:t>
            </a:r>
            <a:r>
              <a:rPr lang="tr-TR" dirty="0"/>
              <a:t> </a:t>
            </a:r>
            <a:r>
              <a:rPr lang="tr-TR" dirty="0" err="1"/>
              <a:t>after</a:t>
            </a:r>
            <a:r>
              <a:rPr lang="tr-TR" dirty="0"/>
              <a:t> the </a:t>
            </a:r>
            <a:r>
              <a:rPr lang="tr-TR" dirty="0" err="1"/>
              <a:t>year</a:t>
            </a:r>
            <a:r>
              <a:rPr lang="tr-TR" dirty="0"/>
              <a:t> in </a:t>
            </a:r>
            <a:r>
              <a:rPr lang="tr-TR" dirty="0" err="1"/>
              <a:t>both</a:t>
            </a:r>
            <a:r>
              <a:rPr lang="tr-TR" dirty="0"/>
              <a:t> in-</a:t>
            </a:r>
            <a:r>
              <a:rPr lang="tr-TR" dirty="0" err="1"/>
              <a:t>text</a:t>
            </a:r>
            <a:r>
              <a:rPr lang="tr-TR" dirty="0"/>
              <a:t> </a:t>
            </a:r>
            <a:r>
              <a:rPr lang="tr-TR" dirty="0" err="1"/>
              <a:t>citations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the </a:t>
            </a:r>
            <a:r>
              <a:rPr lang="tr-TR" dirty="0" err="1"/>
              <a:t>reference</a:t>
            </a:r>
            <a:r>
              <a:rPr lang="tr-TR" dirty="0"/>
              <a:t> </a:t>
            </a:r>
            <a:r>
              <a:rPr lang="tr-TR" dirty="0" err="1"/>
              <a:t>list</a:t>
            </a:r>
            <a:r>
              <a:rPr lang="tr-TR" dirty="0"/>
              <a:t>.</a:t>
            </a:r>
          </a:p>
          <a:p>
            <a:pPr marL="0" indent="0">
              <a:buNone/>
            </a:pPr>
            <a:r>
              <a:rPr lang="tr-TR" dirty="0">
                <a:solidFill>
                  <a:schemeClr val="bg1">
                    <a:lumMod val="50000"/>
                  </a:schemeClr>
                </a:solidFill>
              </a:rPr>
              <a:t>	(Author, 2020</a:t>
            </a:r>
            <a:r>
              <a:rPr lang="tr-TR" b="1" dirty="0">
                <a:solidFill>
                  <a:schemeClr val="bg1">
                    <a:lumMod val="50000"/>
                  </a:schemeClr>
                </a:solidFill>
              </a:rPr>
              <a:t>a</a:t>
            </a:r>
            <a:r>
              <a:rPr lang="tr-TR" dirty="0">
                <a:solidFill>
                  <a:schemeClr val="bg1">
                    <a:lumMod val="50000"/>
                  </a:schemeClr>
                </a:solidFill>
              </a:rPr>
              <a:t>) </a:t>
            </a:r>
            <a:r>
              <a:rPr lang="tr-TR" dirty="0" err="1">
                <a:solidFill>
                  <a:schemeClr val="bg1">
                    <a:lumMod val="50000"/>
                  </a:schemeClr>
                </a:solidFill>
              </a:rPr>
              <a:t>and</a:t>
            </a:r>
            <a:r>
              <a:rPr lang="tr-TR" dirty="0">
                <a:solidFill>
                  <a:schemeClr val="bg1">
                    <a:lumMod val="50000"/>
                  </a:schemeClr>
                </a:solidFill>
              </a:rPr>
              <a:t> (Author, 2020</a:t>
            </a:r>
            <a:r>
              <a:rPr lang="tr-TR" b="1" dirty="0">
                <a:solidFill>
                  <a:schemeClr val="bg1">
                    <a:lumMod val="50000"/>
                  </a:schemeClr>
                </a:solidFill>
              </a:rPr>
              <a:t>b</a:t>
            </a:r>
            <a:r>
              <a:rPr lang="tr-TR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636745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CCD74C1-5F4F-0E93-B50C-6237842890B9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40000"/>
              <a:lumOff val="60000"/>
            </a:schemeClr>
          </a:solidFill>
        </p:spPr>
        <p:txBody>
          <a:bodyPr/>
          <a:lstStyle/>
          <a:p>
            <a:pPr algn="ctr"/>
            <a:r>
              <a:rPr lang="tr-TR" b="1" dirty="0">
                <a:latin typeface="+mn-lt"/>
              </a:rPr>
              <a:t>8) </a:t>
            </a:r>
            <a:r>
              <a:rPr lang="tr-TR" b="1" dirty="0" err="1">
                <a:latin typeface="+mn-lt"/>
              </a:rPr>
              <a:t>Secondary</a:t>
            </a:r>
            <a:r>
              <a:rPr lang="tr-TR" b="1" dirty="0">
                <a:latin typeface="+mn-lt"/>
              </a:rPr>
              <a:t> </a:t>
            </a:r>
            <a:r>
              <a:rPr lang="tr-TR" b="1" dirty="0" err="1">
                <a:latin typeface="+mn-lt"/>
              </a:rPr>
              <a:t>sources</a:t>
            </a:r>
            <a:r>
              <a:rPr lang="tr-TR" b="1" dirty="0">
                <a:latin typeface="+mn-lt"/>
              </a:rPr>
              <a:t> (“as </a:t>
            </a:r>
            <a:r>
              <a:rPr lang="tr-TR" b="1" dirty="0" err="1">
                <a:latin typeface="+mn-lt"/>
              </a:rPr>
              <a:t>cited</a:t>
            </a:r>
            <a:r>
              <a:rPr lang="tr-TR" b="1" dirty="0">
                <a:latin typeface="+mn-lt"/>
              </a:rPr>
              <a:t> in”)</a:t>
            </a:r>
            <a:endParaRPr lang="tr-TR" dirty="0">
              <a:latin typeface="+mn-lt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4B3D73E-2AEC-6BA2-8B81-796EB16113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8505"/>
            <a:ext cx="10515600" cy="4351338"/>
          </a:xfrm>
        </p:spPr>
        <p:txBody>
          <a:bodyPr/>
          <a:lstStyle/>
          <a:p>
            <a:r>
              <a:rPr lang="tr-TR" dirty="0" err="1"/>
              <a:t>Use</a:t>
            </a:r>
            <a:r>
              <a:rPr lang="tr-TR" dirty="0"/>
              <a:t> </a:t>
            </a:r>
            <a:r>
              <a:rPr lang="tr-TR" dirty="0" err="1"/>
              <a:t>this</a:t>
            </a:r>
            <a:r>
              <a:rPr lang="tr-TR" dirty="0"/>
              <a:t> </a:t>
            </a:r>
            <a:r>
              <a:rPr lang="tr-TR" b="1" dirty="0" err="1"/>
              <a:t>only</a:t>
            </a:r>
            <a:r>
              <a:rPr lang="tr-TR" b="1" dirty="0"/>
              <a:t> </a:t>
            </a:r>
            <a:r>
              <a:rPr lang="tr-TR" b="1" dirty="0" err="1"/>
              <a:t>when</a:t>
            </a:r>
            <a:r>
              <a:rPr lang="tr-TR" b="1" dirty="0"/>
              <a:t> </a:t>
            </a:r>
            <a:r>
              <a:rPr lang="tr-TR" b="1" dirty="0" err="1"/>
              <a:t>you</a:t>
            </a:r>
            <a:r>
              <a:rPr lang="tr-TR" b="1" dirty="0"/>
              <a:t> </a:t>
            </a:r>
            <a:r>
              <a:rPr lang="tr-TR" b="1" dirty="0" err="1"/>
              <a:t>did</a:t>
            </a:r>
            <a:r>
              <a:rPr lang="tr-TR" b="1" dirty="0"/>
              <a:t> not </a:t>
            </a:r>
            <a:r>
              <a:rPr lang="tr-TR" b="1" dirty="0" err="1"/>
              <a:t>read</a:t>
            </a:r>
            <a:r>
              <a:rPr lang="tr-TR" b="1" dirty="0"/>
              <a:t> the </a:t>
            </a:r>
            <a:r>
              <a:rPr lang="tr-TR" b="1" dirty="0" err="1"/>
              <a:t>original</a:t>
            </a:r>
            <a:r>
              <a:rPr lang="tr-TR" b="1" dirty="0"/>
              <a:t> </a:t>
            </a:r>
            <a:r>
              <a:rPr lang="tr-TR" b="1" dirty="0" err="1"/>
              <a:t>work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you</a:t>
            </a:r>
            <a:r>
              <a:rPr lang="tr-TR" dirty="0"/>
              <a:t> </a:t>
            </a:r>
            <a:r>
              <a:rPr lang="tr-TR" dirty="0" err="1"/>
              <a:t>are</a:t>
            </a:r>
            <a:r>
              <a:rPr lang="tr-TR" dirty="0"/>
              <a:t> </a:t>
            </a:r>
            <a:r>
              <a:rPr lang="tr-TR" dirty="0" err="1"/>
              <a:t>relying</a:t>
            </a:r>
            <a:r>
              <a:rPr lang="tr-TR" dirty="0"/>
              <a:t> on a </a:t>
            </a:r>
            <a:r>
              <a:rPr lang="tr-TR" dirty="0" err="1"/>
              <a:t>secondary</a:t>
            </a:r>
            <a:r>
              <a:rPr lang="tr-TR" dirty="0"/>
              <a:t> </a:t>
            </a:r>
            <a:r>
              <a:rPr lang="tr-TR" dirty="0" err="1"/>
              <a:t>author’s</a:t>
            </a:r>
            <a:r>
              <a:rPr lang="tr-TR" dirty="0"/>
              <a:t> </a:t>
            </a:r>
            <a:r>
              <a:rPr lang="tr-TR" dirty="0" err="1"/>
              <a:t>discussion</a:t>
            </a:r>
            <a:r>
              <a:rPr lang="tr-TR" dirty="0"/>
              <a:t> of it. </a:t>
            </a:r>
          </a:p>
          <a:p>
            <a:r>
              <a:rPr lang="tr-TR" dirty="0" err="1"/>
              <a:t>In</a:t>
            </a:r>
            <a:r>
              <a:rPr lang="tr-TR" dirty="0"/>
              <a:t> the </a:t>
            </a:r>
            <a:r>
              <a:rPr lang="tr-TR" dirty="0" err="1"/>
              <a:t>text</a:t>
            </a:r>
            <a:r>
              <a:rPr lang="tr-TR" dirty="0"/>
              <a:t>, name the </a:t>
            </a:r>
            <a:r>
              <a:rPr lang="tr-TR" dirty="0" err="1"/>
              <a:t>original</a:t>
            </a:r>
            <a:r>
              <a:rPr lang="tr-TR" dirty="0"/>
              <a:t> </a:t>
            </a:r>
            <a:r>
              <a:rPr lang="tr-TR" dirty="0" err="1"/>
              <a:t>source</a:t>
            </a:r>
            <a:r>
              <a:rPr lang="tr-TR" dirty="0"/>
              <a:t>, </a:t>
            </a:r>
            <a:r>
              <a:rPr lang="tr-TR" dirty="0" err="1"/>
              <a:t>then</a:t>
            </a:r>
            <a:r>
              <a:rPr lang="tr-TR" dirty="0"/>
              <a:t> </a:t>
            </a:r>
            <a:r>
              <a:rPr lang="tr-TR" dirty="0" err="1"/>
              <a:t>write</a:t>
            </a:r>
            <a:r>
              <a:rPr lang="tr-TR" dirty="0"/>
              <a:t> </a:t>
            </a:r>
            <a:r>
              <a:rPr lang="tr-TR" b="1" dirty="0">
                <a:solidFill>
                  <a:srgbClr val="C00000"/>
                </a:solidFill>
              </a:rPr>
              <a:t>as </a:t>
            </a:r>
            <a:r>
              <a:rPr lang="tr-TR" b="1" dirty="0" err="1">
                <a:solidFill>
                  <a:srgbClr val="C00000"/>
                </a:solidFill>
              </a:rPr>
              <a:t>cited</a:t>
            </a:r>
            <a:r>
              <a:rPr lang="tr-TR" b="1" dirty="0">
                <a:solidFill>
                  <a:srgbClr val="C00000"/>
                </a:solidFill>
              </a:rPr>
              <a:t> in</a:t>
            </a:r>
            <a:r>
              <a:rPr lang="tr-TR" dirty="0">
                <a:solidFill>
                  <a:srgbClr val="C00000"/>
                </a:solidFill>
              </a:rPr>
              <a:t> </a:t>
            </a:r>
            <a:r>
              <a:rPr lang="tr-TR" dirty="0"/>
              <a:t>+ the </a:t>
            </a:r>
            <a:r>
              <a:rPr lang="tr-TR" dirty="0" err="1"/>
              <a:t>source</a:t>
            </a:r>
            <a:r>
              <a:rPr lang="tr-TR" dirty="0"/>
              <a:t> </a:t>
            </a:r>
            <a:r>
              <a:rPr lang="tr-TR" dirty="0" err="1"/>
              <a:t>you</a:t>
            </a:r>
            <a:r>
              <a:rPr lang="tr-TR" dirty="0"/>
              <a:t> </a:t>
            </a:r>
            <a:r>
              <a:rPr lang="tr-TR" dirty="0" err="1"/>
              <a:t>actually</a:t>
            </a:r>
            <a:r>
              <a:rPr lang="tr-TR" dirty="0"/>
              <a:t> </a:t>
            </a:r>
            <a:r>
              <a:rPr lang="tr-TR" dirty="0" err="1"/>
              <a:t>read</a:t>
            </a:r>
            <a:r>
              <a:rPr lang="tr-TR" dirty="0"/>
              <a:t>. </a:t>
            </a:r>
            <a:r>
              <a:rPr lang="tr-TR" dirty="0" err="1"/>
              <a:t>In</a:t>
            </a:r>
            <a:r>
              <a:rPr lang="tr-TR" dirty="0"/>
              <a:t> the </a:t>
            </a:r>
            <a:r>
              <a:rPr lang="tr-TR" dirty="0" err="1"/>
              <a:t>reference</a:t>
            </a:r>
            <a:r>
              <a:rPr lang="tr-TR" dirty="0"/>
              <a:t> </a:t>
            </a:r>
            <a:r>
              <a:rPr lang="tr-TR" dirty="0" err="1"/>
              <a:t>list</a:t>
            </a:r>
            <a:r>
              <a:rPr lang="tr-TR" dirty="0"/>
              <a:t>, </a:t>
            </a:r>
            <a:r>
              <a:rPr lang="tr-TR" dirty="0" err="1"/>
              <a:t>include</a:t>
            </a:r>
            <a:r>
              <a:rPr lang="tr-TR" dirty="0"/>
              <a:t> </a:t>
            </a:r>
            <a:r>
              <a:rPr lang="tr-TR" b="1" dirty="0" err="1"/>
              <a:t>only</a:t>
            </a:r>
            <a:r>
              <a:rPr lang="tr-TR" b="1" dirty="0"/>
              <a:t> the </a:t>
            </a:r>
            <a:r>
              <a:rPr lang="tr-TR" b="1" dirty="0" err="1"/>
              <a:t>source</a:t>
            </a:r>
            <a:r>
              <a:rPr lang="tr-TR" b="1" dirty="0"/>
              <a:t> </a:t>
            </a:r>
            <a:r>
              <a:rPr lang="tr-TR" b="1" dirty="0" err="1"/>
              <a:t>you</a:t>
            </a:r>
            <a:r>
              <a:rPr lang="tr-TR" b="1" dirty="0"/>
              <a:t> </a:t>
            </a:r>
            <a:r>
              <a:rPr lang="tr-TR" b="1" dirty="0" err="1"/>
              <a:t>actually</a:t>
            </a:r>
            <a:r>
              <a:rPr lang="tr-TR" b="1" dirty="0"/>
              <a:t> </a:t>
            </a:r>
            <a:r>
              <a:rPr lang="tr-TR" b="1" dirty="0" err="1"/>
              <a:t>read</a:t>
            </a:r>
            <a:r>
              <a:rPr lang="tr-TR" dirty="0"/>
              <a:t>. 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dirty="0" err="1"/>
              <a:t>Example</a:t>
            </a:r>
            <a:r>
              <a:rPr lang="tr-TR" dirty="0"/>
              <a:t>:  </a:t>
            </a:r>
            <a:r>
              <a:rPr lang="tr-TR" dirty="0">
                <a:solidFill>
                  <a:schemeClr val="bg1">
                    <a:lumMod val="50000"/>
                  </a:schemeClr>
                </a:solidFill>
              </a:rPr>
              <a:t>Freud (1900, </a:t>
            </a:r>
            <a:r>
              <a:rPr lang="tr-TR" b="1" dirty="0">
                <a:solidFill>
                  <a:schemeClr val="bg1">
                    <a:lumMod val="50000"/>
                  </a:schemeClr>
                </a:solidFill>
              </a:rPr>
              <a:t>as </a:t>
            </a:r>
            <a:r>
              <a:rPr lang="tr-TR" b="1" dirty="0" err="1">
                <a:solidFill>
                  <a:schemeClr val="bg1">
                    <a:lumMod val="50000"/>
                  </a:schemeClr>
                </a:solidFill>
              </a:rPr>
              <a:t>cited</a:t>
            </a:r>
            <a:r>
              <a:rPr lang="tr-TR" b="1" dirty="0">
                <a:solidFill>
                  <a:schemeClr val="bg1">
                    <a:lumMod val="50000"/>
                  </a:schemeClr>
                </a:solidFill>
              </a:rPr>
              <a:t> in </a:t>
            </a:r>
            <a:r>
              <a:rPr lang="tr-TR" dirty="0" err="1">
                <a:solidFill>
                  <a:schemeClr val="bg1">
                    <a:lumMod val="50000"/>
                  </a:schemeClr>
                </a:solidFill>
              </a:rPr>
              <a:t>Deci</a:t>
            </a:r>
            <a:r>
              <a:rPr lang="tr-TR" dirty="0">
                <a:solidFill>
                  <a:schemeClr val="bg1">
                    <a:lumMod val="50000"/>
                  </a:schemeClr>
                </a:solidFill>
              </a:rPr>
              <a:t> &amp; </a:t>
            </a:r>
            <a:r>
              <a:rPr lang="tr-TR" dirty="0" err="1">
                <a:solidFill>
                  <a:schemeClr val="bg1">
                    <a:lumMod val="50000"/>
                  </a:schemeClr>
                </a:solidFill>
              </a:rPr>
              <a:t>Ryan</a:t>
            </a:r>
            <a:r>
              <a:rPr lang="tr-TR" dirty="0">
                <a:solidFill>
                  <a:schemeClr val="bg1">
                    <a:lumMod val="50000"/>
                  </a:schemeClr>
                </a:solidFill>
              </a:rPr>
              <a:t>, 2000) …</a:t>
            </a:r>
          </a:p>
          <a:p>
            <a:pPr marL="0" indent="0">
              <a:buNone/>
            </a:pPr>
            <a:r>
              <a:rPr lang="tr-TR" dirty="0" err="1"/>
              <a:t>In</a:t>
            </a:r>
            <a:r>
              <a:rPr lang="tr-TR" dirty="0"/>
              <a:t> the </a:t>
            </a:r>
            <a:r>
              <a:rPr lang="tr-TR" dirty="0" err="1"/>
              <a:t>reference</a:t>
            </a:r>
            <a:r>
              <a:rPr lang="tr-TR" dirty="0"/>
              <a:t> </a:t>
            </a:r>
            <a:r>
              <a:rPr lang="tr-TR" dirty="0" err="1"/>
              <a:t>list</a:t>
            </a:r>
            <a:r>
              <a:rPr lang="tr-TR" dirty="0"/>
              <a:t>: </a:t>
            </a:r>
            <a:r>
              <a:rPr lang="tr-TR" dirty="0" err="1"/>
              <a:t>include</a:t>
            </a:r>
            <a:r>
              <a:rPr lang="tr-TR" dirty="0"/>
              <a:t> </a:t>
            </a:r>
            <a:r>
              <a:rPr lang="tr-TR" dirty="0" err="1">
                <a:solidFill>
                  <a:schemeClr val="bg1">
                    <a:lumMod val="50000"/>
                  </a:schemeClr>
                </a:solidFill>
              </a:rPr>
              <a:t>Deci</a:t>
            </a:r>
            <a:r>
              <a:rPr lang="tr-TR" dirty="0">
                <a:solidFill>
                  <a:schemeClr val="bg1">
                    <a:lumMod val="50000"/>
                  </a:schemeClr>
                </a:solidFill>
              </a:rPr>
              <a:t> &amp; </a:t>
            </a:r>
            <a:r>
              <a:rPr lang="tr-TR" dirty="0" err="1">
                <a:solidFill>
                  <a:schemeClr val="bg1">
                    <a:lumMod val="50000"/>
                  </a:schemeClr>
                </a:solidFill>
              </a:rPr>
              <a:t>Ryan</a:t>
            </a:r>
            <a:r>
              <a:rPr lang="tr-TR" dirty="0">
                <a:solidFill>
                  <a:schemeClr val="bg1">
                    <a:lumMod val="50000"/>
                  </a:schemeClr>
                </a:solidFill>
              </a:rPr>
              <a:t> (2000) </a:t>
            </a:r>
            <a:r>
              <a:rPr lang="tr-TR" dirty="0" err="1"/>
              <a:t>only</a:t>
            </a:r>
            <a:r>
              <a:rPr lang="tr-T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579371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43C6DC5-ED21-205A-02B4-6EB5355AF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81954"/>
            <a:ext cx="10515600" cy="1325563"/>
          </a:xfrm>
          <a:solidFill>
            <a:schemeClr val="accent4">
              <a:lumMod val="60000"/>
              <a:lumOff val="40000"/>
            </a:schemeClr>
          </a:solidFill>
        </p:spPr>
        <p:txBody>
          <a:bodyPr/>
          <a:lstStyle/>
          <a:p>
            <a:pPr algn="ctr"/>
            <a:r>
              <a:rPr lang="tr-TR" b="1" dirty="0">
                <a:latin typeface="+mn-lt"/>
              </a:rPr>
              <a:t>THE REFERENCE LIST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9673585-B644-E669-43C2-61A62D1533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342454"/>
            <a:ext cx="10515600" cy="1950309"/>
          </a:xfr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r>
              <a:rPr lang="tr-TR" dirty="0"/>
              <a:t>The </a:t>
            </a:r>
            <a:r>
              <a:rPr lang="tr-TR" dirty="0" err="1"/>
              <a:t>reference</a:t>
            </a:r>
            <a:r>
              <a:rPr lang="tr-TR" dirty="0"/>
              <a:t> </a:t>
            </a:r>
            <a:r>
              <a:rPr lang="tr-TR" dirty="0" err="1"/>
              <a:t>list</a:t>
            </a:r>
            <a:r>
              <a:rPr lang="tr-TR" dirty="0"/>
              <a:t> </a:t>
            </a:r>
            <a:r>
              <a:rPr lang="tr-TR" dirty="0" err="1"/>
              <a:t>appears</a:t>
            </a:r>
            <a:r>
              <a:rPr lang="tr-TR" dirty="0"/>
              <a:t> </a:t>
            </a:r>
            <a:r>
              <a:rPr lang="tr-TR" b="1" dirty="0"/>
              <a:t>at the </a:t>
            </a:r>
            <a:r>
              <a:rPr lang="tr-TR" b="1" dirty="0" err="1"/>
              <a:t>end</a:t>
            </a:r>
            <a:r>
              <a:rPr lang="tr-TR" b="1" dirty="0"/>
              <a:t> of the </a:t>
            </a:r>
            <a:r>
              <a:rPr lang="tr-TR" b="1" dirty="0" err="1"/>
              <a:t>paper</a:t>
            </a:r>
            <a:r>
              <a:rPr lang="tr-TR" b="1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provides</a:t>
            </a:r>
            <a:r>
              <a:rPr lang="tr-TR" dirty="0"/>
              <a:t> </a:t>
            </a:r>
            <a:r>
              <a:rPr lang="tr-TR" b="1" dirty="0" err="1"/>
              <a:t>complete</a:t>
            </a:r>
            <a:r>
              <a:rPr lang="tr-TR" b="1" dirty="0"/>
              <a:t> </a:t>
            </a:r>
            <a:r>
              <a:rPr lang="tr-TR" b="1" dirty="0" err="1"/>
              <a:t>publication</a:t>
            </a:r>
            <a:r>
              <a:rPr lang="tr-TR" b="1" dirty="0"/>
              <a:t> </a:t>
            </a:r>
            <a:r>
              <a:rPr lang="tr-TR" b="1" dirty="0" err="1"/>
              <a:t>details</a:t>
            </a:r>
            <a:r>
              <a:rPr lang="tr-TR" b="1" dirty="0"/>
              <a:t> </a:t>
            </a:r>
            <a:r>
              <a:rPr lang="tr-TR" b="1" dirty="0" err="1"/>
              <a:t>so</a:t>
            </a:r>
            <a:r>
              <a:rPr lang="tr-TR" b="1" dirty="0"/>
              <a:t> </a:t>
            </a:r>
            <a:r>
              <a:rPr lang="tr-TR" b="1" dirty="0" err="1"/>
              <a:t>readers</a:t>
            </a:r>
            <a:r>
              <a:rPr lang="tr-TR" b="1" dirty="0"/>
              <a:t> can </a:t>
            </a:r>
            <a:r>
              <a:rPr lang="tr-TR" b="1" dirty="0" err="1"/>
              <a:t>locate</a:t>
            </a:r>
            <a:r>
              <a:rPr lang="tr-TR" b="1" dirty="0"/>
              <a:t> </a:t>
            </a:r>
            <a:r>
              <a:rPr lang="tr-TR" b="1" dirty="0" err="1"/>
              <a:t>each</a:t>
            </a:r>
            <a:r>
              <a:rPr lang="tr-TR" b="1" dirty="0"/>
              <a:t> </a:t>
            </a:r>
            <a:r>
              <a:rPr lang="tr-TR" b="1" dirty="0" err="1"/>
              <a:t>source</a:t>
            </a:r>
            <a:r>
              <a:rPr lang="tr-TR" dirty="0"/>
              <a:t>. </a:t>
            </a:r>
          </a:p>
          <a:p>
            <a:r>
              <a:rPr lang="tr-TR" dirty="0" err="1"/>
              <a:t>You</a:t>
            </a:r>
            <a:r>
              <a:rPr lang="tr-TR" dirty="0"/>
              <a:t> </a:t>
            </a:r>
            <a:r>
              <a:rPr lang="tr-TR" dirty="0" err="1"/>
              <a:t>need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match</a:t>
            </a:r>
            <a:r>
              <a:rPr lang="tr-TR" dirty="0"/>
              <a:t> </a:t>
            </a:r>
            <a:r>
              <a:rPr lang="tr-TR" dirty="0" err="1"/>
              <a:t>every</a:t>
            </a:r>
            <a:r>
              <a:rPr lang="tr-TR" dirty="0"/>
              <a:t> in-</a:t>
            </a:r>
            <a:r>
              <a:rPr lang="tr-TR" dirty="0" err="1"/>
              <a:t>text</a:t>
            </a:r>
            <a:r>
              <a:rPr lang="tr-TR" dirty="0"/>
              <a:t> </a:t>
            </a:r>
            <a:r>
              <a:rPr lang="tr-TR" dirty="0" err="1"/>
              <a:t>citation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a </a:t>
            </a:r>
            <a:r>
              <a:rPr lang="tr-TR" dirty="0" err="1"/>
              <a:t>reference</a:t>
            </a:r>
            <a:r>
              <a:rPr lang="tr-TR" dirty="0"/>
              <a:t> </a:t>
            </a:r>
            <a:r>
              <a:rPr lang="tr-TR" dirty="0" err="1"/>
              <a:t>entry</a:t>
            </a:r>
            <a:r>
              <a:rPr lang="tr-TR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0902907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C43AC2C-2793-AFAF-2E08-B99ABAFF9C8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algn="ctr"/>
            <a:r>
              <a:rPr lang="tr-TR" b="1" dirty="0" err="1">
                <a:latin typeface="+mn-lt"/>
              </a:rPr>
              <a:t>Formatting</a:t>
            </a:r>
            <a:r>
              <a:rPr lang="tr-TR" b="1" dirty="0">
                <a:latin typeface="+mn-lt"/>
              </a:rPr>
              <a:t> the </a:t>
            </a:r>
            <a:r>
              <a:rPr lang="tr-TR" b="1" dirty="0" err="1">
                <a:latin typeface="+mn-lt"/>
              </a:rPr>
              <a:t>reference</a:t>
            </a:r>
            <a:r>
              <a:rPr lang="tr-TR" b="1" dirty="0">
                <a:latin typeface="+mn-lt"/>
              </a:rPr>
              <a:t> </a:t>
            </a:r>
            <a:r>
              <a:rPr lang="tr-TR" b="1" dirty="0" err="1">
                <a:latin typeface="+mn-lt"/>
              </a:rPr>
              <a:t>list</a:t>
            </a:r>
            <a:r>
              <a:rPr lang="tr-TR" b="1" dirty="0">
                <a:latin typeface="+mn-lt"/>
              </a:rPr>
              <a:t> </a:t>
            </a:r>
            <a:r>
              <a:rPr lang="tr-TR" b="1" dirty="0" err="1">
                <a:latin typeface="+mn-lt"/>
              </a:rPr>
              <a:t>page</a:t>
            </a:r>
            <a:endParaRPr lang="tr-TR" b="1" dirty="0">
              <a:latin typeface="+mn-lt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FA0C433-C750-E70E-3DB0-EDF3CAA7C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33202"/>
            <a:ext cx="10515600" cy="4351338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tr-TR" dirty="0"/>
              <a:t>Start a </a:t>
            </a:r>
            <a:r>
              <a:rPr lang="tr-TR" dirty="0" err="1"/>
              <a:t>new</a:t>
            </a:r>
            <a:r>
              <a:rPr lang="tr-TR" dirty="0"/>
              <a:t> </a:t>
            </a:r>
            <a:r>
              <a:rPr lang="tr-TR" dirty="0" err="1"/>
              <a:t>page</a:t>
            </a:r>
            <a:r>
              <a:rPr lang="tr-T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dirty="0"/>
              <a:t>Center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bold</a:t>
            </a:r>
            <a:r>
              <a:rPr lang="tr-TR" dirty="0"/>
              <a:t> the </a:t>
            </a:r>
            <a:r>
              <a:rPr lang="tr-TR" dirty="0" err="1"/>
              <a:t>label</a:t>
            </a:r>
            <a:r>
              <a:rPr lang="tr-TR" dirty="0"/>
              <a:t>: </a:t>
            </a:r>
            <a:r>
              <a:rPr lang="tr-TR" b="1" dirty="0" err="1"/>
              <a:t>References</a:t>
            </a:r>
            <a:r>
              <a:rPr lang="tr-T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dirty="0" err="1"/>
              <a:t>Double-space</a:t>
            </a:r>
            <a:r>
              <a:rPr lang="tr-TR" dirty="0"/>
              <a:t> the </a:t>
            </a:r>
            <a:r>
              <a:rPr lang="tr-TR" dirty="0" err="1"/>
              <a:t>entire</a:t>
            </a:r>
            <a:r>
              <a:rPr lang="tr-TR" dirty="0"/>
              <a:t> </a:t>
            </a:r>
            <a:r>
              <a:rPr lang="tr-TR" dirty="0" err="1"/>
              <a:t>list</a:t>
            </a:r>
            <a:r>
              <a:rPr lang="tr-T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dirty="0" err="1"/>
              <a:t>Use</a:t>
            </a:r>
            <a:r>
              <a:rPr lang="tr-TR" dirty="0"/>
              <a:t> a </a:t>
            </a:r>
            <a:r>
              <a:rPr lang="tr-TR" b="1" dirty="0"/>
              <a:t>0.5 </a:t>
            </a:r>
            <a:r>
              <a:rPr lang="tr-TR" b="1" dirty="0" err="1"/>
              <a:t>inch</a:t>
            </a:r>
            <a:r>
              <a:rPr lang="tr-TR" b="1" dirty="0"/>
              <a:t> </a:t>
            </a:r>
            <a:r>
              <a:rPr lang="tr-TR" b="1" dirty="0" err="1"/>
              <a:t>hanging</a:t>
            </a:r>
            <a:r>
              <a:rPr lang="tr-TR" b="1" dirty="0"/>
              <a:t> </a:t>
            </a:r>
            <a:r>
              <a:rPr lang="tr-TR" b="1" dirty="0" err="1"/>
              <a:t>indent</a:t>
            </a:r>
            <a:r>
              <a:rPr lang="tr-TR" dirty="0"/>
              <a:t> </a:t>
            </a:r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each</a:t>
            </a:r>
            <a:r>
              <a:rPr lang="tr-TR" dirty="0"/>
              <a:t> </a:t>
            </a:r>
            <a:r>
              <a:rPr lang="tr-TR" dirty="0" err="1"/>
              <a:t>entry</a:t>
            </a:r>
            <a:r>
              <a:rPr lang="tr-TR" dirty="0"/>
              <a:t> (</a:t>
            </a:r>
            <a:r>
              <a:rPr lang="tr-TR" dirty="0" err="1"/>
              <a:t>first</a:t>
            </a:r>
            <a:r>
              <a:rPr lang="tr-TR" dirty="0"/>
              <a:t> </a:t>
            </a:r>
            <a:r>
              <a:rPr lang="tr-TR" dirty="0" err="1"/>
              <a:t>line</a:t>
            </a:r>
            <a:r>
              <a:rPr lang="tr-TR" dirty="0"/>
              <a:t> </a:t>
            </a:r>
            <a:r>
              <a:rPr lang="tr-TR" dirty="0" err="1"/>
              <a:t>flush</a:t>
            </a:r>
            <a:r>
              <a:rPr lang="tr-TR" dirty="0"/>
              <a:t> </a:t>
            </a:r>
            <a:r>
              <a:rPr lang="tr-TR" dirty="0" err="1"/>
              <a:t>left</a:t>
            </a:r>
            <a:r>
              <a:rPr lang="tr-TR" dirty="0"/>
              <a:t>; </a:t>
            </a:r>
            <a:r>
              <a:rPr lang="tr-TR" dirty="0" err="1"/>
              <a:t>subsequent</a:t>
            </a:r>
            <a:r>
              <a:rPr lang="tr-TR" dirty="0"/>
              <a:t> </a:t>
            </a:r>
            <a:r>
              <a:rPr lang="tr-TR" dirty="0" err="1"/>
              <a:t>lines</a:t>
            </a:r>
            <a:r>
              <a:rPr lang="tr-TR" dirty="0"/>
              <a:t> </a:t>
            </a:r>
            <a:r>
              <a:rPr lang="tr-TR" dirty="0" err="1"/>
              <a:t>indented</a:t>
            </a:r>
            <a:r>
              <a:rPr lang="tr-TR" dirty="0"/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dirty="0" err="1"/>
              <a:t>Alphabetize</a:t>
            </a:r>
            <a:r>
              <a:rPr lang="tr-TR" dirty="0"/>
              <a:t> </a:t>
            </a:r>
            <a:r>
              <a:rPr lang="tr-TR" dirty="0" err="1"/>
              <a:t>by</a:t>
            </a:r>
            <a:r>
              <a:rPr lang="tr-TR" dirty="0"/>
              <a:t> </a:t>
            </a:r>
            <a:r>
              <a:rPr lang="tr-TR" b="1" dirty="0" err="1"/>
              <a:t>author</a:t>
            </a:r>
            <a:r>
              <a:rPr lang="tr-TR" b="1" dirty="0"/>
              <a:t> </a:t>
            </a:r>
            <a:r>
              <a:rPr lang="tr-TR" b="1" dirty="0" err="1"/>
              <a:t>surname</a:t>
            </a:r>
            <a:r>
              <a:rPr lang="tr-TR" dirty="0"/>
              <a:t> (</a:t>
            </a:r>
            <a:r>
              <a:rPr lang="tr-TR" dirty="0" err="1"/>
              <a:t>or</a:t>
            </a:r>
            <a:r>
              <a:rPr lang="tr-TR" dirty="0"/>
              <a:t> </a:t>
            </a:r>
            <a:r>
              <a:rPr lang="tr-TR" dirty="0" err="1"/>
              <a:t>by</a:t>
            </a:r>
            <a:r>
              <a:rPr lang="tr-TR" dirty="0"/>
              <a:t> </a:t>
            </a:r>
            <a:r>
              <a:rPr lang="tr-TR" dirty="0" err="1"/>
              <a:t>group</a:t>
            </a:r>
            <a:r>
              <a:rPr lang="tr-TR" dirty="0"/>
              <a:t> </a:t>
            </a:r>
            <a:r>
              <a:rPr lang="tr-TR" dirty="0" err="1"/>
              <a:t>author</a:t>
            </a:r>
            <a:r>
              <a:rPr lang="tr-TR" dirty="0"/>
              <a:t>, </a:t>
            </a:r>
            <a:r>
              <a:rPr lang="tr-TR" dirty="0" err="1"/>
              <a:t>or</a:t>
            </a:r>
            <a:r>
              <a:rPr lang="tr-TR" dirty="0"/>
              <a:t> </a:t>
            </a:r>
            <a:r>
              <a:rPr lang="tr-TR" dirty="0" err="1"/>
              <a:t>by</a:t>
            </a:r>
            <a:r>
              <a:rPr lang="tr-TR" dirty="0"/>
              <a:t> </a:t>
            </a:r>
            <a:r>
              <a:rPr lang="tr-TR" dirty="0" err="1"/>
              <a:t>title</a:t>
            </a:r>
            <a:r>
              <a:rPr lang="tr-TR" dirty="0"/>
              <a:t> </a:t>
            </a:r>
            <a:r>
              <a:rPr lang="tr-TR" dirty="0" err="1"/>
              <a:t>if</a:t>
            </a:r>
            <a:r>
              <a:rPr lang="tr-TR" dirty="0"/>
              <a:t> </a:t>
            </a:r>
            <a:r>
              <a:rPr lang="tr-TR" dirty="0" err="1"/>
              <a:t>no</a:t>
            </a:r>
            <a:r>
              <a:rPr lang="tr-TR" dirty="0"/>
              <a:t> </a:t>
            </a:r>
            <a:r>
              <a:rPr lang="tr-TR" dirty="0" err="1"/>
              <a:t>author</a:t>
            </a:r>
            <a:r>
              <a:rPr lang="tr-TR" dirty="0"/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dirty="0" err="1"/>
              <a:t>When</a:t>
            </a:r>
            <a:r>
              <a:rPr lang="tr-TR" dirty="0"/>
              <a:t> </a:t>
            </a:r>
            <a:r>
              <a:rPr lang="tr-TR" dirty="0" err="1"/>
              <a:t>alphabetizing</a:t>
            </a:r>
            <a:r>
              <a:rPr lang="tr-TR" dirty="0"/>
              <a:t> </a:t>
            </a:r>
            <a:r>
              <a:rPr lang="tr-TR" dirty="0" err="1"/>
              <a:t>titles</a:t>
            </a:r>
            <a:r>
              <a:rPr lang="tr-TR" dirty="0"/>
              <a:t>, </a:t>
            </a:r>
            <a:r>
              <a:rPr lang="tr-TR" dirty="0" err="1"/>
              <a:t>ignore</a:t>
            </a:r>
            <a:r>
              <a:rPr lang="tr-TR" dirty="0"/>
              <a:t> </a:t>
            </a:r>
            <a:r>
              <a:rPr lang="tr-TR" dirty="0" err="1"/>
              <a:t>initial</a:t>
            </a:r>
            <a:r>
              <a:rPr lang="tr-TR" dirty="0"/>
              <a:t> </a:t>
            </a:r>
            <a:r>
              <a:rPr lang="tr-TR" dirty="0" err="1"/>
              <a:t>articles</a:t>
            </a:r>
            <a:r>
              <a:rPr lang="tr-TR" dirty="0"/>
              <a:t> </a:t>
            </a:r>
            <a:r>
              <a:rPr lang="tr-TR" dirty="0" err="1"/>
              <a:t>like</a:t>
            </a:r>
            <a:r>
              <a:rPr lang="tr-TR" dirty="0"/>
              <a:t> A / An / The.</a:t>
            </a:r>
          </a:p>
          <a:p>
            <a:r>
              <a:rPr lang="tr-TR" dirty="0"/>
              <a:t>Reference </a:t>
            </a:r>
            <a:r>
              <a:rPr lang="tr-TR" dirty="0" err="1"/>
              <a:t>entries</a:t>
            </a:r>
            <a:r>
              <a:rPr lang="tr-TR" dirty="0"/>
              <a:t> </a:t>
            </a:r>
            <a:r>
              <a:rPr lang="tr-TR" dirty="0" err="1"/>
              <a:t>are</a:t>
            </a:r>
            <a:r>
              <a:rPr lang="tr-TR" dirty="0"/>
              <a:t> </a:t>
            </a:r>
            <a:r>
              <a:rPr lang="tr-TR" b="1" dirty="0"/>
              <a:t>not </a:t>
            </a:r>
            <a:r>
              <a:rPr lang="tr-TR" b="1" dirty="0" err="1"/>
              <a:t>numbered</a:t>
            </a:r>
            <a:r>
              <a:rPr lang="tr-TR" b="1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b="1" dirty="0"/>
              <a:t>do not </a:t>
            </a:r>
            <a:r>
              <a:rPr lang="tr-TR" b="1" dirty="0" err="1"/>
              <a:t>use</a:t>
            </a:r>
            <a:r>
              <a:rPr lang="tr-TR" b="1" dirty="0"/>
              <a:t> </a:t>
            </a:r>
            <a:r>
              <a:rPr lang="tr-TR" b="1" dirty="0" err="1"/>
              <a:t>bullets</a:t>
            </a:r>
            <a:r>
              <a:rPr lang="tr-TR" dirty="0"/>
              <a:t>.</a:t>
            </a:r>
          </a:p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1219391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F38CA96-E9A0-F137-7057-975BDCF5834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algn="ctr"/>
            <a:r>
              <a:rPr lang="tr-TR" b="1" dirty="0">
                <a:latin typeface="+mn-lt"/>
              </a:rPr>
              <a:t>Reference </a:t>
            </a:r>
            <a:r>
              <a:rPr lang="tr-TR" b="1" dirty="0" err="1">
                <a:latin typeface="+mn-lt"/>
              </a:rPr>
              <a:t>list</a:t>
            </a:r>
            <a:r>
              <a:rPr lang="tr-TR" b="1" dirty="0">
                <a:latin typeface="+mn-lt"/>
              </a:rPr>
              <a:t> </a:t>
            </a:r>
            <a:r>
              <a:rPr lang="tr-TR" b="1" dirty="0" err="1">
                <a:latin typeface="+mn-lt"/>
              </a:rPr>
              <a:t>structure</a:t>
            </a:r>
            <a:endParaRPr lang="tr-TR" dirty="0">
              <a:latin typeface="+mn-lt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B55698F-6D7C-8312-975B-41581B6A8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0921"/>
            <a:ext cx="10515600" cy="41760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dirty="0"/>
              <a:t>APA </a:t>
            </a:r>
            <a:r>
              <a:rPr lang="tr-TR" dirty="0" err="1"/>
              <a:t>references</a:t>
            </a:r>
            <a:r>
              <a:rPr lang="tr-TR" dirty="0"/>
              <a:t> </a:t>
            </a:r>
            <a:r>
              <a:rPr lang="tr-TR" dirty="0" err="1"/>
              <a:t>are</a:t>
            </a:r>
            <a:r>
              <a:rPr lang="tr-TR" dirty="0"/>
              <a:t> </a:t>
            </a:r>
            <a:r>
              <a:rPr lang="tr-TR" dirty="0" err="1"/>
              <a:t>built</a:t>
            </a:r>
            <a:r>
              <a:rPr lang="tr-TR" dirty="0"/>
              <a:t> </a:t>
            </a:r>
            <a:r>
              <a:rPr lang="tr-TR" dirty="0" err="1"/>
              <a:t>from</a:t>
            </a:r>
            <a:r>
              <a:rPr lang="tr-TR" dirty="0"/>
              <a:t>:</a:t>
            </a:r>
          </a:p>
          <a:p>
            <a:pPr lvl="2">
              <a:buFont typeface="+mj-lt"/>
              <a:buAutoNum type="arabicPeriod"/>
            </a:pPr>
            <a:r>
              <a:rPr lang="tr-TR" sz="2800" b="1" dirty="0"/>
              <a:t> Author</a:t>
            </a:r>
            <a:endParaRPr lang="tr-TR" sz="2800" dirty="0"/>
          </a:p>
          <a:p>
            <a:pPr lvl="2">
              <a:buFont typeface="+mj-lt"/>
              <a:buAutoNum type="arabicPeriod"/>
            </a:pPr>
            <a:r>
              <a:rPr lang="tr-TR" sz="2800" b="1" dirty="0"/>
              <a:t> </a:t>
            </a:r>
            <a:r>
              <a:rPr lang="tr-TR" sz="2800" b="1" dirty="0" err="1"/>
              <a:t>Date</a:t>
            </a:r>
            <a:endParaRPr lang="tr-TR" sz="2800" dirty="0"/>
          </a:p>
          <a:p>
            <a:pPr lvl="2">
              <a:buFont typeface="+mj-lt"/>
              <a:buAutoNum type="arabicPeriod"/>
            </a:pPr>
            <a:r>
              <a:rPr lang="tr-TR" sz="2800" b="1" dirty="0"/>
              <a:t> </a:t>
            </a:r>
            <a:r>
              <a:rPr lang="tr-TR" sz="2800" b="1" dirty="0" err="1"/>
              <a:t>Title</a:t>
            </a:r>
            <a:endParaRPr lang="tr-TR" sz="2800" dirty="0"/>
          </a:p>
          <a:p>
            <a:pPr lvl="2">
              <a:buFont typeface="+mj-lt"/>
              <a:buAutoNum type="arabicPeriod"/>
            </a:pPr>
            <a:r>
              <a:rPr lang="tr-TR" sz="2800" b="1" dirty="0"/>
              <a:t> Source</a:t>
            </a:r>
            <a:r>
              <a:rPr lang="tr-TR" sz="2800" dirty="0"/>
              <a:t> (</a:t>
            </a:r>
            <a:r>
              <a:rPr lang="tr-TR" sz="2800" dirty="0" err="1"/>
              <a:t>publisher</a:t>
            </a:r>
            <a:r>
              <a:rPr lang="tr-TR" sz="2800" dirty="0"/>
              <a:t>, </a:t>
            </a:r>
            <a:r>
              <a:rPr lang="tr-TR" sz="2800" dirty="0" err="1"/>
              <a:t>journal</a:t>
            </a:r>
            <a:r>
              <a:rPr lang="tr-TR" sz="2800" dirty="0"/>
              <a:t>, site, URL/DOI, </a:t>
            </a:r>
            <a:r>
              <a:rPr lang="tr-TR" sz="2800" dirty="0" err="1"/>
              <a:t>etc</a:t>
            </a:r>
            <a:r>
              <a:rPr lang="tr-TR" sz="2800" dirty="0"/>
              <a:t>.)</a:t>
            </a:r>
          </a:p>
          <a:p>
            <a:endParaRPr lang="tr-TR" dirty="0"/>
          </a:p>
          <a:p>
            <a:r>
              <a:rPr lang="tr-TR" dirty="0" err="1"/>
              <a:t>In</a:t>
            </a:r>
            <a:r>
              <a:rPr lang="tr-TR" dirty="0"/>
              <a:t> APA 7, </a:t>
            </a:r>
            <a:r>
              <a:rPr lang="tr-TR" b="1" dirty="0" err="1"/>
              <a:t>DOIs</a:t>
            </a:r>
            <a:r>
              <a:rPr lang="tr-TR" b="1" dirty="0"/>
              <a:t> </a:t>
            </a:r>
            <a:r>
              <a:rPr lang="tr-TR" b="1" dirty="0" err="1"/>
              <a:t>are</a:t>
            </a:r>
            <a:r>
              <a:rPr lang="tr-TR" b="1" dirty="0"/>
              <a:t> </a:t>
            </a:r>
            <a:r>
              <a:rPr lang="tr-TR" b="1" dirty="0" err="1"/>
              <a:t>formatted</a:t>
            </a:r>
            <a:r>
              <a:rPr lang="tr-TR" b="1" dirty="0"/>
              <a:t> as </a:t>
            </a:r>
            <a:r>
              <a:rPr lang="tr-TR" b="1" dirty="0" err="1"/>
              <a:t>URLs</a:t>
            </a:r>
            <a:r>
              <a:rPr lang="tr-TR" dirty="0"/>
              <a:t> (</a:t>
            </a:r>
            <a:r>
              <a:rPr lang="tr-TR" dirty="0" err="1"/>
              <a:t>https</a:t>
            </a:r>
            <a:r>
              <a:rPr lang="tr-TR" dirty="0"/>
              <a:t>://</a:t>
            </a:r>
            <a:r>
              <a:rPr lang="tr-TR" dirty="0" err="1"/>
              <a:t>doi.org</a:t>
            </a:r>
            <a:r>
              <a:rPr lang="tr-TR" dirty="0"/>
              <a:t>/…)</a:t>
            </a:r>
          </a:p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266222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50DCDF2-F19E-18B1-C1F0-DBCB295FE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17407"/>
            <a:ext cx="10515600" cy="1325563"/>
          </a:xfrm>
        </p:spPr>
        <p:txBody>
          <a:bodyPr/>
          <a:lstStyle/>
          <a:p>
            <a:r>
              <a:rPr lang="tr-TR" dirty="0">
                <a:solidFill>
                  <a:srgbClr val="C00000"/>
                </a:solidFill>
              </a:rPr>
              <a:t>A) </a:t>
            </a:r>
            <a:r>
              <a:rPr lang="tr-TR" dirty="0" err="1">
                <a:solidFill>
                  <a:srgbClr val="C00000"/>
                </a:solidFill>
              </a:rPr>
              <a:t>Book</a:t>
            </a:r>
            <a:r>
              <a:rPr lang="tr-TR" dirty="0">
                <a:solidFill>
                  <a:srgbClr val="C00000"/>
                </a:solidFill>
              </a:rPr>
              <a:t> (</a:t>
            </a:r>
            <a:r>
              <a:rPr lang="tr-TR" dirty="0" err="1">
                <a:solidFill>
                  <a:srgbClr val="C00000"/>
                </a:solidFill>
              </a:rPr>
              <a:t>authored</a:t>
            </a:r>
            <a:r>
              <a:rPr lang="tr-TR" dirty="0">
                <a:solidFill>
                  <a:srgbClr val="C00000"/>
                </a:solidFill>
              </a:rPr>
              <a:t>)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E5F4B71-BBD1-A3E1-6EAD-99EE978FA9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277907"/>
            <a:ext cx="10758544" cy="2950770"/>
          </a:xfrm>
        </p:spPr>
        <p:txBody>
          <a:bodyPr/>
          <a:lstStyle/>
          <a:p>
            <a:r>
              <a:rPr lang="tr-TR" b="1" dirty="0"/>
              <a:t>Format</a:t>
            </a:r>
            <a:br>
              <a:rPr lang="tr-TR" dirty="0"/>
            </a:br>
            <a:r>
              <a:rPr lang="tr-TR" dirty="0"/>
              <a:t>Author, A. A. (</a:t>
            </a:r>
            <a:r>
              <a:rPr lang="tr-TR" dirty="0" err="1"/>
              <a:t>Year</a:t>
            </a:r>
            <a:r>
              <a:rPr lang="tr-TR" dirty="0"/>
              <a:t>). </a:t>
            </a:r>
            <a:r>
              <a:rPr lang="tr-TR" i="1" dirty="0" err="1"/>
              <a:t>Title</a:t>
            </a:r>
            <a:r>
              <a:rPr lang="tr-TR" i="1" dirty="0"/>
              <a:t> of </a:t>
            </a:r>
            <a:r>
              <a:rPr lang="tr-TR" i="1" dirty="0" err="1"/>
              <a:t>book</a:t>
            </a:r>
            <a:r>
              <a:rPr lang="tr-TR" dirty="0"/>
              <a:t> (Edition </a:t>
            </a:r>
            <a:r>
              <a:rPr lang="tr-TR" dirty="0" err="1"/>
              <a:t>if</a:t>
            </a:r>
            <a:r>
              <a:rPr lang="tr-TR" dirty="0"/>
              <a:t> </a:t>
            </a:r>
            <a:r>
              <a:rPr lang="tr-TR" dirty="0" err="1"/>
              <a:t>given</a:t>
            </a:r>
            <a:r>
              <a:rPr lang="tr-TR" dirty="0"/>
              <a:t>). Publisher.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b="1" dirty="0" err="1"/>
              <a:t>Example</a:t>
            </a:r>
            <a:r>
              <a:rPr lang="tr-TR" b="1" dirty="0"/>
              <a:t>:</a:t>
            </a:r>
            <a:br>
              <a:rPr lang="tr-TR" dirty="0"/>
            </a:br>
            <a:r>
              <a:rPr lang="tr-TR" dirty="0" err="1"/>
              <a:t>Strunk</a:t>
            </a:r>
            <a:r>
              <a:rPr lang="tr-TR" dirty="0"/>
              <a:t>, W., </a:t>
            </a:r>
            <a:r>
              <a:rPr lang="tr-TR" dirty="0" err="1"/>
              <a:t>Jr</a:t>
            </a:r>
            <a:r>
              <a:rPr lang="tr-TR" dirty="0"/>
              <a:t>., &amp; White, E. B. (2000). </a:t>
            </a:r>
            <a:r>
              <a:rPr lang="tr-TR" i="1" dirty="0"/>
              <a:t>The </a:t>
            </a:r>
            <a:r>
              <a:rPr lang="tr-TR" i="1" dirty="0" err="1"/>
              <a:t>elements</a:t>
            </a:r>
            <a:r>
              <a:rPr lang="tr-TR" i="1" dirty="0"/>
              <a:t> of </a:t>
            </a:r>
            <a:r>
              <a:rPr lang="tr-TR" i="1" dirty="0" err="1"/>
              <a:t>style</a:t>
            </a:r>
            <a:r>
              <a:rPr lang="tr-TR" dirty="0"/>
              <a:t> (4th ed.). </a:t>
            </a:r>
            <a:r>
              <a:rPr lang="tr-TR" dirty="0" err="1"/>
              <a:t>Allyn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Bacon.</a:t>
            </a:r>
          </a:p>
          <a:p>
            <a:endParaRPr lang="tr-TR" dirty="0"/>
          </a:p>
        </p:txBody>
      </p:sp>
      <p:sp>
        <p:nvSpPr>
          <p:cNvPr id="4" name="Başlık 1">
            <a:extLst>
              <a:ext uri="{FF2B5EF4-FFF2-40B4-BE49-F238E27FC236}">
                <a16:creationId xmlns:a16="http://schemas.microsoft.com/office/drawing/2014/main" id="{7136FD5B-FD2A-2574-F22A-DD894851E0FF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tr-TR" b="1" dirty="0">
                <a:latin typeface="+mn-lt"/>
              </a:rPr>
              <a:t>REFERENCING EXAMPLES</a:t>
            </a:r>
          </a:p>
        </p:txBody>
      </p:sp>
    </p:spTree>
    <p:extLst>
      <p:ext uri="{BB962C8B-B14F-4D97-AF65-F5344CB8AC3E}">
        <p14:creationId xmlns:p14="http://schemas.microsoft.com/office/powerpoint/2010/main" val="27077296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7779136-6E1A-876C-467D-7B0450C7F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>
                <a:solidFill>
                  <a:srgbClr val="C00000"/>
                </a:solidFill>
              </a:rPr>
              <a:t>B) </a:t>
            </a:r>
            <a:r>
              <a:rPr lang="tr-TR" dirty="0" err="1">
                <a:solidFill>
                  <a:srgbClr val="C00000"/>
                </a:solidFill>
              </a:rPr>
              <a:t>Edited</a:t>
            </a:r>
            <a:r>
              <a:rPr lang="tr-TR" dirty="0">
                <a:solidFill>
                  <a:srgbClr val="C00000"/>
                </a:solidFill>
              </a:rPr>
              <a:t> </a:t>
            </a:r>
            <a:r>
              <a:rPr lang="tr-TR" dirty="0" err="1">
                <a:solidFill>
                  <a:srgbClr val="C00000"/>
                </a:solidFill>
              </a:rPr>
              <a:t>book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CFDEE82-8F76-D21B-CE3B-48A2DDE22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/>
              <a:t>Format</a:t>
            </a:r>
            <a:br>
              <a:rPr lang="tr-TR" dirty="0"/>
            </a:br>
            <a:r>
              <a:rPr lang="tr-TR" dirty="0"/>
              <a:t>Editor, E. E. (Ed.). (</a:t>
            </a:r>
            <a:r>
              <a:rPr lang="tr-TR" dirty="0" err="1"/>
              <a:t>Year</a:t>
            </a:r>
            <a:r>
              <a:rPr lang="tr-TR" dirty="0"/>
              <a:t>). </a:t>
            </a:r>
            <a:r>
              <a:rPr lang="tr-TR" i="1" dirty="0" err="1"/>
              <a:t>Title</a:t>
            </a:r>
            <a:r>
              <a:rPr lang="tr-TR" i="1" dirty="0"/>
              <a:t> of </a:t>
            </a:r>
            <a:r>
              <a:rPr lang="tr-TR" i="1" dirty="0" err="1"/>
              <a:t>edited</a:t>
            </a:r>
            <a:r>
              <a:rPr lang="tr-TR" i="1" dirty="0"/>
              <a:t> </a:t>
            </a:r>
            <a:r>
              <a:rPr lang="tr-TR" i="1" dirty="0" err="1"/>
              <a:t>book</a:t>
            </a:r>
            <a:r>
              <a:rPr lang="tr-TR" dirty="0"/>
              <a:t>. Publisher.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b="1" dirty="0" err="1"/>
              <a:t>Example</a:t>
            </a:r>
            <a:r>
              <a:rPr lang="tr-TR" b="1" dirty="0"/>
              <a:t>: </a:t>
            </a:r>
          </a:p>
          <a:p>
            <a:pPr marL="0" indent="0">
              <a:buNone/>
            </a:pPr>
            <a:r>
              <a:rPr lang="tr-TR" dirty="0" err="1"/>
              <a:t>Siciliano</a:t>
            </a:r>
            <a:r>
              <a:rPr lang="tr-TR" dirty="0"/>
              <a:t>, B., &amp; </a:t>
            </a:r>
            <a:r>
              <a:rPr lang="tr-TR" dirty="0" err="1"/>
              <a:t>Khatib</a:t>
            </a:r>
            <a:r>
              <a:rPr lang="tr-TR" dirty="0"/>
              <a:t>, O. (</a:t>
            </a:r>
            <a:r>
              <a:rPr lang="tr-TR" dirty="0" err="1"/>
              <a:t>Eds</a:t>
            </a:r>
            <a:r>
              <a:rPr lang="tr-TR" dirty="0"/>
              <a:t>.). (2016). </a:t>
            </a:r>
            <a:r>
              <a:rPr lang="tr-TR" i="1" dirty="0" err="1"/>
              <a:t>Springer</a:t>
            </a:r>
            <a:r>
              <a:rPr lang="tr-TR" i="1" dirty="0"/>
              <a:t> </a:t>
            </a:r>
            <a:r>
              <a:rPr lang="tr-TR" i="1" dirty="0" err="1"/>
              <a:t>handbook</a:t>
            </a:r>
            <a:r>
              <a:rPr lang="tr-TR" i="1" dirty="0"/>
              <a:t> of </a:t>
            </a:r>
            <a:r>
              <a:rPr lang="tr-TR" i="1" dirty="0" err="1"/>
              <a:t>robotics</a:t>
            </a:r>
            <a:r>
              <a:rPr lang="tr-TR" dirty="0"/>
              <a:t> (2nd ed.). </a:t>
            </a:r>
            <a:r>
              <a:rPr lang="tr-TR" dirty="0" err="1"/>
              <a:t>Springer</a:t>
            </a:r>
            <a:r>
              <a:rPr lang="tr-TR" dirty="0"/>
              <a:t>. </a:t>
            </a:r>
            <a:r>
              <a:rPr lang="tr-TR" dirty="0">
                <a:hlinkClick r:id="rId2"/>
              </a:rPr>
              <a:t>https://doi.org/10.1007/978-3-319-32552-1</a:t>
            </a:r>
            <a:r>
              <a:rPr lang="tr-T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690485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9E7F9E6-B7D0-B150-4B84-649F9C1F7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>
                <a:solidFill>
                  <a:srgbClr val="C00000"/>
                </a:solidFill>
              </a:rPr>
              <a:t>C) </a:t>
            </a:r>
            <a:r>
              <a:rPr lang="tr-TR" dirty="0" err="1">
                <a:solidFill>
                  <a:srgbClr val="C00000"/>
                </a:solidFill>
              </a:rPr>
              <a:t>Chapter</a:t>
            </a:r>
            <a:r>
              <a:rPr lang="tr-TR" dirty="0">
                <a:solidFill>
                  <a:srgbClr val="C00000"/>
                </a:solidFill>
              </a:rPr>
              <a:t> in an </a:t>
            </a:r>
            <a:r>
              <a:rPr lang="tr-TR" dirty="0" err="1">
                <a:solidFill>
                  <a:srgbClr val="C00000"/>
                </a:solidFill>
              </a:rPr>
              <a:t>edited</a:t>
            </a:r>
            <a:r>
              <a:rPr lang="tr-TR" dirty="0">
                <a:solidFill>
                  <a:srgbClr val="C00000"/>
                </a:solidFill>
              </a:rPr>
              <a:t> </a:t>
            </a:r>
            <a:r>
              <a:rPr lang="tr-TR" dirty="0" err="1">
                <a:solidFill>
                  <a:srgbClr val="C00000"/>
                </a:solidFill>
              </a:rPr>
              <a:t>book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088A84D-430C-C58B-4A09-985F3419CE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/>
              <a:t>Format</a:t>
            </a:r>
            <a:br>
              <a:rPr lang="tr-TR" dirty="0"/>
            </a:br>
            <a:r>
              <a:rPr lang="tr-TR" dirty="0"/>
              <a:t>Author, A. A. (</a:t>
            </a:r>
            <a:r>
              <a:rPr lang="tr-TR" dirty="0" err="1"/>
              <a:t>Year</a:t>
            </a:r>
            <a:r>
              <a:rPr lang="tr-TR" dirty="0"/>
              <a:t>). </a:t>
            </a:r>
            <a:r>
              <a:rPr lang="tr-TR" dirty="0" err="1"/>
              <a:t>Title</a:t>
            </a:r>
            <a:r>
              <a:rPr lang="tr-TR" dirty="0"/>
              <a:t> of </a:t>
            </a:r>
            <a:r>
              <a:rPr lang="tr-TR" dirty="0" err="1"/>
              <a:t>chapter</a:t>
            </a:r>
            <a:r>
              <a:rPr lang="tr-TR" dirty="0"/>
              <a:t>. </a:t>
            </a:r>
            <a:r>
              <a:rPr lang="tr-TR" dirty="0" err="1"/>
              <a:t>In</a:t>
            </a:r>
            <a:r>
              <a:rPr lang="tr-TR" dirty="0"/>
              <a:t> E. E. Editor (Ed.), </a:t>
            </a:r>
            <a:r>
              <a:rPr lang="tr-TR" i="1" dirty="0" err="1"/>
              <a:t>Title</a:t>
            </a:r>
            <a:r>
              <a:rPr lang="tr-TR" i="1" dirty="0"/>
              <a:t> of </a:t>
            </a:r>
            <a:r>
              <a:rPr lang="tr-TR" i="1" dirty="0" err="1"/>
              <a:t>book</a:t>
            </a:r>
            <a:r>
              <a:rPr lang="tr-TR" dirty="0"/>
              <a:t> (</a:t>
            </a:r>
            <a:r>
              <a:rPr lang="tr-TR" dirty="0" err="1"/>
              <a:t>pp</a:t>
            </a:r>
            <a:r>
              <a:rPr lang="tr-TR" dirty="0"/>
              <a:t>. xx–xx). Publisher. DOI/URL (</a:t>
            </a:r>
            <a:r>
              <a:rPr lang="tr-TR" dirty="0" err="1"/>
              <a:t>if</a:t>
            </a:r>
            <a:r>
              <a:rPr lang="tr-TR" dirty="0"/>
              <a:t> </a:t>
            </a:r>
            <a:r>
              <a:rPr lang="tr-TR" dirty="0" err="1"/>
              <a:t>available</a:t>
            </a:r>
            <a:r>
              <a:rPr lang="tr-TR" dirty="0"/>
              <a:t>)</a:t>
            </a:r>
          </a:p>
          <a:p>
            <a:pPr marL="0" indent="0">
              <a:buNone/>
            </a:pPr>
            <a:endParaRPr lang="tr-TR" b="1" dirty="0"/>
          </a:p>
          <a:p>
            <a:pPr marL="0" indent="0">
              <a:buNone/>
            </a:pPr>
            <a:r>
              <a:rPr lang="tr-TR" b="1" dirty="0" err="1"/>
              <a:t>Example</a:t>
            </a:r>
            <a:r>
              <a:rPr lang="tr-TR" b="1" dirty="0"/>
              <a:t>: </a:t>
            </a:r>
          </a:p>
          <a:p>
            <a:pPr marL="0" indent="0">
              <a:buNone/>
            </a:pPr>
            <a:r>
              <a:rPr lang="tr-TR" dirty="0" err="1"/>
              <a:t>Featherstone</a:t>
            </a:r>
            <a:r>
              <a:rPr lang="tr-TR" dirty="0"/>
              <a:t>, R., &amp; </a:t>
            </a:r>
            <a:r>
              <a:rPr lang="tr-TR" dirty="0" err="1"/>
              <a:t>Orin</a:t>
            </a:r>
            <a:r>
              <a:rPr lang="tr-TR" dirty="0"/>
              <a:t>, D. E. (2016). Dynamics. </a:t>
            </a:r>
            <a:r>
              <a:rPr lang="tr-TR" dirty="0" err="1"/>
              <a:t>In</a:t>
            </a:r>
            <a:r>
              <a:rPr lang="tr-TR" dirty="0"/>
              <a:t> B. </a:t>
            </a:r>
            <a:r>
              <a:rPr lang="tr-TR" dirty="0" err="1"/>
              <a:t>Siciliano</a:t>
            </a:r>
            <a:r>
              <a:rPr lang="tr-TR" dirty="0"/>
              <a:t> &amp; O. </a:t>
            </a:r>
            <a:r>
              <a:rPr lang="tr-TR" dirty="0" err="1"/>
              <a:t>Khatib</a:t>
            </a:r>
            <a:r>
              <a:rPr lang="tr-TR" dirty="0"/>
              <a:t> (</a:t>
            </a:r>
            <a:r>
              <a:rPr lang="tr-TR" dirty="0" err="1"/>
              <a:t>Eds</a:t>
            </a:r>
            <a:r>
              <a:rPr lang="tr-TR" dirty="0"/>
              <a:t>.), </a:t>
            </a:r>
            <a:r>
              <a:rPr lang="tr-TR" i="1" dirty="0" err="1"/>
              <a:t>Springer</a:t>
            </a:r>
            <a:r>
              <a:rPr lang="tr-TR" i="1" dirty="0"/>
              <a:t> </a:t>
            </a:r>
            <a:r>
              <a:rPr lang="tr-TR" i="1" dirty="0" err="1"/>
              <a:t>handbook</a:t>
            </a:r>
            <a:r>
              <a:rPr lang="tr-TR" i="1" dirty="0"/>
              <a:t> of </a:t>
            </a:r>
            <a:r>
              <a:rPr lang="tr-TR" i="1" dirty="0" err="1"/>
              <a:t>robotics</a:t>
            </a:r>
            <a:r>
              <a:rPr lang="tr-TR" dirty="0"/>
              <a:t> (2nd ed., </a:t>
            </a:r>
            <a:r>
              <a:rPr lang="tr-TR" dirty="0" err="1"/>
              <a:t>pp</a:t>
            </a:r>
            <a:r>
              <a:rPr lang="tr-TR" dirty="0"/>
              <a:t>. 37–66). </a:t>
            </a:r>
            <a:r>
              <a:rPr lang="tr-TR" dirty="0" err="1"/>
              <a:t>Springer</a:t>
            </a:r>
            <a:r>
              <a:rPr lang="tr-TR" dirty="0"/>
              <a:t>. </a:t>
            </a:r>
            <a:r>
              <a:rPr lang="tr-TR" dirty="0">
                <a:hlinkClick r:id="rId2"/>
              </a:rPr>
              <a:t>https://doi.org/10.1007/978-3-319-32552-1_3</a:t>
            </a:r>
            <a:r>
              <a:rPr lang="tr-TR" dirty="0"/>
              <a:t> 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5433208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756FC78-B82B-5DDF-4BDA-FE38ABDED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>
                <a:solidFill>
                  <a:srgbClr val="C00000"/>
                </a:solidFill>
              </a:rPr>
              <a:t>D) </a:t>
            </a:r>
            <a:r>
              <a:rPr lang="tr-TR" dirty="0" err="1">
                <a:solidFill>
                  <a:srgbClr val="C00000"/>
                </a:solidFill>
              </a:rPr>
              <a:t>Journal</a:t>
            </a:r>
            <a:r>
              <a:rPr lang="tr-TR" dirty="0">
                <a:solidFill>
                  <a:srgbClr val="C00000"/>
                </a:solidFill>
              </a:rPr>
              <a:t> </a:t>
            </a:r>
            <a:r>
              <a:rPr lang="tr-TR" dirty="0" err="1">
                <a:solidFill>
                  <a:srgbClr val="C00000"/>
                </a:solidFill>
              </a:rPr>
              <a:t>article</a:t>
            </a:r>
            <a:r>
              <a:rPr lang="tr-TR" dirty="0">
                <a:solidFill>
                  <a:srgbClr val="C00000"/>
                </a:solidFill>
              </a:rPr>
              <a:t> </a:t>
            </a:r>
            <a:r>
              <a:rPr lang="tr-TR" dirty="0" err="1">
                <a:solidFill>
                  <a:srgbClr val="C00000"/>
                </a:solidFill>
              </a:rPr>
              <a:t>with</a:t>
            </a:r>
            <a:r>
              <a:rPr lang="tr-TR" dirty="0">
                <a:solidFill>
                  <a:srgbClr val="C00000"/>
                </a:solidFill>
              </a:rPr>
              <a:t> a DOI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D47D45B-3FA4-7B74-4FF6-B89FA58C7C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04755" cy="4351338"/>
          </a:xfrm>
        </p:spPr>
        <p:txBody>
          <a:bodyPr/>
          <a:lstStyle/>
          <a:p>
            <a:r>
              <a:rPr lang="tr-TR" b="1" dirty="0"/>
              <a:t>Format</a:t>
            </a:r>
            <a:br>
              <a:rPr lang="tr-TR" dirty="0"/>
            </a:br>
            <a:r>
              <a:rPr lang="tr-TR" dirty="0"/>
              <a:t>Author, A. A., &amp; Author, B. B. (</a:t>
            </a:r>
            <a:r>
              <a:rPr lang="tr-TR" dirty="0" err="1"/>
              <a:t>Year</a:t>
            </a:r>
            <a:r>
              <a:rPr lang="tr-TR" dirty="0"/>
              <a:t>). </a:t>
            </a:r>
            <a:r>
              <a:rPr lang="tr-TR" dirty="0" err="1"/>
              <a:t>Title</a:t>
            </a:r>
            <a:r>
              <a:rPr lang="tr-TR" dirty="0"/>
              <a:t> of </a:t>
            </a:r>
            <a:r>
              <a:rPr lang="tr-TR" dirty="0" err="1"/>
              <a:t>article</a:t>
            </a:r>
            <a:r>
              <a:rPr lang="tr-TR" dirty="0"/>
              <a:t>. </a:t>
            </a:r>
            <a:r>
              <a:rPr lang="tr-TR" i="1" dirty="0" err="1"/>
              <a:t>Title</a:t>
            </a:r>
            <a:r>
              <a:rPr lang="tr-TR" i="1" dirty="0"/>
              <a:t> of </a:t>
            </a:r>
            <a:r>
              <a:rPr lang="tr-TR" i="1" dirty="0" err="1"/>
              <a:t>Journal</a:t>
            </a:r>
            <a:r>
              <a:rPr lang="tr-TR" i="1" dirty="0"/>
              <a:t>, </a:t>
            </a:r>
            <a:r>
              <a:rPr lang="tr-TR" i="1" dirty="0" err="1"/>
              <a:t>volume</a:t>
            </a:r>
            <a:r>
              <a:rPr lang="tr-TR" dirty="0"/>
              <a:t>(</a:t>
            </a:r>
            <a:r>
              <a:rPr lang="tr-TR" dirty="0" err="1"/>
              <a:t>issue</a:t>
            </a:r>
            <a:r>
              <a:rPr lang="tr-TR" dirty="0"/>
              <a:t>), </a:t>
            </a:r>
            <a:r>
              <a:rPr lang="tr-TR" dirty="0" err="1"/>
              <a:t>page</a:t>
            </a:r>
            <a:r>
              <a:rPr lang="tr-TR" dirty="0"/>
              <a:t>–</a:t>
            </a:r>
            <a:r>
              <a:rPr lang="tr-TR" dirty="0" err="1"/>
              <a:t>page</a:t>
            </a:r>
            <a:r>
              <a:rPr lang="tr-TR" dirty="0"/>
              <a:t>. </a:t>
            </a:r>
            <a:r>
              <a:rPr lang="tr-TR" dirty="0" err="1"/>
              <a:t>https</a:t>
            </a:r>
            <a:r>
              <a:rPr lang="tr-TR" dirty="0"/>
              <a:t>://</a:t>
            </a:r>
            <a:r>
              <a:rPr lang="tr-TR" dirty="0" err="1"/>
              <a:t>doi.org</a:t>
            </a:r>
            <a:r>
              <a:rPr lang="tr-TR" dirty="0"/>
              <a:t>/</a:t>
            </a:r>
            <a:r>
              <a:rPr lang="tr-TR" dirty="0" err="1"/>
              <a:t>xxxxx</a:t>
            </a:r>
            <a:endParaRPr lang="tr-TR" dirty="0"/>
          </a:p>
          <a:p>
            <a:pPr marL="0" indent="0">
              <a:buNone/>
            </a:pPr>
            <a:endParaRPr lang="tr-TR" b="1" dirty="0"/>
          </a:p>
          <a:p>
            <a:pPr marL="0" indent="0">
              <a:buNone/>
            </a:pPr>
            <a:r>
              <a:rPr lang="tr-TR" b="1" dirty="0" err="1"/>
              <a:t>Example</a:t>
            </a:r>
            <a:r>
              <a:rPr lang="tr-TR" b="1" dirty="0"/>
              <a:t>:</a:t>
            </a:r>
            <a:br>
              <a:rPr lang="tr-TR" dirty="0"/>
            </a:br>
            <a:r>
              <a:rPr lang="tr-TR" dirty="0" err="1"/>
              <a:t>Deci</a:t>
            </a:r>
            <a:r>
              <a:rPr lang="tr-TR" dirty="0"/>
              <a:t>, E. L., &amp; </a:t>
            </a:r>
            <a:r>
              <a:rPr lang="tr-TR" dirty="0" err="1"/>
              <a:t>Ryan</a:t>
            </a:r>
            <a:r>
              <a:rPr lang="tr-TR" dirty="0"/>
              <a:t>, R. M. (2000). The “</a:t>
            </a:r>
            <a:r>
              <a:rPr lang="tr-TR" dirty="0" err="1"/>
              <a:t>what</a:t>
            </a:r>
            <a:r>
              <a:rPr lang="tr-TR" dirty="0"/>
              <a:t>” </a:t>
            </a:r>
            <a:r>
              <a:rPr lang="tr-TR" dirty="0" err="1"/>
              <a:t>and</a:t>
            </a:r>
            <a:r>
              <a:rPr lang="tr-TR" dirty="0"/>
              <a:t> “</a:t>
            </a:r>
            <a:r>
              <a:rPr lang="tr-TR" dirty="0" err="1"/>
              <a:t>why</a:t>
            </a:r>
            <a:r>
              <a:rPr lang="tr-TR" dirty="0"/>
              <a:t>” of </a:t>
            </a:r>
            <a:r>
              <a:rPr lang="tr-TR" dirty="0" err="1"/>
              <a:t>goal</a:t>
            </a:r>
            <a:r>
              <a:rPr lang="tr-TR" dirty="0"/>
              <a:t> </a:t>
            </a:r>
            <a:r>
              <a:rPr lang="tr-TR" dirty="0" err="1"/>
              <a:t>pursuits</a:t>
            </a:r>
            <a:r>
              <a:rPr lang="tr-TR" dirty="0"/>
              <a:t>: Human </a:t>
            </a:r>
            <a:r>
              <a:rPr lang="tr-TR" dirty="0" err="1"/>
              <a:t>needs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the self-</a:t>
            </a:r>
            <a:r>
              <a:rPr lang="tr-TR" dirty="0" err="1"/>
              <a:t>determination</a:t>
            </a:r>
            <a:r>
              <a:rPr lang="tr-TR" dirty="0"/>
              <a:t> of behavior. </a:t>
            </a:r>
            <a:r>
              <a:rPr lang="tr-TR" i="1" dirty="0" err="1"/>
              <a:t>Psychological</a:t>
            </a:r>
            <a:r>
              <a:rPr lang="tr-TR" i="1" dirty="0"/>
              <a:t> </a:t>
            </a:r>
            <a:r>
              <a:rPr lang="tr-TR" i="1" dirty="0" err="1"/>
              <a:t>Inquiry</a:t>
            </a:r>
            <a:r>
              <a:rPr lang="tr-TR" i="1" dirty="0"/>
              <a:t>, 11</a:t>
            </a:r>
            <a:r>
              <a:rPr lang="tr-TR" dirty="0"/>
              <a:t>(4), 227–268. </a:t>
            </a:r>
            <a:r>
              <a:rPr lang="tr-TR" dirty="0">
                <a:hlinkClick r:id="rId2"/>
              </a:rPr>
              <a:t>https://doi.org/10.1207/S15327965PLI1104_01</a:t>
            </a:r>
            <a:endParaRPr lang="tr-TR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2569170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1857099-3044-09A2-E782-B86E8FCF3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>
                <a:solidFill>
                  <a:srgbClr val="C00000"/>
                </a:solidFill>
              </a:rPr>
              <a:t>E) </a:t>
            </a:r>
            <a:r>
              <a:rPr lang="tr-TR" dirty="0" err="1">
                <a:solidFill>
                  <a:srgbClr val="C00000"/>
                </a:solidFill>
              </a:rPr>
              <a:t>Journal</a:t>
            </a:r>
            <a:r>
              <a:rPr lang="tr-TR" dirty="0">
                <a:solidFill>
                  <a:srgbClr val="C00000"/>
                </a:solidFill>
              </a:rPr>
              <a:t> </a:t>
            </a:r>
            <a:r>
              <a:rPr lang="tr-TR" dirty="0" err="1">
                <a:solidFill>
                  <a:srgbClr val="C00000"/>
                </a:solidFill>
              </a:rPr>
              <a:t>article</a:t>
            </a:r>
            <a:r>
              <a:rPr lang="tr-TR" dirty="0">
                <a:solidFill>
                  <a:srgbClr val="C00000"/>
                </a:solidFill>
              </a:rPr>
              <a:t> </a:t>
            </a:r>
            <a:r>
              <a:rPr lang="tr-TR" dirty="0" err="1">
                <a:solidFill>
                  <a:srgbClr val="C00000"/>
                </a:solidFill>
              </a:rPr>
              <a:t>without</a:t>
            </a:r>
            <a:r>
              <a:rPr lang="tr-TR" dirty="0">
                <a:solidFill>
                  <a:srgbClr val="C00000"/>
                </a:solidFill>
              </a:rPr>
              <a:t> a DOI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D0C491E-7370-FE83-DB76-AA082AC9A5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err="1"/>
              <a:t>If</a:t>
            </a:r>
            <a:r>
              <a:rPr lang="tr-TR" dirty="0"/>
              <a:t> a DOI </a:t>
            </a:r>
            <a:r>
              <a:rPr lang="tr-TR" dirty="0" err="1"/>
              <a:t>truly</a:t>
            </a:r>
            <a:r>
              <a:rPr lang="tr-TR" dirty="0"/>
              <a:t> </a:t>
            </a:r>
            <a:r>
              <a:rPr lang="tr-TR" dirty="0" err="1"/>
              <a:t>does</a:t>
            </a:r>
            <a:r>
              <a:rPr lang="tr-TR" dirty="0"/>
              <a:t> not </a:t>
            </a:r>
            <a:r>
              <a:rPr lang="tr-TR" dirty="0" err="1"/>
              <a:t>exist</a:t>
            </a:r>
            <a:r>
              <a:rPr lang="tr-TR" dirty="0"/>
              <a:t>, </a:t>
            </a:r>
            <a:r>
              <a:rPr lang="tr-TR" dirty="0" err="1"/>
              <a:t>cite</a:t>
            </a:r>
            <a:r>
              <a:rPr lang="tr-TR" dirty="0"/>
              <a:t> the </a:t>
            </a:r>
            <a:r>
              <a:rPr lang="tr-TR" dirty="0" err="1"/>
              <a:t>article</a:t>
            </a:r>
            <a:r>
              <a:rPr lang="tr-TR" dirty="0"/>
              <a:t> </a:t>
            </a:r>
            <a:r>
              <a:rPr lang="tr-TR" dirty="0" err="1"/>
              <a:t>normally</a:t>
            </a:r>
            <a:r>
              <a:rPr lang="tr-TR" dirty="0"/>
              <a:t>. </a:t>
            </a:r>
          </a:p>
          <a:p>
            <a:r>
              <a:rPr lang="tr-TR" dirty="0" err="1"/>
              <a:t>Add</a:t>
            </a:r>
            <a:r>
              <a:rPr lang="tr-TR" dirty="0"/>
              <a:t> a URL </a:t>
            </a:r>
            <a:r>
              <a:rPr lang="tr-TR" b="1" dirty="0" err="1"/>
              <a:t>only</a:t>
            </a:r>
            <a:r>
              <a:rPr lang="tr-TR" b="1" dirty="0"/>
              <a:t> </a:t>
            </a:r>
            <a:r>
              <a:rPr lang="tr-TR" b="1" dirty="0" err="1"/>
              <a:t>if</a:t>
            </a:r>
            <a:r>
              <a:rPr lang="tr-TR" dirty="0"/>
              <a:t> the </a:t>
            </a:r>
            <a:r>
              <a:rPr lang="tr-TR" dirty="0" err="1"/>
              <a:t>article</a:t>
            </a:r>
            <a:r>
              <a:rPr lang="tr-TR" dirty="0"/>
              <a:t> is </a:t>
            </a:r>
            <a:r>
              <a:rPr lang="tr-TR" dirty="0" err="1"/>
              <a:t>openly</a:t>
            </a:r>
            <a:r>
              <a:rPr lang="tr-TR" dirty="0"/>
              <a:t> </a:t>
            </a:r>
            <a:r>
              <a:rPr lang="tr-TR" dirty="0" err="1"/>
              <a:t>available</a:t>
            </a:r>
            <a:r>
              <a:rPr lang="tr-TR" dirty="0"/>
              <a:t> on the web (</a:t>
            </a:r>
            <a:r>
              <a:rPr lang="tr-TR" dirty="0" err="1"/>
              <a:t>otherwise</a:t>
            </a:r>
            <a:r>
              <a:rPr lang="tr-TR" dirty="0"/>
              <a:t>, do not </a:t>
            </a:r>
            <a:r>
              <a:rPr lang="tr-TR" dirty="0" err="1"/>
              <a:t>include</a:t>
            </a:r>
            <a:r>
              <a:rPr lang="tr-TR" dirty="0"/>
              <a:t> a </a:t>
            </a:r>
            <a:r>
              <a:rPr lang="tr-TR" dirty="0" err="1"/>
              <a:t>database</a:t>
            </a:r>
            <a:r>
              <a:rPr lang="tr-TR" dirty="0"/>
              <a:t> URL).</a:t>
            </a:r>
          </a:p>
          <a:p>
            <a:pPr marL="0" indent="0">
              <a:buNone/>
            </a:pPr>
            <a:endParaRPr lang="tr-TR" b="1" dirty="0"/>
          </a:p>
          <a:p>
            <a:pPr marL="0" indent="0">
              <a:buNone/>
            </a:pPr>
            <a:r>
              <a:rPr lang="tr-TR" b="1" dirty="0" err="1"/>
              <a:t>Example</a:t>
            </a:r>
            <a:r>
              <a:rPr lang="tr-TR" b="1" dirty="0"/>
              <a:t>:</a:t>
            </a:r>
            <a:br>
              <a:rPr lang="tr-TR" dirty="0"/>
            </a:br>
            <a:r>
              <a:rPr lang="tr-TR" dirty="0" err="1"/>
              <a:t>Pestana</a:t>
            </a:r>
            <a:r>
              <a:rPr lang="tr-TR" dirty="0"/>
              <a:t>, J. V., </a:t>
            </a:r>
            <a:r>
              <a:rPr lang="tr-TR" dirty="0" err="1"/>
              <a:t>Esteves</a:t>
            </a:r>
            <a:r>
              <a:rPr lang="tr-TR" dirty="0"/>
              <a:t>, C., &amp; </a:t>
            </a:r>
            <a:r>
              <a:rPr lang="tr-TR" dirty="0" err="1"/>
              <a:t>Oliveira</a:t>
            </a:r>
            <a:r>
              <a:rPr lang="tr-TR" dirty="0"/>
              <a:t>, I. M. (2020). </a:t>
            </a:r>
            <a:r>
              <a:rPr lang="tr-TR" dirty="0" err="1"/>
              <a:t>Leisure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procrastination</a:t>
            </a:r>
            <a:r>
              <a:rPr lang="tr-TR" dirty="0"/>
              <a:t>: A </a:t>
            </a:r>
            <a:r>
              <a:rPr lang="tr-TR" dirty="0" err="1"/>
              <a:t>quest</a:t>
            </a:r>
            <a:r>
              <a:rPr lang="tr-TR" dirty="0"/>
              <a:t> </a:t>
            </a:r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autonomy</a:t>
            </a:r>
            <a:r>
              <a:rPr lang="tr-TR" dirty="0"/>
              <a:t> in </a:t>
            </a:r>
            <a:r>
              <a:rPr lang="tr-TR" dirty="0" err="1"/>
              <a:t>free</a:t>
            </a:r>
            <a:r>
              <a:rPr lang="tr-TR" dirty="0"/>
              <a:t> time. </a:t>
            </a:r>
            <a:r>
              <a:rPr lang="tr-TR" i="1" dirty="0" err="1"/>
              <a:t>Frontiers</a:t>
            </a:r>
            <a:r>
              <a:rPr lang="tr-TR" i="1" dirty="0"/>
              <a:t> in </a:t>
            </a:r>
            <a:r>
              <a:rPr lang="tr-TR" i="1" dirty="0" err="1"/>
              <a:t>Psychology</a:t>
            </a:r>
            <a:r>
              <a:rPr lang="tr-TR" i="1" dirty="0"/>
              <a:t>, 10</a:t>
            </a:r>
            <a:r>
              <a:rPr lang="tr-TR" dirty="0"/>
              <a:t>, 2918. </a:t>
            </a:r>
            <a:r>
              <a:rPr lang="tr-TR" dirty="0">
                <a:hlinkClick r:id="rId2"/>
              </a:rPr>
              <a:t>https://www.frontiersin.org/articles/10.3389/fpsyg.2019.02918/full</a:t>
            </a:r>
            <a:r>
              <a:rPr lang="tr-TR" dirty="0"/>
              <a:t> 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2815652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90F5E30-E41F-147A-7552-1C79307A2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>
                <a:solidFill>
                  <a:srgbClr val="C00000"/>
                </a:solidFill>
              </a:rPr>
              <a:t>F) Magazine </a:t>
            </a:r>
            <a:r>
              <a:rPr lang="tr-TR" dirty="0" err="1">
                <a:solidFill>
                  <a:srgbClr val="C00000"/>
                </a:solidFill>
              </a:rPr>
              <a:t>article</a:t>
            </a:r>
            <a:r>
              <a:rPr lang="tr-TR" dirty="0">
                <a:solidFill>
                  <a:srgbClr val="C00000"/>
                </a:solidFill>
              </a:rPr>
              <a:t> (online)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F675662-539F-4694-1B2F-78788A00A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/>
              <a:t>Format</a:t>
            </a:r>
            <a:br>
              <a:rPr lang="tr-TR" dirty="0"/>
            </a:br>
            <a:r>
              <a:rPr lang="tr-TR" dirty="0"/>
              <a:t>Author, A. A. (</a:t>
            </a:r>
            <a:r>
              <a:rPr lang="tr-TR" dirty="0" err="1"/>
              <a:t>Year</a:t>
            </a:r>
            <a:r>
              <a:rPr lang="tr-TR" dirty="0"/>
              <a:t>, </a:t>
            </a:r>
            <a:r>
              <a:rPr lang="tr-TR" dirty="0" err="1"/>
              <a:t>Month</a:t>
            </a:r>
            <a:r>
              <a:rPr lang="tr-TR" dirty="0"/>
              <a:t> </a:t>
            </a:r>
            <a:r>
              <a:rPr lang="tr-TR" dirty="0" err="1"/>
              <a:t>Day</a:t>
            </a:r>
            <a:r>
              <a:rPr lang="tr-TR" dirty="0"/>
              <a:t>). </a:t>
            </a:r>
            <a:r>
              <a:rPr lang="tr-TR" dirty="0" err="1"/>
              <a:t>Title</a:t>
            </a:r>
            <a:r>
              <a:rPr lang="tr-TR" dirty="0"/>
              <a:t> of </a:t>
            </a:r>
            <a:r>
              <a:rPr lang="tr-TR" dirty="0" err="1"/>
              <a:t>article</a:t>
            </a:r>
            <a:r>
              <a:rPr lang="tr-TR" dirty="0"/>
              <a:t>. </a:t>
            </a:r>
            <a:r>
              <a:rPr lang="tr-TR" i="1" dirty="0" err="1"/>
              <a:t>Title</a:t>
            </a:r>
            <a:r>
              <a:rPr lang="tr-TR" i="1" dirty="0"/>
              <a:t> of Magazine</a:t>
            </a:r>
            <a:r>
              <a:rPr lang="tr-TR" dirty="0"/>
              <a:t>. URL</a:t>
            </a:r>
          </a:p>
          <a:p>
            <a:pPr marL="0" indent="0">
              <a:buNone/>
            </a:pPr>
            <a:endParaRPr lang="tr-TR" b="1" dirty="0"/>
          </a:p>
          <a:p>
            <a:pPr marL="0" indent="0">
              <a:buNone/>
            </a:pPr>
            <a:r>
              <a:rPr lang="tr-TR" b="1" dirty="0" err="1"/>
              <a:t>Example</a:t>
            </a:r>
            <a:r>
              <a:rPr lang="tr-TR" b="1" dirty="0"/>
              <a:t>:</a:t>
            </a:r>
            <a:br>
              <a:rPr lang="tr-TR" dirty="0"/>
            </a:br>
            <a:r>
              <a:rPr lang="tr-TR" dirty="0" err="1"/>
              <a:t>Bustillos</a:t>
            </a:r>
            <a:r>
              <a:rPr lang="tr-TR" dirty="0"/>
              <a:t>, M. (2013, </a:t>
            </a:r>
            <a:r>
              <a:rPr lang="tr-TR" dirty="0" err="1"/>
              <a:t>March</a:t>
            </a:r>
            <a:r>
              <a:rPr lang="tr-TR" dirty="0"/>
              <a:t> 19). On video </a:t>
            </a:r>
            <a:r>
              <a:rPr lang="tr-TR" dirty="0" err="1"/>
              <a:t>games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storytelling</a:t>
            </a:r>
            <a:r>
              <a:rPr lang="tr-TR" dirty="0"/>
              <a:t>: An </a:t>
            </a:r>
            <a:r>
              <a:rPr lang="tr-TR" dirty="0" err="1"/>
              <a:t>interview</a:t>
            </a:r>
            <a:r>
              <a:rPr lang="tr-TR" dirty="0"/>
              <a:t> </a:t>
            </a:r>
            <a:r>
              <a:rPr lang="tr-TR" dirty="0" err="1"/>
              <a:t>with</a:t>
            </a:r>
            <a:r>
              <a:rPr lang="tr-TR" dirty="0"/>
              <a:t> </a:t>
            </a:r>
            <a:r>
              <a:rPr lang="tr-TR" dirty="0" err="1"/>
              <a:t>Tom</a:t>
            </a:r>
            <a:r>
              <a:rPr lang="tr-TR" dirty="0"/>
              <a:t> </a:t>
            </a:r>
            <a:r>
              <a:rPr lang="tr-TR" dirty="0" err="1"/>
              <a:t>Bissell</a:t>
            </a:r>
            <a:r>
              <a:rPr lang="tr-TR" dirty="0"/>
              <a:t>. </a:t>
            </a:r>
            <a:r>
              <a:rPr lang="tr-TR" i="1" dirty="0"/>
              <a:t>The New </a:t>
            </a:r>
            <a:r>
              <a:rPr lang="tr-TR" i="1" dirty="0" err="1"/>
              <a:t>Yorker</a:t>
            </a:r>
            <a:r>
              <a:rPr lang="tr-TR" dirty="0"/>
              <a:t>. </a:t>
            </a:r>
            <a:r>
              <a:rPr lang="tr-TR" dirty="0">
                <a:hlinkClick r:id="rId2"/>
              </a:rPr>
              <a:t>https://www.newyorker.com/books/page-turner/on-video-games-and-storytelling-an-interview-with-tom-bissell</a:t>
            </a:r>
            <a:r>
              <a:rPr lang="tr-T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085933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D387060-CF08-B340-DB6C-46CEC6248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>
                <a:solidFill>
                  <a:srgbClr val="C00000"/>
                </a:solidFill>
              </a:rPr>
              <a:t>G) Magazine </a:t>
            </a:r>
            <a:r>
              <a:rPr lang="tr-TR" dirty="0" err="1">
                <a:solidFill>
                  <a:srgbClr val="C00000"/>
                </a:solidFill>
              </a:rPr>
              <a:t>article</a:t>
            </a:r>
            <a:r>
              <a:rPr lang="tr-TR" dirty="0">
                <a:solidFill>
                  <a:srgbClr val="C00000"/>
                </a:solidFill>
              </a:rPr>
              <a:t> (</a:t>
            </a:r>
            <a:r>
              <a:rPr lang="tr-TR" dirty="0" err="1">
                <a:solidFill>
                  <a:srgbClr val="C00000"/>
                </a:solidFill>
              </a:rPr>
              <a:t>print</a:t>
            </a:r>
            <a:r>
              <a:rPr lang="tr-TR" dirty="0">
                <a:solidFill>
                  <a:srgbClr val="C00000"/>
                </a:solidFill>
              </a:rPr>
              <a:t>)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2EBFCAA-48AE-510C-D353-A41F15D206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/>
              <a:t>Format</a:t>
            </a:r>
            <a:br>
              <a:rPr lang="tr-TR" dirty="0"/>
            </a:br>
            <a:r>
              <a:rPr lang="tr-TR" dirty="0"/>
              <a:t>Author, A. A. (</a:t>
            </a:r>
            <a:r>
              <a:rPr lang="tr-TR" dirty="0" err="1"/>
              <a:t>Year</a:t>
            </a:r>
            <a:r>
              <a:rPr lang="tr-TR" dirty="0"/>
              <a:t>, </a:t>
            </a:r>
            <a:r>
              <a:rPr lang="tr-TR" dirty="0" err="1"/>
              <a:t>Month</a:t>
            </a:r>
            <a:r>
              <a:rPr lang="tr-TR" dirty="0"/>
              <a:t>). </a:t>
            </a:r>
            <a:r>
              <a:rPr lang="tr-TR" dirty="0" err="1"/>
              <a:t>Title</a:t>
            </a:r>
            <a:r>
              <a:rPr lang="tr-TR" dirty="0"/>
              <a:t> of </a:t>
            </a:r>
            <a:r>
              <a:rPr lang="tr-TR" dirty="0" err="1"/>
              <a:t>article</a:t>
            </a:r>
            <a:r>
              <a:rPr lang="tr-TR" dirty="0"/>
              <a:t>. </a:t>
            </a:r>
            <a:r>
              <a:rPr lang="tr-TR" i="1" dirty="0" err="1"/>
              <a:t>Title</a:t>
            </a:r>
            <a:r>
              <a:rPr lang="tr-TR" i="1" dirty="0"/>
              <a:t> of Magazine, </a:t>
            </a:r>
            <a:r>
              <a:rPr lang="tr-TR" i="1" dirty="0" err="1"/>
              <a:t>volume</a:t>
            </a:r>
            <a:r>
              <a:rPr lang="tr-TR" dirty="0"/>
              <a:t>(</a:t>
            </a:r>
            <a:r>
              <a:rPr lang="tr-TR" dirty="0" err="1"/>
              <a:t>issue</a:t>
            </a:r>
            <a:r>
              <a:rPr lang="tr-TR" dirty="0"/>
              <a:t>), </a:t>
            </a:r>
            <a:r>
              <a:rPr lang="tr-TR" dirty="0" err="1"/>
              <a:t>page-page</a:t>
            </a:r>
            <a:r>
              <a:rPr lang="tr-TR" dirty="0"/>
              <a:t>.</a:t>
            </a:r>
          </a:p>
          <a:p>
            <a:pPr marL="0" indent="0">
              <a:buNone/>
            </a:pPr>
            <a:endParaRPr lang="tr-TR" b="1" dirty="0"/>
          </a:p>
          <a:p>
            <a:pPr marL="0" indent="0">
              <a:buNone/>
            </a:pPr>
            <a:r>
              <a:rPr lang="tr-TR" b="1" dirty="0" err="1"/>
              <a:t>Example</a:t>
            </a:r>
            <a:r>
              <a:rPr lang="tr-TR" b="1" dirty="0"/>
              <a:t>:</a:t>
            </a:r>
            <a:br>
              <a:rPr lang="tr-TR" dirty="0"/>
            </a:br>
            <a:r>
              <a:rPr lang="tr-TR" dirty="0" err="1"/>
              <a:t>Weir</a:t>
            </a:r>
            <a:r>
              <a:rPr lang="tr-TR" dirty="0"/>
              <a:t>, K. (2017, </a:t>
            </a:r>
            <a:r>
              <a:rPr lang="tr-TR" dirty="0" err="1"/>
              <a:t>January</a:t>
            </a:r>
            <a:r>
              <a:rPr lang="tr-TR" dirty="0"/>
              <a:t>). </a:t>
            </a:r>
            <a:r>
              <a:rPr lang="tr-TR" dirty="0" err="1"/>
              <a:t>Forgiveness</a:t>
            </a:r>
            <a:r>
              <a:rPr lang="tr-TR" dirty="0"/>
              <a:t> can </a:t>
            </a:r>
            <a:r>
              <a:rPr lang="tr-TR" dirty="0" err="1"/>
              <a:t>improve</a:t>
            </a:r>
            <a:r>
              <a:rPr lang="tr-TR" dirty="0"/>
              <a:t> </a:t>
            </a:r>
            <a:r>
              <a:rPr lang="tr-TR" dirty="0" err="1"/>
              <a:t>mental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physical</a:t>
            </a:r>
            <a:r>
              <a:rPr lang="tr-TR" dirty="0"/>
              <a:t> </a:t>
            </a:r>
            <a:r>
              <a:rPr lang="tr-TR" dirty="0" err="1"/>
              <a:t>health</a:t>
            </a:r>
            <a:r>
              <a:rPr lang="tr-TR" dirty="0"/>
              <a:t>. </a:t>
            </a:r>
            <a:r>
              <a:rPr lang="tr-TR" i="1" dirty="0" err="1"/>
              <a:t>Monitor</a:t>
            </a:r>
            <a:r>
              <a:rPr lang="tr-TR" i="1" dirty="0"/>
              <a:t> on </a:t>
            </a:r>
            <a:r>
              <a:rPr lang="tr-TR" i="1" dirty="0" err="1"/>
              <a:t>Psychology</a:t>
            </a:r>
            <a:r>
              <a:rPr lang="tr-TR" i="1" dirty="0"/>
              <a:t>, 48</a:t>
            </a:r>
            <a:r>
              <a:rPr lang="tr-TR" dirty="0"/>
              <a:t>(1), 30.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3803933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FAD82DB-EDAA-4A40-940E-9C53A20F1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>
                <a:solidFill>
                  <a:srgbClr val="C00000"/>
                </a:solidFill>
              </a:rPr>
              <a:t>H) </a:t>
            </a:r>
            <a:r>
              <a:rPr lang="tr-TR" b="1" dirty="0" err="1">
                <a:solidFill>
                  <a:srgbClr val="C00000"/>
                </a:solidFill>
              </a:rPr>
              <a:t>Newspaper</a:t>
            </a:r>
            <a:r>
              <a:rPr lang="tr-TR" b="1" dirty="0">
                <a:solidFill>
                  <a:srgbClr val="C00000"/>
                </a:solidFill>
              </a:rPr>
              <a:t> </a:t>
            </a:r>
            <a:r>
              <a:rPr lang="tr-TR" b="1" dirty="0" err="1">
                <a:solidFill>
                  <a:srgbClr val="C00000"/>
                </a:solidFill>
              </a:rPr>
              <a:t>article</a:t>
            </a:r>
            <a:r>
              <a:rPr lang="tr-TR" b="1" dirty="0">
                <a:solidFill>
                  <a:srgbClr val="C00000"/>
                </a:solidFill>
              </a:rPr>
              <a:t> (online)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D6DBD58-67BB-8C33-276A-350A29DA88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15513" cy="4351338"/>
          </a:xfrm>
        </p:spPr>
        <p:txBody>
          <a:bodyPr/>
          <a:lstStyle/>
          <a:p>
            <a:r>
              <a:rPr lang="tr-TR" b="1" dirty="0"/>
              <a:t>Format</a:t>
            </a:r>
            <a:br>
              <a:rPr lang="tr-TR" dirty="0"/>
            </a:br>
            <a:r>
              <a:rPr lang="tr-TR" dirty="0"/>
              <a:t>Author, A. A. (</a:t>
            </a:r>
            <a:r>
              <a:rPr lang="tr-TR" dirty="0" err="1"/>
              <a:t>Year</a:t>
            </a:r>
            <a:r>
              <a:rPr lang="tr-TR" dirty="0"/>
              <a:t>, </a:t>
            </a:r>
            <a:r>
              <a:rPr lang="tr-TR" dirty="0" err="1"/>
              <a:t>Month</a:t>
            </a:r>
            <a:r>
              <a:rPr lang="tr-TR" dirty="0"/>
              <a:t> </a:t>
            </a:r>
            <a:r>
              <a:rPr lang="tr-TR" dirty="0" err="1"/>
              <a:t>Day</a:t>
            </a:r>
            <a:r>
              <a:rPr lang="tr-TR" dirty="0"/>
              <a:t>). </a:t>
            </a:r>
            <a:r>
              <a:rPr lang="tr-TR" dirty="0" err="1"/>
              <a:t>Title</a:t>
            </a:r>
            <a:r>
              <a:rPr lang="tr-TR" dirty="0"/>
              <a:t> of </a:t>
            </a:r>
            <a:r>
              <a:rPr lang="tr-TR" dirty="0" err="1"/>
              <a:t>article</a:t>
            </a:r>
            <a:r>
              <a:rPr lang="tr-TR" dirty="0"/>
              <a:t>. </a:t>
            </a:r>
            <a:r>
              <a:rPr lang="tr-TR" i="1" dirty="0" err="1"/>
              <a:t>Title</a:t>
            </a:r>
            <a:r>
              <a:rPr lang="tr-TR" i="1" dirty="0"/>
              <a:t> of </a:t>
            </a:r>
            <a:r>
              <a:rPr lang="tr-TR" i="1" dirty="0" err="1"/>
              <a:t>Newspaper</a:t>
            </a:r>
            <a:r>
              <a:rPr lang="tr-TR" dirty="0"/>
              <a:t>. URL</a:t>
            </a:r>
          </a:p>
          <a:p>
            <a:pPr marL="0" indent="0">
              <a:buNone/>
            </a:pPr>
            <a:endParaRPr lang="tr-TR" b="1" dirty="0"/>
          </a:p>
          <a:p>
            <a:pPr marL="0" indent="0">
              <a:buNone/>
            </a:pPr>
            <a:r>
              <a:rPr lang="tr-TR" b="1" dirty="0" err="1"/>
              <a:t>Example</a:t>
            </a:r>
            <a:r>
              <a:rPr lang="tr-TR" b="1" dirty="0"/>
              <a:t>:</a:t>
            </a:r>
            <a:br>
              <a:rPr lang="tr-TR" dirty="0"/>
            </a:br>
            <a:r>
              <a:rPr lang="tr-TR" dirty="0" err="1"/>
              <a:t>Sample</a:t>
            </a:r>
            <a:r>
              <a:rPr lang="tr-TR" dirty="0"/>
              <a:t>, I. (2021, </a:t>
            </a:r>
            <a:r>
              <a:rPr lang="tr-TR" dirty="0" err="1"/>
              <a:t>March</a:t>
            </a:r>
            <a:r>
              <a:rPr lang="tr-TR" dirty="0"/>
              <a:t> 9). </a:t>
            </a:r>
            <a:r>
              <a:rPr lang="tr-TR" dirty="0" err="1"/>
              <a:t>Rare</a:t>
            </a:r>
            <a:r>
              <a:rPr lang="tr-TR" dirty="0"/>
              <a:t> </a:t>
            </a:r>
            <a:r>
              <a:rPr lang="tr-TR" dirty="0" err="1"/>
              <a:t>meteorite</a:t>
            </a:r>
            <a:r>
              <a:rPr lang="tr-TR" dirty="0"/>
              <a:t> </a:t>
            </a:r>
            <a:r>
              <a:rPr lang="tr-TR" dirty="0" err="1"/>
              <a:t>chunk</a:t>
            </a:r>
            <a:r>
              <a:rPr lang="tr-TR" dirty="0"/>
              <a:t> </a:t>
            </a:r>
            <a:r>
              <a:rPr lang="tr-TR" dirty="0" err="1"/>
              <a:t>traced</a:t>
            </a:r>
            <a:r>
              <a:rPr lang="tr-TR" dirty="0"/>
              <a:t> </a:t>
            </a:r>
            <a:r>
              <a:rPr lang="tr-TR" dirty="0" err="1"/>
              <a:t>by</a:t>
            </a:r>
            <a:r>
              <a:rPr lang="tr-TR" dirty="0"/>
              <a:t> </a:t>
            </a:r>
            <a:r>
              <a:rPr lang="tr-TR" dirty="0" err="1"/>
              <a:t>scientists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Gloucestershire</a:t>
            </a:r>
            <a:r>
              <a:rPr lang="tr-TR" dirty="0"/>
              <a:t> </a:t>
            </a:r>
            <a:r>
              <a:rPr lang="tr-TR" dirty="0" err="1"/>
              <a:t>driveway</a:t>
            </a:r>
            <a:r>
              <a:rPr lang="tr-TR" dirty="0"/>
              <a:t>. </a:t>
            </a:r>
            <a:r>
              <a:rPr lang="tr-TR" i="1" dirty="0"/>
              <a:t>The </a:t>
            </a:r>
            <a:r>
              <a:rPr lang="tr-TR" i="1" dirty="0" err="1"/>
              <a:t>Guardian</a:t>
            </a:r>
            <a:r>
              <a:rPr lang="tr-TR" dirty="0"/>
              <a:t>. </a:t>
            </a:r>
            <a:r>
              <a:rPr lang="tr-TR" dirty="0">
                <a:hlinkClick r:id="rId2"/>
              </a:rPr>
              <a:t>https://www.theguardian.com/science/2021/mar/09/rare-meteorite-chunk-traced-by-scientists-to-gloucestershire-driveway</a:t>
            </a:r>
            <a:r>
              <a:rPr lang="tr-TR" dirty="0"/>
              <a:t> 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1061056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7E462F6-B37D-1CCC-8F80-18E887B9E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>
                <a:solidFill>
                  <a:srgbClr val="C00000"/>
                </a:solidFill>
              </a:rPr>
              <a:t>I) Online </a:t>
            </a:r>
            <a:r>
              <a:rPr lang="tr-TR" dirty="0" err="1">
                <a:solidFill>
                  <a:srgbClr val="C00000"/>
                </a:solidFill>
              </a:rPr>
              <a:t>dictionary</a:t>
            </a:r>
            <a:r>
              <a:rPr lang="tr-TR" dirty="0">
                <a:solidFill>
                  <a:srgbClr val="C00000"/>
                </a:solidFill>
              </a:rPr>
              <a:t> </a:t>
            </a:r>
            <a:r>
              <a:rPr lang="tr-TR" dirty="0" err="1">
                <a:solidFill>
                  <a:srgbClr val="C00000"/>
                </a:solidFill>
              </a:rPr>
              <a:t>entry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E2B7802-FC26-7046-36F5-C4C4FD969D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/>
              <a:t>Format</a:t>
            </a:r>
            <a:br>
              <a:rPr lang="tr-TR" dirty="0"/>
            </a:br>
            <a:r>
              <a:rPr lang="tr-TR" dirty="0"/>
              <a:t>Dictionary Name. (</a:t>
            </a:r>
            <a:r>
              <a:rPr lang="tr-TR" dirty="0" err="1"/>
              <a:t>Year</a:t>
            </a:r>
            <a:r>
              <a:rPr lang="tr-TR" dirty="0"/>
              <a:t> </a:t>
            </a:r>
            <a:r>
              <a:rPr lang="tr-TR" dirty="0" err="1"/>
              <a:t>or</a:t>
            </a:r>
            <a:r>
              <a:rPr lang="tr-TR" dirty="0"/>
              <a:t> </a:t>
            </a:r>
            <a:r>
              <a:rPr lang="tr-TR" dirty="0" err="1"/>
              <a:t>n.d</a:t>
            </a:r>
            <a:r>
              <a:rPr lang="tr-TR" dirty="0"/>
              <a:t>.). </a:t>
            </a:r>
            <a:r>
              <a:rPr lang="tr-TR" dirty="0" err="1"/>
              <a:t>Entry</a:t>
            </a:r>
            <a:r>
              <a:rPr lang="tr-TR" dirty="0"/>
              <a:t> </a:t>
            </a:r>
            <a:r>
              <a:rPr lang="tr-TR" dirty="0" err="1"/>
              <a:t>title</a:t>
            </a:r>
            <a:r>
              <a:rPr lang="tr-TR" dirty="0"/>
              <a:t>. </a:t>
            </a:r>
            <a:r>
              <a:rPr lang="tr-TR" dirty="0" err="1"/>
              <a:t>In</a:t>
            </a:r>
            <a:r>
              <a:rPr lang="tr-TR" dirty="0"/>
              <a:t> </a:t>
            </a:r>
            <a:r>
              <a:rPr lang="tr-TR" i="1" dirty="0"/>
              <a:t>Dictionary Name</a:t>
            </a:r>
            <a:r>
              <a:rPr lang="tr-TR" dirty="0"/>
              <a:t>. URL (</a:t>
            </a:r>
            <a:r>
              <a:rPr lang="tr-TR" dirty="0" err="1"/>
              <a:t>Include</a:t>
            </a:r>
            <a:r>
              <a:rPr lang="tr-TR" dirty="0"/>
              <a:t> </a:t>
            </a:r>
            <a:r>
              <a:rPr lang="tr-TR" dirty="0" err="1"/>
              <a:t>retrieval</a:t>
            </a:r>
            <a:r>
              <a:rPr lang="tr-TR" dirty="0"/>
              <a:t> </a:t>
            </a:r>
            <a:r>
              <a:rPr lang="tr-TR" dirty="0" err="1"/>
              <a:t>date</a:t>
            </a:r>
            <a:r>
              <a:rPr lang="tr-TR" dirty="0"/>
              <a:t> </a:t>
            </a:r>
            <a:r>
              <a:rPr lang="tr-TR" dirty="0" err="1"/>
              <a:t>if</a:t>
            </a:r>
            <a:r>
              <a:rPr lang="tr-TR" dirty="0"/>
              <a:t> </a:t>
            </a:r>
            <a:r>
              <a:rPr lang="tr-TR" dirty="0" err="1"/>
              <a:t>content</a:t>
            </a:r>
            <a:r>
              <a:rPr lang="tr-TR" dirty="0"/>
              <a:t> </a:t>
            </a:r>
            <a:r>
              <a:rPr lang="tr-TR" dirty="0" err="1"/>
              <a:t>changes</a:t>
            </a:r>
            <a:r>
              <a:rPr lang="tr-TR" dirty="0"/>
              <a:t> </a:t>
            </a:r>
            <a:r>
              <a:rPr lang="tr-TR" dirty="0" err="1"/>
              <a:t>over</a:t>
            </a:r>
            <a:r>
              <a:rPr lang="tr-TR" dirty="0"/>
              <a:t> time.)</a:t>
            </a:r>
          </a:p>
          <a:p>
            <a:pPr marL="0" indent="0">
              <a:buNone/>
            </a:pPr>
            <a:endParaRPr lang="tr-TR" b="1" dirty="0"/>
          </a:p>
          <a:p>
            <a:pPr marL="0" indent="0">
              <a:buNone/>
            </a:pPr>
            <a:r>
              <a:rPr lang="tr-TR" b="1" dirty="0" err="1"/>
              <a:t>Example</a:t>
            </a:r>
            <a:r>
              <a:rPr lang="tr-TR" b="1" dirty="0"/>
              <a:t>:</a:t>
            </a:r>
            <a:br>
              <a:rPr lang="tr-TR" dirty="0"/>
            </a:br>
            <a:r>
              <a:rPr lang="tr-TR" dirty="0" err="1"/>
              <a:t>Merriam-Webster</a:t>
            </a:r>
            <a:r>
              <a:rPr lang="tr-TR" dirty="0"/>
              <a:t>. (</a:t>
            </a:r>
            <a:r>
              <a:rPr lang="tr-TR" dirty="0" err="1"/>
              <a:t>n.d</a:t>
            </a:r>
            <a:r>
              <a:rPr lang="tr-TR" dirty="0"/>
              <a:t>.). Self-</a:t>
            </a:r>
            <a:r>
              <a:rPr lang="tr-TR" dirty="0" err="1"/>
              <a:t>report</a:t>
            </a:r>
            <a:r>
              <a:rPr lang="tr-TR" dirty="0"/>
              <a:t>. </a:t>
            </a:r>
            <a:r>
              <a:rPr lang="tr-TR" dirty="0" err="1"/>
              <a:t>In</a:t>
            </a:r>
            <a:r>
              <a:rPr lang="tr-TR" dirty="0"/>
              <a:t> </a:t>
            </a:r>
            <a:r>
              <a:rPr lang="tr-TR" i="1" dirty="0" err="1"/>
              <a:t>Merriam-Webster.com</a:t>
            </a:r>
            <a:r>
              <a:rPr lang="tr-TR" i="1" dirty="0"/>
              <a:t> </a:t>
            </a:r>
            <a:r>
              <a:rPr lang="tr-TR" i="1" dirty="0" err="1"/>
              <a:t>dictionary</a:t>
            </a:r>
            <a:r>
              <a:rPr lang="tr-TR" dirty="0"/>
              <a:t>. </a:t>
            </a:r>
            <a:r>
              <a:rPr lang="tr-TR" dirty="0">
                <a:hlinkClick r:id="rId2"/>
              </a:rPr>
              <a:t>https://www.merriam-webster.com/dictionary/self-report</a:t>
            </a:r>
            <a:r>
              <a:rPr lang="tr-T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936271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D16D310-8D0C-F558-119A-AD00378D2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80059" cy="1325563"/>
          </a:xfrm>
        </p:spPr>
        <p:txBody>
          <a:bodyPr>
            <a:normAutofit/>
          </a:bodyPr>
          <a:lstStyle/>
          <a:p>
            <a:r>
              <a:rPr lang="tr-TR" sz="3600" b="1" dirty="0">
                <a:solidFill>
                  <a:srgbClr val="C00000"/>
                </a:solidFill>
              </a:rPr>
              <a:t>J) Report </a:t>
            </a:r>
            <a:r>
              <a:rPr lang="tr-TR" sz="3600" b="1" dirty="0" err="1">
                <a:solidFill>
                  <a:srgbClr val="C00000"/>
                </a:solidFill>
              </a:rPr>
              <a:t>by</a:t>
            </a:r>
            <a:r>
              <a:rPr lang="tr-TR" sz="3600" b="1" dirty="0">
                <a:solidFill>
                  <a:srgbClr val="C00000"/>
                </a:solidFill>
              </a:rPr>
              <a:t> an </a:t>
            </a:r>
            <a:r>
              <a:rPr lang="tr-TR" sz="3600" b="1" dirty="0" err="1">
                <a:solidFill>
                  <a:srgbClr val="C00000"/>
                </a:solidFill>
              </a:rPr>
              <a:t>organization</a:t>
            </a:r>
            <a:r>
              <a:rPr lang="tr-TR" sz="3600" b="1" dirty="0">
                <a:solidFill>
                  <a:srgbClr val="C00000"/>
                </a:solidFill>
              </a:rPr>
              <a:t> (</a:t>
            </a:r>
            <a:r>
              <a:rPr lang="tr-TR" sz="3600" b="1" dirty="0" err="1">
                <a:solidFill>
                  <a:srgbClr val="C00000"/>
                </a:solidFill>
              </a:rPr>
              <a:t>webpage</a:t>
            </a:r>
            <a:r>
              <a:rPr lang="tr-TR" sz="3600" b="1" dirty="0">
                <a:solidFill>
                  <a:srgbClr val="C00000"/>
                </a:solidFill>
              </a:rPr>
              <a:t>/</a:t>
            </a:r>
            <a:r>
              <a:rPr lang="tr-TR" sz="3600" b="1" dirty="0" err="1">
                <a:solidFill>
                  <a:srgbClr val="C00000"/>
                </a:solidFill>
              </a:rPr>
              <a:t>report</a:t>
            </a:r>
            <a:r>
              <a:rPr lang="tr-TR" sz="3600" b="1" dirty="0">
                <a:solidFill>
                  <a:srgbClr val="C00000"/>
                </a:solidFill>
              </a:rPr>
              <a:t> </a:t>
            </a:r>
            <a:r>
              <a:rPr lang="tr-TR" sz="3600" b="1" dirty="0" err="1">
                <a:solidFill>
                  <a:srgbClr val="C00000"/>
                </a:solidFill>
              </a:rPr>
              <a:t>page</a:t>
            </a:r>
            <a:r>
              <a:rPr lang="tr-TR" sz="3600" b="1" dirty="0">
                <a:solidFill>
                  <a:srgbClr val="C00000"/>
                </a:solidFill>
              </a:rPr>
              <a:t>)</a:t>
            </a:r>
            <a:endParaRPr lang="tr-TR" sz="3600" dirty="0">
              <a:solidFill>
                <a:srgbClr val="C00000"/>
              </a:solidFill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80CBF4C-9162-8A69-2FF4-DBF37FC677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/>
              <a:t>Format</a:t>
            </a:r>
            <a:br>
              <a:rPr lang="tr-TR" dirty="0"/>
            </a:br>
            <a:r>
              <a:rPr lang="tr-TR" dirty="0" err="1"/>
              <a:t>Organization</a:t>
            </a:r>
            <a:r>
              <a:rPr lang="tr-TR" dirty="0"/>
              <a:t> Name. (</a:t>
            </a:r>
            <a:r>
              <a:rPr lang="tr-TR" dirty="0" err="1"/>
              <a:t>Year</a:t>
            </a:r>
            <a:r>
              <a:rPr lang="tr-TR" dirty="0"/>
              <a:t>, </a:t>
            </a:r>
            <a:r>
              <a:rPr lang="tr-TR" dirty="0" err="1"/>
              <a:t>Month</a:t>
            </a:r>
            <a:r>
              <a:rPr lang="tr-TR" dirty="0"/>
              <a:t> </a:t>
            </a:r>
            <a:r>
              <a:rPr lang="tr-TR" dirty="0" err="1"/>
              <a:t>Day</a:t>
            </a:r>
            <a:r>
              <a:rPr lang="tr-TR" dirty="0"/>
              <a:t>). </a:t>
            </a:r>
            <a:r>
              <a:rPr lang="tr-TR" i="1" dirty="0" err="1"/>
              <a:t>Title</a:t>
            </a:r>
            <a:r>
              <a:rPr lang="tr-TR" i="1" dirty="0"/>
              <a:t> of </a:t>
            </a:r>
            <a:r>
              <a:rPr lang="tr-TR" i="1" dirty="0" err="1"/>
              <a:t>report</a:t>
            </a:r>
            <a:r>
              <a:rPr lang="tr-TR" i="1" dirty="0"/>
              <a:t>/</a:t>
            </a:r>
            <a:r>
              <a:rPr lang="tr-TR" i="1" dirty="0" err="1"/>
              <a:t>page</a:t>
            </a:r>
            <a:r>
              <a:rPr lang="tr-TR" dirty="0"/>
              <a:t>. Site Name (</a:t>
            </a:r>
            <a:r>
              <a:rPr lang="tr-TR" dirty="0" err="1"/>
              <a:t>if</a:t>
            </a:r>
            <a:r>
              <a:rPr lang="tr-TR" dirty="0"/>
              <a:t> </a:t>
            </a:r>
            <a:r>
              <a:rPr lang="tr-TR" dirty="0" err="1"/>
              <a:t>different</a:t>
            </a:r>
            <a:r>
              <a:rPr lang="tr-TR" dirty="0"/>
              <a:t>). URL</a:t>
            </a:r>
          </a:p>
          <a:p>
            <a:pPr marL="0" indent="0">
              <a:buNone/>
            </a:pPr>
            <a:endParaRPr lang="tr-TR" b="1" dirty="0"/>
          </a:p>
          <a:p>
            <a:pPr marL="0" indent="0">
              <a:buNone/>
            </a:pPr>
            <a:r>
              <a:rPr lang="tr-TR" b="1" dirty="0" err="1"/>
              <a:t>Example</a:t>
            </a:r>
            <a:r>
              <a:rPr lang="tr-TR" b="1" dirty="0"/>
              <a:t>:</a:t>
            </a:r>
            <a:br>
              <a:rPr lang="tr-TR" dirty="0"/>
            </a:br>
            <a:r>
              <a:rPr lang="tr-TR" dirty="0"/>
              <a:t>World </a:t>
            </a:r>
            <a:r>
              <a:rPr lang="tr-TR" dirty="0" err="1"/>
              <a:t>Health</a:t>
            </a:r>
            <a:r>
              <a:rPr lang="tr-TR" dirty="0"/>
              <a:t> </a:t>
            </a:r>
            <a:r>
              <a:rPr lang="tr-TR" dirty="0" err="1"/>
              <a:t>Organization</a:t>
            </a:r>
            <a:r>
              <a:rPr lang="tr-TR" dirty="0"/>
              <a:t>. (2021, </a:t>
            </a:r>
            <a:r>
              <a:rPr lang="tr-TR" dirty="0" err="1"/>
              <a:t>March</a:t>
            </a:r>
            <a:r>
              <a:rPr lang="tr-TR" dirty="0"/>
              <a:t> 4). </a:t>
            </a:r>
            <a:r>
              <a:rPr lang="tr-TR" i="1" dirty="0" err="1"/>
              <a:t>Rotavirus</a:t>
            </a:r>
            <a:r>
              <a:rPr lang="tr-TR" i="1" dirty="0"/>
              <a:t> </a:t>
            </a:r>
            <a:r>
              <a:rPr lang="tr-TR" i="1" dirty="0" err="1"/>
              <a:t>vaccines</a:t>
            </a:r>
            <a:r>
              <a:rPr lang="tr-TR" i="1" dirty="0"/>
              <a:t> </a:t>
            </a:r>
            <a:r>
              <a:rPr lang="tr-TR" i="1" dirty="0" err="1"/>
              <a:t>made</a:t>
            </a:r>
            <a:r>
              <a:rPr lang="tr-TR" i="1" dirty="0"/>
              <a:t> </a:t>
            </a:r>
            <a:r>
              <a:rPr lang="tr-TR" i="1" dirty="0" err="1"/>
              <a:t>available</a:t>
            </a:r>
            <a:r>
              <a:rPr lang="tr-TR" i="1" dirty="0"/>
              <a:t> </a:t>
            </a:r>
            <a:r>
              <a:rPr lang="tr-TR" i="1" dirty="0" err="1"/>
              <a:t>for</a:t>
            </a:r>
            <a:r>
              <a:rPr lang="tr-TR" i="1" dirty="0"/>
              <a:t> </a:t>
            </a:r>
            <a:r>
              <a:rPr lang="tr-TR" i="1" dirty="0" err="1"/>
              <a:t>use</a:t>
            </a:r>
            <a:r>
              <a:rPr lang="tr-TR" i="1" dirty="0"/>
              <a:t> in </a:t>
            </a:r>
            <a:r>
              <a:rPr lang="tr-TR" i="1" dirty="0" err="1"/>
              <a:t>humanitarian</a:t>
            </a:r>
            <a:r>
              <a:rPr lang="tr-TR" i="1" dirty="0"/>
              <a:t> </a:t>
            </a:r>
            <a:r>
              <a:rPr lang="tr-TR" i="1" dirty="0" err="1"/>
              <a:t>crises</a:t>
            </a:r>
            <a:r>
              <a:rPr lang="tr-TR" dirty="0"/>
              <a:t>. </a:t>
            </a:r>
            <a:r>
              <a:rPr lang="tr-TR" dirty="0">
                <a:hlinkClick r:id="rId2"/>
              </a:rPr>
              <a:t>https://www.who.int/news/item/04-03-2021-rotavirus-vaccines-made-available-for-use-in-humanitarian-crises</a:t>
            </a:r>
            <a:r>
              <a:rPr lang="tr-T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795304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15F1D10-20C0-E7FE-500D-EA2A8C4E1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>
                <a:solidFill>
                  <a:srgbClr val="C00000"/>
                </a:solidFill>
              </a:rPr>
              <a:t>K) TED Talk (on TED)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9E2D064-6042-4588-5BCE-8652F71ECB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26271" cy="4351338"/>
          </a:xfrm>
        </p:spPr>
        <p:txBody>
          <a:bodyPr/>
          <a:lstStyle/>
          <a:p>
            <a:r>
              <a:rPr lang="tr-TR" b="1" dirty="0"/>
              <a:t>Format</a:t>
            </a:r>
            <a:br>
              <a:rPr lang="tr-TR" dirty="0"/>
            </a:br>
            <a:r>
              <a:rPr lang="tr-TR" dirty="0" err="1"/>
              <a:t>Speaker</a:t>
            </a:r>
            <a:r>
              <a:rPr lang="tr-TR" dirty="0"/>
              <a:t>, A. A. (</a:t>
            </a:r>
            <a:r>
              <a:rPr lang="tr-TR" dirty="0" err="1"/>
              <a:t>Year</a:t>
            </a:r>
            <a:r>
              <a:rPr lang="tr-TR" dirty="0"/>
              <a:t>, </a:t>
            </a:r>
            <a:r>
              <a:rPr lang="tr-TR" dirty="0" err="1"/>
              <a:t>Month</a:t>
            </a:r>
            <a:r>
              <a:rPr lang="tr-TR" dirty="0"/>
              <a:t>). </a:t>
            </a:r>
            <a:r>
              <a:rPr lang="tr-TR" i="1" dirty="0" err="1"/>
              <a:t>Title</a:t>
            </a:r>
            <a:r>
              <a:rPr lang="tr-TR" i="1" dirty="0"/>
              <a:t> of talk</a:t>
            </a:r>
            <a:r>
              <a:rPr lang="tr-TR" dirty="0"/>
              <a:t> [Video]. TED </a:t>
            </a:r>
            <a:r>
              <a:rPr lang="tr-TR" dirty="0" err="1"/>
              <a:t>Conferences</a:t>
            </a:r>
            <a:r>
              <a:rPr lang="tr-TR" dirty="0"/>
              <a:t>. URL</a:t>
            </a:r>
          </a:p>
          <a:p>
            <a:pPr marL="0" indent="0">
              <a:buNone/>
            </a:pPr>
            <a:endParaRPr lang="tr-TR" b="1" dirty="0"/>
          </a:p>
          <a:p>
            <a:pPr marL="0" indent="0">
              <a:buNone/>
            </a:pPr>
            <a:r>
              <a:rPr lang="tr-TR" b="1" dirty="0" err="1"/>
              <a:t>Example</a:t>
            </a:r>
            <a:r>
              <a:rPr lang="tr-TR" b="1" dirty="0"/>
              <a:t>:</a:t>
            </a:r>
            <a:br>
              <a:rPr lang="tr-TR" dirty="0"/>
            </a:br>
            <a:r>
              <a:rPr lang="tr-TR" dirty="0" err="1"/>
              <a:t>Robinson</a:t>
            </a:r>
            <a:r>
              <a:rPr lang="tr-TR" dirty="0"/>
              <a:t>, K. (2006, </a:t>
            </a:r>
            <a:r>
              <a:rPr lang="tr-TR" dirty="0" err="1"/>
              <a:t>February</a:t>
            </a:r>
            <a:r>
              <a:rPr lang="tr-TR" dirty="0"/>
              <a:t>). </a:t>
            </a:r>
            <a:r>
              <a:rPr lang="tr-TR" i="1" dirty="0"/>
              <a:t>Do </a:t>
            </a:r>
            <a:r>
              <a:rPr lang="tr-TR" i="1" dirty="0" err="1"/>
              <a:t>schools</a:t>
            </a:r>
            <a:r>
              <a:rPr lang="tr-TR" i="1" dirty="0"/>
              <a:t> </a:t>
            </a:r>
            <a:r>
              <a:rPr lang="tr-TR" i="1" dirty="0" err="1"/>
              <a:t>kill</a:t>
            </a:r>
            <a:r>
              <a:rPr lang="tr-TR" i="1" dirty="0"/>
              <a:t> </a:t>
            </a:r>
            <a:r>
              <a:rPr lang="tr-TR" i="1" dirty="0" err="1"/>
              <a:t>creativity</a:t>
            </a:r>
            <a:r>
              <a:rPr lang="tr-TR" i="1" dirty="0"/>
              <a:t>?</a:t>
            </a:r>
            <a:r>
              <a:rPr lang="tr-TR" dirty="0"/>
              <a:t> [Video]. TED </a:t>
            </a:r>
            <a:r>
              <a:rPr lang="tr-TR" dirty="0" err="1"/>
              <a:t>Conferences</a:t>
            </a:r>
            <a:r>
              <a:rPr lang="tr-TR" dirty="0"/>
              <a:t>. </a:t>
            </a:r>
            <a:r>
              <a:rPr lang="tr-TR" dirty="0">
                <a:hlinkClick r:id="rId2"/>
              </a:rPr>
              <a:t>https://www.ted.com/talks/sir_ken_robinson_do_schools_kill_creativity</a:t>
            </a:r>
            <a:r>
              <a:rPr lang="tr-T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433579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D32B812-C8DE-9929-0E82-15AD87DEA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>
                <a:solidFill>
                  <a:srgbClr val="C00000"/>
                </a:solidFill>
              </a:rPr>
              <a:t>L) </a:t>
            </a:r>
            <a:r>
              <a:rPr lang="tr-TR" dirty="0" err="1">
                <a:solidFill>
                  <a:srgbClr val="C00000"/>
                </a:solidFill>
              </a:rPr>
              <a:t>YouTube</a:t>
            </a:r>
            <a:r>
              <a:rPr lang="tr-TR" dirty="0">
                <a:solidFill>
                  <a:srgbClr val="C00000"/>
                </a:solidFill>
              </a:rPr>
              <a:t> video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E96051F-2AEC-8F3A-FBEA-DDFB92A138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683240" cy="4768813"/>
          </a:xfrm>
        </p:spPr>
        <p:txBody>
          <a:bodyPr>
            <a:normAutofit lnSpcReduction="10000"/>
          </a:bodyPr>
          <a:lstStyle/>
          <a:p>
            <a:r>
              <a:rPr lang="tr-TR" b="1" dirty="0"/>
              <a:t>Format</a:t>
            </a:r>
            <a:br>
              <a:rPr lang="tr-TR" dirty="0"/>
            </a:br>
            <a:r>
              <a:rPr lang="tr-TR" dirty="0"/>
              <a:t>Author, A. A. [Channel Name]. (</a:t>
            </a:r>
            <a:r>
              <a:rPr lang="tr-TR" dirty="0" err="1"/>
              <a:t>Year</a:t>
            </a:r>
            <a:r>
              <a:rPr lang="tr-TR" dirty="0"/>
              <a:t>, </a:t>
            </a:r>
            <a:r>
              <a:rPr lang="tr-TR" dirty="0" err="1"/>
              <a:t>Month</a:t>
            </a:r>
            <a:r>
              <a:rPr lang="tr-TR" dirty="0"/>
              <a:t> </a:t>
            </a:r>
            <a:r>
              <a:rPr lang="tr-TR" dirty="0" err="1"/>
              <a:t>Day</a:t>
            </a:r>
            <a:r>
              <a:rPr lang="tr-TR" dirty="0"/>
              <a:t>). </a:t>
            </a:r>
            <a:r>
              <a:rPr lang="tr-TR" i="1" dirty="0" err="1"/>
              <a:t>Title</a:t>
            </a:r>
            <a:r>
              <a:rPr lang="tr-TR" i="1" dirty="0"/>
              <a:t> of video</a:t>
            </a:r>
            <a:r>
              <a:rPr lang="tr-TR" dirty="0"/>
              <a:t> [Video]. </a:t>
            </a:r>
            <a:r>
              <a:rPr lang="tr-TR" dirty="0" err="1"/>
              <a:t>YouTube</a:t>
            </a:r>
            <a:r>
              <a:rPr lang="tr-TR" dirty="0"/>
              <a:t>. URL</a:t>
            </a:r>
          </a:p>
          <a:p>
            <a:pPr marL="0" indent="0">
              <a:buNone/>
            </a:pPr>
            <a:endParaRPr lang="tr-TR" b="1" dirty="0"/>
          </a:p>
          <a:p>
            <a:pPr marL="0" indent="0">
              <a:buNone/>
            </a:pPr>
            <a:r>
              <a:rPr lang="tr-TR" b="1" dirty="0" err="1"/>
              <a:t>Example</a:t>
            </a:r>
            <a:r>
              <a:rPr lang="tr-TR" b="1" dirty="0"/>
              <a:t>:</a:t>
            </a:r>
            <a:br>
              <a:rPr lang="tr-TR" dirty="0"/>
            </a:br>
            <a:r>
              <a:rPr lang="tr-TR" dirty="0"/>
              <a:t>The RSA. (2013, </a:t>
            </a:r>
            <a:r>
              <a:rPr lang="tr-TR" dirty="0" err="1"/>
              <a:t>August</a:t>
            </a:r>
            <a:r>
              <a:rPr lang="tr-TR" dirty="0"/>
              <a:t> 15). </a:t>
            </a:r>
            <a:r>
              <a:rPr lang="tr-TR" i="1" dirty="0"/>
              <a:t>The </a:t>
            </a:r>
            <a:r>
              <a:rPr lang="tr-TR" i="1" dirty="0" err="1"/>
              <a:t>power</a:t>
            </a:r>
            <a:r>
              <a:rPr lang="tr-TR" i="1" dirty="0"/>
              <a:t> of </a:t>
            </a:r>
            <a:r>
              <a:rPr lang="tr-TR" i="1" dirty="0" err="1"/>
              <a:t>vulnerability</a:t>
            </a:r>
            <a:r>
              <a:rPr lang="tr-TR" dirty="0"/>
              <a:t> [Video]. </a:t>
            </a:r>
            <a:r>
              <a:rPr lang="tr-TR" dirty="0" err="1"/>
              <a:t>YouTube</a:t>
            </a:r>
            <a:r>
              <a:rPr lang="tr-TR" dirty="0"/>
              <a:t>. </a:t>
            </a:r>
            <a:r>
              <a:rPr lang="tr-TR" dirty="0">
                <a:hlinkClick r:id="rId2"/>
              </a:rPr>
              <a:t>https://www.youtube.com/watch?v=iCvmsMzlF7o</a:t>
            </a:r>
            <a:endParaRPr lang="tr-TR" dirty="0"/>
          </a:p>
          <a:p>
            <a:pPr marL="0" indent="0">
              <a:buNone/>
            </a:pPr>
            <a:endParaRPr lang="tr-TR" b="1" dirty="0"/>
          </a:p>
          <a:p>
            <a:pPr marL="0" indent="0">
              <a:buNone/>
            </a:pPr>
            <a:r>
              <a:rPr lang="tr-TR" b="1" dirty="0" err="1"/>
              <a:t>Note</a:t>
            </a:r>
            <a:r>
              <a:rPr lang="tr-TR" b="1" dirty="0"/>
              <a:t>:</a:t>
            </a:r>
            <a:r>
              <a:rPr lang="tr-TR" dirty="0"/>
              <a:t> </a:t>
            </a:r>
            <a:r>
              <a:rPr lang="tr-TR" dirty="0" err="1"/>
              <a:t>If</a:t>
            </a:r>
            <a:r>
              <a:rPr lang="tr-TR" dirty="0"/>
              <a:t> the </a:t>
            </a:r>
            <a:r>
              <a:rPr lang="tr-TR" dirty="0" err="1"/>
              <a:t>uploader’s</a:t>
            </a:r>
            <a:r>
              <a:rPr lang="tr-TR" dirty="0"/>
              <a:t> </a:t>
            </a:r>
            <a:r>
              <a:rPr lang="tr-TR" dirty="0" err="1"/>
              <a:t>channel</a:t>
            </a:r>
            <a:r>
              <a:rPr lang="tr-TR" dirty="0"/>
              <a:t> name </a:t>
            </a:r>
            <a:r>
              <a:rPr lang="tr-TR" dirty="0" err="1"/>
              <a:t>differs</a:t>
            </a:r>
            <a:r>
              <a:rPr lang="tr-TR" dirty="0"/>
              <a:t> </a:t>
            </a:r>
            <a:r>
              <a:rPr lang="tr-TR" dirty="0" err="1"/>
              <a:t>from</a:t>
            </a:r>
            <a:r>
              <a:rPr lang="tr-TR" dirty="0"/>
              <a:t> a </a:t>
            </a:r>
            <a:r>
              <a:rPr lang="tr-TR" dirty="0" err="1"/>
              <a:t>person’s</a:t>
            </a:r>
            <a:r>
              <a:rPr lang="tr-TR" dirty="0"/>
              <a:t> </a:t>
            </a:r>
            <a:r>
              <a:rPr lang="tr-TR" dirty="0" err="1"/>
              <a:t>real</a:t>
            </a:r>
            <a:r>
              <a:rPr lang="tr-TR" dirty="0"/>
              <a:t> name, </a:t>
            </a:r>
            <a:r>
              <a:rPr lang="tr-TR" dirty="0" err="1"/>
              <a:t>keep</a:t>
            </a:r>
            <a:r>
              <a:rPr lang="tr-TR" dirty="0"/>
              <a:t> the </a:t>
            </a:r>
            <a:r>
              <a:rPr lang="tr-TR" dirty="0" err="1"/>
              <a:t>channel</a:t>
            </a:r>
            <a:r>
              <a:rPr lang="tr-TR" dirty="0"/>
              <a:t> as the </a:t>
            </a:r>
            <a:r>
              <a:rPr lang="tr-TR" dirty="0" err="1"/>
              <a:t>author</a:t>
            </a:r>
            <a:r>
              <a:rPr lang="tr-TR" dirty="0"/>
              <a:t> (APA </a:t>
            </a:r>
            <a:r>
              <a:rPr lang="tr-TR" dirty="0" err="1"/>
              <a:t>treats</a:t>
            </a:r>
            <a:r>
              <a:rPr lang="tr-TR" dirty="0"/>
              <a:t> the </a:t>
            </a:r>
            <a:r>
              <a:rPr lang="tr-TR" dirty="0" err="1"/>
              <a:t>uploader</a:t>
            </a:r>
            <a:r>
              <a:rPr lang="tr-TR" dirty="0"/>
              <a:t> as the </a:t>
            </a:r>
            <a:r>
              <a:rPr lang="tr-TR" dirty="0" err="1"/>
              <a:t>author</a:t>
            </a:r>
            <a:r>
              <a:rPr lang="tr-TR" dirty="0"/>
              <a:t> </a:t>
            </a:r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YouTube</a:t>
            </a:r>
            <a:r>
              <a:rPr lang="tr-TR" dirty="0"/>
              <a:t>). </a:t>
            </a:r>
          </a:p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9050639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5439EA2-6A5F-BBAD-DA6A-44AB7EE88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>
                <a:solidFill>
                  <a:srgbClr val="C00000"/>
                </a:solidFill>
              </a:rPr>
              <a:t>M) A </a:t>
            </a:r>
            <a:r>
              <a:rPr lang="tr-TR" b="1" dirty="0" err="1">
                <a:solidFill>
                  <a:srgbClr val="C00000"/>
                </a:solidFill>
              </a:rPr>
              <a:t>webpage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BE61980-D86B-F28F-33ED-E9E8E0AC4B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lnSpcReduction="10000"/>
          </a:bodyPr>
          <a:lstStyle/>
          <a:p>
            <a:r>
              <a:rPr lang="tr-TR" b="1" dirty="0"/>
              <a:t>Format</a:t>
            </a:r>
            <a:br>
              <a:rPr lang="tr-TR" dirty="0"/>
            </a:br>
            <a:r>
              <a:rPr lang="tr-TR" sz="3000" dirty="0"/>
              <a:t>Author, A. A. </a:t>
            </a:r>
            <a:r>
              <a:rPr lang="tr-TR" sz="3000" dirty="0" err="1"/>
              <a:t>or</a:t>
            </a:r>
            <a:r>
              <a:rPr lang="tr-TR" sz="3000" dirty="0"/>
              <a:t> </a:t>
            </a:r>
            <a:r>
              <a:rPr lang="tr-TR" sz="3000" dirty="0" err="1"/>
              <a:t>Group</a:t>
            </a:r>
            <a:r>
              <a:rPr lang="tr-TR" sz="3000" dirty="0"/>
              <a:t> Author. (</a:t>
            </a:r>
            <a:r>
              <a:rPr lang="tr-TR" sz="3000" dirty="0" err="1"/>
              <a:t>Year</a:t>
            </a:r>
            <a:r>
              <a:rPr lang="tr-TR" sz="3000" dirty="0"/>
              <a:t>, </a:t>
            </a:r>
            <a:r>
              <a:rPr lang="tr-TR" sz="3000" dirty="0" err="1"/>
              <a:t>Month</a:t>
            </a:r>
            <a:r>
              <a:rPr lang="tr-TR" sz="3000" dirty="0"/>
              <a:t> </a:t>
            </a:r>
            <a:r>
              <a:rPr lang="tr-TR" sz="3000" dirty="0" err="1"/>
              <a:t>Day</a:t>
            </a:r>
            <a:r>
              <a:rPr lang="tr-TR" sz="3000" dirty="0"/>
              <a:t>). </a:t>
            </a:r>
            <a:r>
              <a:rPr lang="tr-TR" sz="3000" i="1" dirty="0" err="1"/>
              <a:t>Title</a:t>
            </a:r>
            <a:r>
              <a:rPr lang="tr-TR" sz="3000" i="1" dirty="0"/>
              <a:t> of </a:t>
            </a:r>
            <a:r>
              <a:rPr lang="tr-TR" sz="3000" i="1" dirty="0" err="1"/>
              <a:t>webpage</a:t>
            </a:r>
            <a:r>
              <a:rPr lang="tr-TR" sz="3000" dirty="0"/>
              <a:t>. Site Name. URL</a:t>
            </a:r>
            <a:endParaRPr lang="tr-TR" dirty="0"/>
          </a:p>
          <a:p>
            <a:pPr marL="0" indent="0">
              <a:buNone/>
            </a:pPr>
            <a:endParaRPr lang="tr-TR" b="1" dirty="0"/>
          </a:p>
          <a:p>
            <a:pPr marL="0" indent="0">
              <a:buNone/>
            </a:pPr>
            <a:r>
              <a:rPr lang="tr-TR" b="1" dirty="0" err="1"/>
              <a:t>Example</a:t>
            </a:r>
            <a:r>
              <a:rPr lang="tr-TR" b="1" dirty="0"/>
              <a:t>:</a:t>
            </a:r>
            <a:br>
              <a:rPr lang="tr-TR" dirty="0"/>
            </a:br>
            <a:r>
              <a:rPr lang="tr-TR" dirty="0"/>
              <a:t>1. </a:t>
            </a:r>
            <a:r>
              <a:rPr lang="tr-TR" dirty="0" err="1"/>
              <a:t>National</a:t>
            </a:r>
            <a:r>
              <a:rPr lang="tr-TR" dirty="0"/>
              <a:t> </a:t>
            </a:r>
            <a:r>
              <a:rPr lang="tr-TR" dirty="0" err="1"/>
              <a:t>Institute</a:t>
            </a:r>
            <a:r>
              <a:rPr lang="tr-TR" dirty="0"/>
              <a:t> of </a:t>
            </a:r>
            <a:r>
              <a:rPr lang="tr-TR" dirty="0" err="1"/>
              <a:t>Mental</a:t>
            </a:r>
            <a:r>
              <a:rPr lang="tr-TR" dirty="0"/>
              <a:t> </a:t>
            </a:r>
            <a:r>
              <a:rPr lang="tr-TR" dirty="0" err="1"/>
              <a:t>Health</a:t>
            </a:r>
            <a:r>
              <a:rPr lang="tr-TR" dirty="0"/>
              <a:t>. (2024, May 1). </a:t>
            </a:r>
            <a:r>
              <a:rPr lang="tr-TR" i="1" dirty="0" err="1"/>
              <a:t>Depression</a:t>
            </a:r>
            <a:r>
              <a:rPr lang="tr-TR" dirty="0"/>
              <a:t>. U.S. </a:t>
            </a:r>
            <a:r>
              <a:rPr lang="tr-TR" dirty="0" err="1"/>
              <a:t>Department</a:t>
            </a:r>
            <a:r>
              <a:rPr lang="tr-TR" dirty="0"/>
              <a:t> of </a:t>
            </a:r>
            <a:r>
              <a:rPr lang="tr-TR" dirty="0" err="1"/>
              <a:t>Health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Human Services. </a:t>
            </a:r>
            <a:r>
              <a:rPr lang="tr-TR" dirty="0">
                <a:hlinkClick r:id="rId2"/>
              </a:rPr>
              <a:t>https://www.nimh.nih.gov/health/topics/depression</a:t>
            </a:r>
            <a:endParaRPr lang="tr-TR" dirty="0"/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dirty="0"/>
              <a:t>2. U.S. </a:t>
            </a:r>
            <a:r>
              <a:rPr lang="tr-TR" dirty="0" err="1"/>
              <a:t>Census</a:t>
            </a:r>
            <a:r>
              <a:rPr lang="tr-TR" dirty="0"/>
              <a:t> </a:t>
            </a:r>
            <a:r>
              <a:rPr lang="tr-TR" dirty="0" err="1"/>
              <a:t>Bureau</a:t>
            </a:r>
            <a:r>
              <a:rPr lang="tr-TR" dirty="0"/>
              <a:t>. (</a:t>
            </a:r>
            <a:r>
              <a:rPr lang="tr-TR" dirty="0" err="1"/>
              <a:t>n.d</a:t>
            </a:r>
            <a:r>
              <a:rPr lang="tr-TR" dirty="0"/>
              <a:t>.). </a:t>
            </a:r>
            <a:r>
              <a:rPr lang="tr-TR" i="1" dirty="0"/>
              <a:t>U.S. </a:t>
            </a:r>
            <a:r>
              <a:rPr lang="tr-TR" i="1" dirty="0" err="1"/>
              <a:t>and</a:t>
            </a:r>
            <a:r>
              <a:rPr lang="tr-TR" i="1" dirty="0"/>
              <a:t> World </a:t>
            </a:r>
            <a:r>
              <a:rPr lang="tr-TR" i="1" dirty="0" err="1"/>
              <a:t>Population</a:t>
            </a:r>
            <a:r>
              <a:rPr lang="tr-TR" i="1" dirty="0"/>
              <a:t> </a:t>
            </a:r>
            <a:r>
              <a:rPr lang="tr-TR" i="1" dirty="0" err="1"/>
              <a:t>Clock</a:t>
            </a:r>
            <a:r>
              <a:rPr lang="tr-TR" dirty="0"/>
              <a:t>. U.S. </a:t>
            </a:r>
            <a:r>
              <a:rPr lang="tr-TR" dirty="0" err="1"/>
              <a:t>Department</a:t>
            </a:r>
            <a:r>
              <a:rPr lang="tr-TR" dirty="0"/>
              <a:t> of Commerce. </a:t>
            </a:r>
            <a:r>
              <a:rPr lang="tr-TR" dirty="0" err="1"/>
              <a:t>Retrieved</a:t>
            </a:r>
            <a:r>
              <a:rPr lang="tr-TR" dirty="0"/>
              <a:t> </a:t>
            </a:r>
            <a:r>
              <a:rPr lang="tr-TR" dirty="0" err="1"/>
              <a:t>December</a:t>
            </a:r>
            <a:r>
              <a:rPr lang="tr-TR" dirty="0"/>
              <a:t> 26, 2025, </a:t>
            </a:r>
            <a:r>
              <a:rPr lang="tr-TR" dirty="0" err="1"/>
              <a:t>from</a:t>
            </a:r>
            <a:r>
              <a:rPr lang="tr-TR" dirty="0"/>
              <a:t> </a:t>
            </a:r>
            <a:r>
              <a:rPr lang="tr-TR" dirty="0">
                <a:hlinkClick r:id="rId3"/>
              </a:rPr>
              <a:t>https://www.census.gov/popclock/</a:t>
            </a:r>
            <a:r>
              <a:rPr lang="tr-TR" dirty="0"/>
              <a:t> 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141ABF37-C5FC-A7CF-E064-892520643F7F}"/>
              </a:ext>
            </a:extLst>
          </p:cNvPr>
          <p:cNvSpPr txBox="1"/>
          <p:nvPr/>
        </p:nvSpPr>
        <p:spPr>
          <a:xfrm>
            <a:off x="5637007" y="490359"/>
            <a:ext cx="6196405" cy="12003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tr-TR" sz="2400" dirty="0" err="1"/>
              <a:t>In</a:t>
            </a:r>
            <a:r>
              <a:rPr lang="tr-TR" sz="2400" dirty="0"/>
              <a:t> APA 7, a </a:t>
            </a:r>
            <a:r>
              <a:rPr lang="tr-TR" sz="2400" b="1" dirty="0" err="1"/>
              <a:t>retrieval</a:t>
            </a:r>
            <a:r>
              <a:rPr lang="tr-TR" sz="2400" b="1" dirty="0"/>
              <a:t> </a:t>
            </a:r>
            <a:r>
              <a:rPr lang="tr-TR" sz="2400" b="1" dirty="0" err="1"/>
              <a:t>date</a:t>
            </a:r>
            <a:r>
              <a:rPr lang="tr-TR" sz="2400" b="1" dirty="0"/>
              <a:t> is </a:t>
            </a:r>
            <a:r>
              <a:rPr lang="tr-TR" sz="2400" b="1" dirty="0" err="1"/>
              <a:t>only</a:t>
            </a:r>
            <a:r>
              <a:rPr lang="tr-TR" sz="2400" b="1" dirty="0"/>
              <a:t> </a:t>
            </a:r>
            <a:r>
              <a:rPr lang="tr-TR" sz="2400" b="1" dirty="0" err="1"/>
              <a:t>included</a:t>
            </a:r>
            <a:r>
              <a:rPr lang="tr-TR" sz="2400" dirty="0"/>
              <a:t> </a:t>
            </a:r>
            <a:r>
              <a:rPr lang="tr-TR" sz="2400" dirty="0" err="1"/>
              <a:t>when</a:t>
            </a:r>
            <a:r>
              <a:rPr lang="tr-TR" sz="2400" dirty="0"/>
              <a:t> the </a:t>
            </a:r>
            <a:r>
              <a:rPr lang="tr-TR" sz="2400" dirty="0" err="1"/>
              <a:t>content</a:t>
            </a:r>
            <a:r>
              <a:rPr lang="tr-TR" sz="2400" dirty="0"/>
              <a:t> is </a:t>
            </a:r>
            <a:r>
              <a:rPr lang="tr-TR" sz="2400" b="1" dirty="0" err="1"/>
              <a:t>designed</a:t>
            </a:r>
            <a:r>
              <a:rPr lang="tr-TR" sz="2400" b="1" dirty="0"/>
              <a:t> </a:t>
            </a:r>
            <a:r>
              <a:rPr lang="tr-TR" sz="2400" b="1" dirty="0" err="1"/>
              <a:t>to</a:t>
            </a:r>
            <a:r>
              <a:rPr lang="tr-TR" sz="2400" b="1" dirty="0"/>
              <a:t> </a:t>
            </a:r>
            <a:r>
              <a:rPr lang="tr-TR" sz="2400" b="1" dirty="0" err="1"/>
              <a:t>change</a:t>
            </a:r>
            <a:r>
              <a:rPr lang="tr-TR" sz="2400" b="1" dirty="0"/>
              <a:t> </a:t>
            </a:r>
            <a:r>
              <a:rPr lang="tr-TR" sz="2400" b="1" dirty="0" err="1"/>
              <a:t>over</a:t>
            </a:r>
            <a:r>
              <a:rPr lang="tr-TR" sz="2400" b="1" dirty="0"/>
              <a:t> time</a:t>
            </a:r>
            <a:r>
              <a:rPr lang="tr-TR" sz="2400" dirty="0"/>
              <a:t> </a:t>
            </a:r>
            <a:r>
              <a:rPr lang="tr-TR" sz="2400" dirty="0" err="1"/>
              <a:t>and</a:t>
            </a:r>
            <a:r>
              <a:rPr lang="tr-TR" sz="2400" dirty="0"/>
              <a:t> </a:t>
            </a:r>
            <a:r>
              <a:rPr lang="tr-TR" sz="2400" b="1" dirty="0" err="1"/>
              <a:t>isn’t</a:t>
            </a:r>
            <a:r>
              <a:rPr lang="tr-TR" sz="2400" b="1" dirty="0"/>
              <a:t> </a:t>
            </a:r>
            <a:r>
              <a:rPr lang="tr-TR" sz="2400" b="1" dirty="0" err="1"/>
              <a:t>archived</a:t>
            </a:r>
            <a:r>
              <a:rPr lang="tr-TR" sz="2400" b="1" dirty="0"/>
              <a:t> as a </a:t>
            </a:r>
            <a:r>
              <a:rPr lang="tr-TR" sz="2400" b="1" dirty="0" err="1"/>
              <a:t>stable</a:t>
            </a:r>
            <a:r>
              <a:rPr lang="tr-TR" sz="2400" b="1" dirty="0"/>
              <a:t> </a:t>
            </a:r>
            <a:r>
              <a:rPr lang="tr-TR" sz="2400" b="1" dirty="0" err="1"/>
              <a:t>version</a:t>
            </a:r>
            <a:r>
              <a:rPr lang="tr-TR" sz="2400" b="1" dirty="0"/>
              <a:t>.</a:t>
            </a:r>
          </a:p>
        </p:txBody>
      </p:sp>
      <p:cxnSp>
        <p:nvCxnSpPr>
          <p:cNvPr id="6" name="Düz Ok Bağlayıcısı 5">
            <a:extLst>
              <a:ext uri="{FF2B5EF4-FFF2-40B4-BE49-F238E27FC236}">
                <a16:creationId xmlns:a16="http://schemas.microsoft.com/office/drawing/2014/main" id="{2823D18C-C005-379A-F914-1F8000CEBBA2}"/>
              </a:ext>
            </a:extLst>
          </p:cNvPr>
          <p:cNvCxnSpPr>
            <a:cxnSpLocks/>
            <a:stCxn id="4" idx="2"/>
          </p:cNvCxnSpPr>
          <p:nvPr/>
        </p:nvCxnSpPr>
        <p:spPr>
          <a:xfrm flipH="1">
            <a:off x="6906409" y="1690688"/>
            <a:ext cx="1828801" cy="397859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Çerçeve 6">
            <a:extLst>
              <a:ext uri="{FF2B5EF4-FFF2-40B4-BE49-F238E27FC236}">
                <a16:creationId xmlns:a16="http://schemas.microsoft.com/office/drawing/2014/main" id="{20293E58-676D-C917-F0D6-579349C7F1D7}"/>
              </a:ext>
            </a:extLst>
          </p:cNvPr>
          <p:cNvSpPr/>
          <p:nvPr/>
        </p:nvSpPr>
        <p:spPr>
          <a:xfrm>
            <a:off x="4781775" y="5741894"/>
            <a:ext cx="5416474" cy="521745"/>
          </a:xfrm>
          <a:prstGeom prst="fram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4460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2E2C93C-9F48-39B2-AFEB-F4D025B39A1D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60000"/>
              <a:lumOff val="40000"/>
            </a:schemeClr>
          </a:solidFill>
        </p:spPr>
        <p:txBody>
          <a:bodyPr/>
          <a:lstStyle/>
          <a:p>
            <a:pPr algn="ctr"/>
            <a:r>
              <a:rPr lang="tr-TR" b="1" dirty="0">
                <a:latin typeface="+mn-lt"/>
              </a:rPr>
              <a:t>REMINDER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9061DE0-D09A-F43A-2EF7-D87A6354D0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tr-TR" dirty="0"/>
              <a:t>APA </a:t>
            </a:r>
            <a:r>
              <a:rPr lang="tr-TR" dirty="0" err="1"/>
              <a:t>rules</a:t>
            </a:r>
            <a:r>
              <a:rPr lang="tr-TR" dirty="0"/>
              <a:t> can </a:t>
            </a:r>
            <a:r>
              <a:rPr lang="tr-TR" dirty="0" err="1"/>
              <a:t>vary</a:t>
            </a:r>
            <a:r>
              <a:rPr lang="tr-TR" dirty="0"/>
              <a:t> </a:t>
            </a:r>
            <a:r>
              <a:rPr lang="tr-TR" dirty="0" err="1"/>
              <a:t>by</a:t>
            </a:r>
            <a:r>
              <a:rPr lang="tr-TR" dirty="0"/>
              <a:t> </a:t>
            </a:r>
            <a:r>
              <a:rPr lang="tr-TR" dirty="0" err="1"/>
              <a:t>source</a:t>
            </a:r>
            <a:r>
              <a:rPr lang="tr-TR" dirty="0"/>
              <a:t> </a:t>
            </a:r>
            <a:r>
              <a:rPr lang="tr-TR" dirty="0" err="1"/>
              <a:t>type</a:t>
            </a:r>
            <a:r>
              <a:rPr lang="tr-TR" dirty="0"/>
              <a:t>. </a:t>
            </a:r>
            <a:r>
              <a:rPr lang="tr-TR" dirty="0" err="1"/>
              <a:t>If</a:t>
            </a:r>
            <a:r>
              <a:rPr lang="tr-TR" dirty="0"/>
              <a:t> </a:t>
            </a:r>
            <a:r>
              <a:rPr lang="tr-TR" dirty="0" err="1"/>
              <a:t>you</a:t>
            </a:r>
            <a:r>
              <a:rPr lang="tr-TR" dirty="0"/>
              <a:t> </a:t>
            </a:r>
            <a:r>
              <a:rPr lang="tr-TR" dirty="0" err="1"/>
              <a:t>are</a:t>
            </a:r>
            <a:r>
              <a:rPr lang="tr-TR" dirty="0"/>
              <a:t> </a:t>
            </a:r>
            <a:r>
              <a:rPr lang="tr-TR" dirty="0" err="1"/>
              <a:t>uncertain</a:t>
            </a:r>
            <a:r>
              <a:rPr lang="tr-TR" dirty="0"/>
              <a:t>, </a:t>
            </a:r>
            <a:r>
              <a:rPr lang="tr-TR" dirty="0" err="1"/>
              <a:t>verify</a:t>
            </a:r>
            <a:r>
              <a:rPr lang="tr-TR" dirty="0"/>
              <a:t> </a:t>
            </a:r>
            <a:r>
              <a:rPr lang="tr-TR" dirty="0" err="1"/>
              <a:t>your</a:t>
            </a:r>
            <a:r>
              <a:rPr lang="tr-TR" dirty="0"/>
              <a:t> format </a:t>
            </a:r>
            <a:r>
              <a:rPr lang="tr-TR" dirty="0" err="1"/>
              <a:t>using</a:t>
            </a:r>
            <a:r>
              <a:rPr lang="tr-TR" dirty="0"/>
              <a:t> the </a:t>
            </a:r>
            <a:r>
              <a:rPr lang="tr-TR" dirty="0" err="1"/>
              <a:t>official</a:t>
            </a:r>
            <a:r>
              <a:rPr lang="tr-TR" dirty="0"/>
              <a:t> </a:t>
            </a:r>
            <a:r>
              <a:rPr lang="tr-TR" dirty="0">
                <a:hlinkClick r:id="rId2"/>
              </a:rPr>
              <a:t>APA Style (7th </a:t>
            </a:r>
            <a:r>
              <a:rPr lang="tr-TR" dirty="0" err="1">
                <a:hlinkClick r:id="rId2"/>
              </a:rPr>
              <a:t>edition</a:t>
            </a:r>
            <a:r>
              <a:rPr lang="tr-TR" dirty="0">
                <a:hlinkClick r:id="rId2"/>
              </a:rPr>
              <a:t>)</a:t>
            </a:r>
            <a:r>
              <a:rPr lang="tr-TR" dirty="0"/>
              <a:t> </a:t>
            </a:r>
            <a:r>
              <a:rPr lang="tr-TR" dirty="0" err="1"/>
              <a:t>resources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update</a:t>
            </a:r>
            <a:r>
              <a:rPr lang="tr-TR" dirty="0"/>
              <a:t> </a:t>
            </a:r>
            <a:r>
              <a:rPr lang="tr-TR" dirty="0" err="1"/>
              <a:t>your</a:t>
            </a:r>
            <a:r>
              <a:rPr lang="tr-TR" dirty="0"/>
              <a:t> </a:t>
            </a:r>
            <a:r>
              <a:rPr lang="tr-TR" dirty="0" err="1"/>
              <a:t>citation</a:t>
            </a:r>
            <a:r>
              <a:rPr lang="tr-TR" dirty="0"/>
              <a:t> </a:t>
            </a:r>
            <a:r>
              <a:rPr lang="tr-TR" dirty="0" err="1"/>
              <a:t>accordingly</a:t>
            </a:r>
            <a:r>
              <a:rPr lang="tr-TR" dirty="0"/>
              <a:t>.</a:t>
            </a:r>
          </a:p>
          <a:p>
            <a:pPr marL="0" indent="0">
              <a:buNone/>
            </a:pPr>
            <a:r>
              <a:rPr lang="tr-TR" b="1" dirty="0" err="1"/>
              <a:t>For</a:t>
            </a:r>
            <a:r>
              <a:rPr lang="tr-TR" b="1" dirty="0"/>
              <a:t> </a:t>
            </a:r>
            <a:r>
              <a:rPr lang="tr-TR" b="1" dirty="0" err="1"/>
              <a:t>core</a:t>
            </a:r>
            <a:r>
              <a:rPr lang="tr-TR" b="1" dirty="0"/>
              <a:t> </a:t>
            </a:r>
            <a:r>
              <a:rPr lang="tr-TR" b="1" dirty="0" err="1"/>
              <a:t>citation</a:t>
            </a:r>
            <a:r>
              <a:rPr lang="tr-TR" b="1" dirty="0"/>
              <a:t> </a:t>
            </a:r>
            <a:r>
              <a:rPr lang="tr-TR" b="1" dirty="0" err="1"/>
              <a:t>rules</a:t>
            </a:r>
            <a:r>
              <a:rPr lang="tr-TR" b="1" dirty="0"/>
              <a:t>:</a:t>
            </a:r>
            <a:endParaRPr lang="tr-TR" dirty="0"/>
          </a:p>
          <a:p>
            <a:pPr>
              <a:buFont typeface="Arial" panose="020B0604020202020204" pitchFamily="34" charset="0"/>
              <a:buChar char="•"/>
            </a:pPr>
            <a:r>
              <a:rPr lang="tr-TR" dirty="0" err="1">
                <a:hlinkClick r:id="rId3"/>
              </a:rPr>
              <a:t>In-text</a:t>
            </a:r>
            <a:r>
              <a:rPr lang="tr-TR" dirty="0">
                <a:hlinkClick r:id="rId3"/>
              </a:rPr>
              <a:t> </a:t>
            </a:r>
            <a:r>
              <a:rPr lang="tr-TR" dirty="0" err="1">
                <a:hlinkClick r:id="rId3"/>
              </a:rPr>
              <a:t>citations</a:t>
            </a:r>
            <a:r>
              <a:rPr lang="tr-TR" dirty="0">
                <a:hlinkClick r:id="rId3"/>
              </a:rPr>
              <a:t> </a:t>
            </a:r>
            <a:r>
              <a:rPr lang="tr-TR" dirty="0" err="1">
                <a:hlinkClick r:id="rId3"/>
              </a:rPr>
              <a:t>overview</a:t>
            </a:r>
            <a:endParaRPr lang="tr-TR" dirty="0"/>
          </a:p>
          <a:p>
            <a:pPr>
              <a:buFont typeface="Arial" panose="020B0604020202020204" pitchFamily="34" charset="0"/>
              <a:buChar char="•"/>
            </a:pPr>
            <a:r>
              <a:rPr lang="tr-TR" dirty="0">
                <a:hlinkClick r:id="rId4"/>
              </a:rPr>
              <a:t>Paraphrasing</a:t>
            </a:r>
            <a:endParaRPr lang="tr-TR" dirty="0"/>
          </a:p>
          <a:p>
            <a:pPr>
              <a:buFont typeface="Arial" panose="020B0604020202020204" pitchFamily="34" charset="0"/>
              <a:buChar char="•"/>
            </a:pPr>
            <a:r>
              <a:rPr lang="tr-TR" dirty="0">
                <a:hlinkClick r:id="rId5"/>
              </a:rPr>
              <a:t>Quotations</a:t>
            </a:r>
            <a:endParaRPr lang="tr-TR" dirty="0"/>
          </a:p>
          <a:p>
            <a:pPr marL="0" indent="0">
              <a:buNone/>
            </a:pPr>
            <a:r>
              <a:rPr lang="tr-TR" b="1" dirty="0" err="1"/>
              <a:t>For</a:t>
            </a:r>
            <a:r>
              <a:rPr lang="tr-TR" b="1" dirty="0"/>
              <a:t> </a:t>
            </a:r>
            <a:r>
              <a:rPr lang="tr-TR" b="1" dirty="0" err="1"/>
              <a:t>core</a:t>
            </a:r>
            <a:r>
              <a:rPr lang="tr-TR" b="1" dirty="0"/>
              <a:t> </a:t>
            </a:r>
            <a:r>
              <a:rPr lang="tr-TR" b="1" dirty="0" err="1"/>
              <a:t>reference</a:t>
            </a:r>
            <a:r>
              <a:rPr lang="tr-TR" b="1" dirty="0"/>
              <a:t> </a:t>
            </a:r>
            <a:r>
              <a:rPr lang="tr-TR" b="1" dirty="0" err="1"/>
              <a:t>list</a:t>
            </a:r>
            <a:r>
              <a:rPr lang="tr-TR" b="1" dirty="0"/>
              <a:t> </a:t>
            </a:r>
            <a:r>
              <a:rPr lang="tr-TR" b="1" dirty="0" err="1"/>
              <a:t>rules</a:t>
            </a:r>
            <a:r>
              <a:rPr lang="tr-TR" b="1" dirty="0"/>
              <a:t>:</a:t>
            </a:r>
            <a:endParaRPr lang="tr-TR" dirty="0"/>
          </a:p>
          <a:p>
            <a:pPr>
              <a:buFont typeface="Arial" panose="020B0604020202020204" pitchFamily="34" charset="0"/>
              <a:buChar char="•"/>
            </a:pPr>
            <a:r>
              <a:rPr lang="tr-TR" dirty="0">
                <a:hlinkClick r:id="rId6"/>
              </a:rPr>
              <a:t>Elements of reference list entries</a:t>
            </a:r>
            <a:endParaRPr lang="tr-TR" dirty="0"/>
          </a:p>
          <a:p>
            <a:pPr>
              <a:buFont typeface="Arial" panose="020B0604020202020204" pitchFamily="34" charset="0"/>
              <a:buChar char="•"/>
            </a:pPr>
            <a:r>
              <a:rPr lang="tr-TR" dirty="0">
                <a:hlinkClick r:id="rId7"/>
              </a:rPr>
              <a:t>DOIs and URLs</a:t>
            </a:r>
            <a:endParaRPr lang="tr-TR" dirty="0"/>
          </a:p>
          <a:p>
            <a:pPr>
              <a:buFont typeface="Arial" panose="020B0604020202020204" pitchFamily="34" charset="0"/>
              <a:buChar char="•"/>
            </a:pPr>
            <a:r>
              <a:rPr lang="tr-TR" dirty="0">
                <a:hlinkClick r:id="rId8"/>
              </a:rPr>
              <a:t>Reference </a:t>
            </a:r>
            <a:r>
              <a:rPr lang="tr-TR" dirty="0" err="1">
                <a:hlinkClick r:id="rId8"/>
              </a:rPr>
              <a:t>examples</a:t>
            </a:r>
            <a:r>
              <a:rPr lang="tr-TR" dirty="0">
                <a:hlinkClick r:id="rId8"/>
              </a:rPr>
              <a:t> </a:t>
            </a:r>
            <a:r>
              <a:rPr lang="tr-TR" dirty="0"/>
              <a:t>(</a:t>
            </a:r>
            <a:r>
              <a:rPr lang="tr-TR" dirty="0" err="1"/>
              <a:t>many</a:t>
            </a:r>
            <a:r>
              <a:rPr lang="tr-TR" dirty="0"/>
              <a:t> </a:t>
            </a:r>
            <a:r>
              <a:rPr lang="tr-TR" dirty="0" err="1"/>
              <a:t>source</a:t>
            </a:r>
            <a:r>
              <a:rPr lang="tr-TR" dirty="0"/>
              <a:t> </a:t>
            </a:r>
            <a:r>
              <a:rPr lang="tr-TR" dirty="0" err="1"/>
              <a:t>types</a:t>
            </a:r>
            <a:r>
              <a:rPr lang="tr-TR" dirty="0"/>
              <a:t>)</a:t>
            </a:r>
          </a:p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9255400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290</TotalTime>
  <Words>3008</Words>
  <Application>Microsoft Macintosh PowerPoint</Application>
  <PresentationFormat>Geniş ekran</PresentationFormat>
  <Paragraphs>241</Paragraphs>
  <Slides>35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35</vt:i4>
      </vt:variant>
    </vt:vector>
  </HeadingPairs>
  <TitlesOfParts>
    <vt:vector size="40" baseType="lpstr">
      <vt:lpstr>Arial</vt:lpstr>
      <vt:lpstr>Calibri</vt:lpstr>
      <vt:lpstr>Calibri Light</vt:lpstr>
      <vt:lpstr>Wingdings</vt:lpstr>
      <vt:lpstr>Office Teması</vt:lpstr>
      <vt:lpstr>APA 7th Edition  Citation &amp; Reference Guide</vt:lpstr>
      <vt:lpstr>PowerPoint Sunusu</vt:lpstr>
      <vt:lpstr>When do I cite?</vt:lpstr>
      <vt:lpstr>IN-TEXT CITATIONS</vt:lpstr>
      <vt:lpstr>1) The basic pattern</vt:lpstr>
      <vt:lpstr>2) How to format the author element</vt:lpstr>
      <vt:lpstr>3) Organizational authors + abbreviations</vt:lpstr>
      <vt:lpstr>4) When there is no author information</vt:lpstr>
      <vt:lpstr>5) How to format the date element</vt:lpstr>
      <vt:lpstr>Special Uses for Direct Quotations</vt:lpstr>
      <vt:lpstr>PowerPoint Sunusu</vt:lpstr>
      <vt:lpstr>6) Adding page or paragraph numbers</vt:lpstr>
      <vt:lpstr>Page numbers in paraphrases vs. direct quotations</vt:lpstr>
      <vt:lpstr>Examples for Paraphrasing</vt:lpstr>
      <vt:lpstr>Examples for Direct Quotations</vt:lpstr>
      <vt:lpstr>PowerPoint Sunusu</vt:lpstr>
      <vt:lpstr>7) Citing multiple works at once</vt:lpstr>
      <vt:lpstr>8) Secondary sources (“as cited in”)</vt:lpstr>
      <vt:lpstr>THE REFERENCE LIST</vt:lpstr>
      <vt:lpstr>Formatting the reference list page</vt:lpstr>
      <vt:lpstr>Reference list structure</vt:lpstr>
      <vt:lpstr>A) Book (authored)</vt:lpstr>
      <vt:lpstr>B) Edited book</vt:lpstr>
      <vt:lpstr>C) Chapter in an edited book</vt:lpstr>
      <vt:lpstr>D) Journal article with a DOI</vt:lpstr>
      <vt:lpstr>E) Journal article without a DOI</vt:lpstr>
      <vt:lpstr>F) Magazine article (online)</vt:lpstr>
      <vt:lpstr>G) Magazine article (print)</vt:lpstr>
      <vt:lpstr>H) Newspaper article (online)</vt:lpstr>
      <vt:lpstr>I) Online dictionary entry</vt:lpstr>
      <vt:lpstr>J) Report by an organization (webpage/report page)</vt:lpstr>
      <vt:lpstr>K) TED Talk (on TED)</vt:lpstr>
      <vt:lpstr>L) YouTube video</vt:lpstr>
      <vt:lpstr>M) A webpage</vt:lpstr>
      <vt:lpstr>REMINDER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APA 7th Edition  Citation &amp; Reference Guide</dc:title>
  <dc:creator>Merve Sevtap Ilgın</dc:creator>
  <cp:lastModifiedBy>Merve Sevtap Ilgın</cp:lastModifiedBy>
  <cp:revision>156</cp:revision>
  <dcterms:created xsi:type="dcterms:W3CDTF">2025-12-24T11:35:16Z</dcterms:created>
  <dcterms:modified xsi:type="dcterms:W3CDTF">2026-01-20T07:02:57Z</dcterms:modified>
</cp:coreProperties>
</file>